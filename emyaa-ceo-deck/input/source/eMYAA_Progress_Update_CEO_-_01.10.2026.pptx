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Exo 2 Bold" charset="1" panose="00000000000000000000"/>
      <p:regular r:id="rId36"/>
    </p:embeddedFont>
    <p:embeddedFont>
      <p:font typeface="Exo 2" charset="1" panose="00000000000000000000"/>
      <p:regular r:id="rId37"/>
    </p:embeddedFont>
    <p:embeddedFont>
      <p:font typeface="Exo 2 Italics" charset="1" panose="00000000000000000000"/>
      <p:regular r:id="rId38"/>
    </p:embeddedFont>
    <p:embeddedFont>
      <p:font typeface="Arimo Bold" charset="1" panose="020B0704020202020204"/>
      <p:regular r:id="rId40"/>
    </p:embeddedFont>
    <p:embeddedFont>
      <p:font typeface="Calibri (MS) Bold" charset="1" panose="020F0702030404030204"/>
      <p:regular r:id="rId42"/>
    </p:embeddedFont>
    <p:embeddedFont>
      <p:font typeface="Exo 2 Bold Italics" charset="1" panose="000000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3.xml" Type="http://schemas.openxmlformats.org/officeDocument/2006/relationships/notesSlide"/><Relationship Id="rId42" Target="fonts/font42.fntdata" Type="http://schemas.openxmlformats.org/officeDocument/2006/relationships/font"/><Relationship Id="rId43" Target="notesSlides/notesSlide4.xml" Type="http://schemas.openxmlformats.org/officeDocument/2006/relationships/notesSlide"/><Relationship Id="rId44" Target="fonts/font44.fntdata" Type="http://schemas.openxmlformats.org/officeDocument/2006/relationships/font"/><Relationship Id="rId45" Target="notesSlides/notesSlide5.xml" Type="http://schemas.openxmlformats.org/officeDocument/2006/relationships/notesSlide"/><Relationship Id="rId46" Target="notesSlides/notesSlide6.xml" Type="http://schemas.openxmlformats.org/officeDocument/2006/relationships/notesSlide"/><Relationship Id="rId47" Target="notesSlides/notesSlide7.xml" Type="http://schemas.openxmlformats.org/officeDocument/2006/relationships/notesSlide"/><Relationship Id="rId48" Target="notesSlides/notesSlide8.xml" Type="http://schemas.openxmlformats.org/officeDocument/2006/relationships/notesSlide"/><Relationship Id="rId49" Target="notesSlides/notesSlide9.xml" Type="http://schemas.openxmlformats.org/officeDocument/2006/relationships/notesSlide"/><Relationship Id="rId5" Target="tableStyles.xml" Type="http://schemas.openxmlformats.org/officeDocument/2006/relationships/tableStyles"/><Relationship Id="rId50" Target="notesSlides/notesSlide10.xml" Type="http://schemas.openxmlformats.org/officeDocument/2006/relationships/notesSlide"/><Relationship Id="rId51" Target="notesSlides/notesSlide11.xml" Type="http://schemas.openxmlformats.org/officeDocument/2006/relationships/notesSlide"/><Relationship Id="rId52" Target="notesSlides/notesSlide12.xml" Type="http://schemas.openxmlformats.org/officeDocument/2006/relationships/notesSlide"/><Relationship Id="rId53" Target="notesSlides/notesSlide13.xml" Type="http://schemas.openxmlformats.org/officeDocument/2006/relationships/notesSlide"/><Relationship Id="rId54" Target="notesSlides/notesSlide14.xml" Type="http://schemas.openxmlformats.org/officeDocument/2006/relationships/notesSlide"/><Relationship Id="rId55" Target="notesSlides/notesSlide15.xml" Type="http://schemas.openxmlformats.org/officeDocument/2006/relationships/notesSlide"/><Relationship Id="rId56" Target="notesSlides/notesSlide16.xml" Type="http://schemas.openxmlformats.org/officeDocument/2006/relationships/notesSlide"/><Relationship Id="rId57" Target="notesSlides/notesSlide17.xml" Type="http://schemas.openxmlformats.org/officeDocument/2006/relationships/notesSlide"/><Relationship Id="rId58" Target="notesSlides/notesSlide18.xml" Type="http://schemas.openxmlformats.org/officeDocument/2006/relationships/notesSlide"/><Relationship Id="rId59"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2, with the review comments applied: Shufti credit shown as compensation; CRM and Reporting Dashboard added in the same format; target date column added. The Google Play item is the security update to the current app, not the Next App. The Shufti KYC flow is an internal demo and will not go live. The sanity test date for Next App v1 was left blank in the source, so it shows as to be confirmed. iGentech: 10,750 to 5,625 is -47.7%.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3. The source said testing starts when v1 arrives on 09 Oct but gives 08 Oct everywhere else; 08 Oct is used. Sanity test date not given in the source.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4. This is the security API update Google requires for the current Android app, not the Next App. 182 cases: 158 passed, 19 skipped, 4 N/A, 1 failed; 158 of 159 executed = 99.4%. Module rows add up to the totals. Chart drawn from shapes so it imports into Canva. Tester names removed, in line with the review comment on the Helpdesk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Paid media (Board plan): $30,000 Sep to Dec from the $62,477 reserve; Google Search Saudi $9K and other GCC $6K; LinkedIn Affluent Saudi $9K and other GCC $6K. Segments: Starter under $1K and Emerging $1K-5K via Google Ads; Affluent $5K-50K via LinkedIn lead gen. CAC targets Starter $167, Emerging $417, Affluent $882. GA4 shows only the two Saudi Google campaigns so far; LinkedIn lead forms keep users on LinkedIn, so no LinkedIn sessions is expected. Mention &amp; Win: monthly $500 contest in all six GCC countries (24F briefing), approved caption 'Follow, mention, and open an eMYAA account for a chance to win $500'; $3,200 prizes and ads budgeted Sep-Dec; 186K and 26.3K views on campaign posts; current round 23 Sep to 20 Oct per team. $5,000 Prize Campaign: 1 Aug to 31 Dec 2026, draw 10 Jan 2027, prize $500 to $5,000 by trading-volume tier, one entry per $500 traded; landing pages live; bilingual T&amp;Cs sent for approval 20 Jul, no sign-off on file. Creators: Musheera (Jul) 5.3M, Ali Sabeel (Aug, posted 2 Sep) 1.3M, Abdulelah Al Harbi (Sep) no view count yet, how-to video with presenter 332, Manal Talal on the October calendar for 22 Oct, Hamed Al Bloushi November per rollout. Social: Instagram 2,116 followers; LinkedIn 531 (586 in an earlier count; 247 new vs 4 in the prior 30 days); X 738 followers; TikTok 15 followers; no September exports for any channel.</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Traffic: 587 sessions 1-28 Sep; google / cpc 409 (69.7%), direct 92, organic 39, referral 32 (incl. 7 Tag Assistant test sessions), ChatGPT 9, not available 6. 403 of 542 active users (74.4%) had Google Ads as first source. The GA home card reports 384 active users for 21-27 Sep, +793% vs the previous week; the prior week (about 43) is implied, not exported, so the figure stays 'reported'. Downloads (Android + iOS) on dashboard dates: 373, 403, 423, 437, 473; onboarded 48, 49, 52, 57, 60; funded accounts 13 on 21 Sep, 15 on 27 Sep; 54 trades. English vs Arabic Google Ads (1-28 Sep): engagement 97.2% vs 86.9%, key events per session 0.94 vs 1.05; the key event is not defined, so keep both live until it is defined and costed.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5. Names and IDs removed and slide moved to the appendix, as the review comments asked. Counts: 7 logged = 3 done + 1 in progress + 3 new.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Installs (Android + iOS, cumulative) on dashboard report dates: 1 Sep 373, 2 Sep 389, 3 Sep 395, 8 Sep 403, 9 Sep 410, 10 Sep 414, 13 Sep 419, 14 Sep 423, 16 Sep 430, 17 Sep 432, 20 Sep 437, 21 Sep 437, 22 Sep 452, 23 Sep 454, 24 Sep 455, 27 Sep 473. Report dates are irregular, so the line is spaced by report, not by calendar day. Pace: +36 in the six days 21-27 Sep (6 a day) vs +30 in 1-8 Sep (4.3 a day, when the Ali Sabeel video and baseline sponsor ads were running) and +14 in 14-21 Sep. Split 21-27 Sep: Android +17, iOS +19. Funnel: 409 google / cpc sessions and 400 key events in GA4 (1-28 Sep); the key event is not defined in the export. Installs and onboarding come from the platform dashboard and cover all sources; there is no link yet from an ad click to an install. The app link (onelink.to/gpbwrg) already exists and can carry campaign tags. Onboarded users 57 to 60 over 21-27 Sep.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notesSlides/notesSlide3.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10.jpe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 Id="rId9"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 Id="rId4" Target="../media/image9.jpe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7.png" Type="http://schemas.openxmlformats.org/officeDocument/2006/relationships/image"/><Relationship Id="rId4" Target="../media/image9.jpe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7.png" Type="http://schemas.openxmlformats.org/officeDocument/2006/relationships/image"/><Relationship Id="rId4" Target="../media/image9.jpe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notesSlides/notesSlide11.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5.jpeg" Type="http://schemas.openxmlformats.org/officeDocument/2006/relationships/image"/><Relationship Id="rId8" Target="../media/VAHWpgKSDtM.mp4" Type="http://schemas.openxmlformats.org/officeDocument/2006/relationships/video"/><Relationship Id="rId9" Target="../media/VAHWpgKSDtM.mp4" Type="http://schemas.microsoft.com/office/2007/relationships/media"/></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15" Target="../media/image6.png" Type="http://schemas.openxmlformats.org/officeDocument/2006/relationships/image"/><Relationship Id="rId16" Target="../media/image7.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5.jpeg" Type="http://schemas.openxmlformats.org/officeDocument/2006/relationships/image"/><Relationship Id="rId5" Target="../media/image9.jpe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7.png" Type="http://schemas.openxmlformats.org/officeDocument/2006/relationships/image"/><Relationship Id="rId4" Target="../media/image9.jpeg" Type="http://schemas.openxmlformats.org/officeDocument/2006/relationships/image"/><Relationship Id="rId5" Target="../media/image5.jpe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7.png" Type="http://schemas.openxmlformats.org/officeDocument/2006/relationships/image"/><Relationship Id="rId3" Target="../media/image9.jpeg" Type="http://schemas.openxmlformats.org/officeDocument/2006/relationships/image"/><Relationship Id="rId4" Target="../media/image5.jpe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8.png" Type="http://schemas.openxmlformats.org/officeDocument/2006/relationships/image"/><Relationship Id="rId4" Target="../media/image5.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38.jpeg" Type="http://schemas.openxmlformats.org/officeDocument/2006/relationships/image"/><Relationship Id="rId3" Target="../media/image39.jpeg" Type="http://schemas.openxmlformats.org/officeDocument/2006/relationships/image"/><Relationship Id="rId4" Target="../media/image5.jpe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jpeg" Type="http://schemas.openxmlformats.org/officeDocument/2006/relationships/image"/><Relationship Id="rId8" Target="../media/image43.png" Type="http://schemas.openxmlformats.org/officeDocument/2006/relationships/image"/><Relationship Id="rId9"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5.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8.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sp>
        <p:nvSpPr>
          <p:cNvPr name="TextBox 4" id="4"/>
          <p:cNvSpPr txBox="true"/>
          <p:nvPr/>
        </p:nvSpPr>
        <p:spPr>
          <a:xfrm rot="0">
            <a:off x="1292489" y="4455364"/>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eMYAA Trading Platform</a:t>
            </a:r>
          </a:p>
        </p:txBody>
      </p:sp>
      <p:sp>
        <p:nvSpPr>
          <p:cNvPr name="TextBox 5" id="5"/>
          <p:cNvSpPr txBox="true"/>
          <p:nvPr/>
        </p:nvSpPr>
        <p:spPr>
          <a:xfrm rot="0">
            <a:off x="7243366" y="6305790"/>
            <a:ext cx="3801269" cy="1206288"/>
          </a:xfrm>
          <a:prstGeom prst="rect">
            <a:avLst/>
          </a:prstGeom>
        </p:spPr>
        <p:txBody>
          <a:bodyPr anchor="t" rtlCol="false" tIns="0" lIns="0" bIns="0" rIns="0">
            <a:spAutoFit/>
          </a:bodyPr>
          <a:lstStyle/>
          <a:p>
            <a:pPr algn="ctr">
              <a:lnSpc>
                <a:spcPts val="4828"/>
              </a:lnSpc>
            </a:pPr>
            <a:r>
              <a:rPr lang="en-US" sz="3376">
                <a:solidFill>
                  <a:srgbClr val="94A3B8"/>
                </a:solidFill>
                <a:latin typeface="Exo 2"/>
                <a:ea typeface="Exo 2"/>
                <a:cs typeface="Exo 2"/>
                <a:sym typeface="Exo 2"/>
              </a:rPr>
              <a:t>Progress Update</a:t>
            </a:r>
          </a:p>
          <a:p>
            <a:pPr algn="ctr">
              <a:lnSpc>
                <a:spcPts val="4828"/>
              </a:lnSpc>
            </a:pPr>
            <a:r>
              <a:rPr lang="en-US" sz="3376" i="true">
                <a:solidFill>
                  <a:srgbClr val="94A3B8"/>
                </a:solidFill>
                <a:latin typeface="Exo 2 Italics"/>
                <a:ea typeface="Exo 2 Italics"/>
                <a:cs typeface="Exo 2 Italics"/>
                <a:sym typeface="Exo 2 Italics"/>
              </a:rPr>
              <a:t> 1</a:t>
            </a:r>
            <a:r>
              <a:rPr lang="en-US" sz="3376" i="true">
                <a:solidFill>
                  <a:srgbClr val="94A3B8"/>
                </a:solidFill>
                <a:latin typeface="Exo 2 Italics"/>
                <a:ea typeface="Exo 2 Italics"/>
                <a:cs typeface="Exo 2 Italics"/>
                <a:sym typeface="Exo 2 Italics"/>
              </a:rPr>
              <a:t>st</a:t>
            </a:r>
            <a:r>
              <a:rPr lang="en-US" sz="3376" i="true">
                <a:solidFill>
                  <a:srgbClr val="94A3B8"/>
                </a:solidFill>
                <a:latin typeface="Exo 2 Italics"/>
                <a:ea typeface="Exo 2 Italics"/>
                <a:cs typeface="Exo 2 Italics"/>
                <a:sym typeface="Exo 2 Italics"/>
              </a:rPr>
              <a:t> of October, 2026</a:t>
            </a:r>
          </a:p>
        </p:txBody>
      </p:sp>
      <p:grpSp>
        <p:nvGrpSpPr>
          <p:cNvPr name="Group 6" id="6"/>
          <p:cNvGrpSpPr/>
          <p:nvPr/>
        </p:nvGrpSpPr>
        <p:grpSpPr>
          <a:xfrm rot="0">
            <a:off x="14630340" y="1028700"/>
            <a:ext cx="2628960" cy="757148"/>
            <a:chOff x="0" y="0"/>
            <a:chExt cx="6614516" cy="1905000"/>
          </a:xfrm>
        </p:grpSpPr>
        <p:sp>
          <p:nvSpPr>
            <p:cNvPr name="Freeform 7" id="7"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8" id="8"/>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535" y="648843"/>
            <a:ext cx="115062" cy="732282"/>
            <a:chOff x="0" y="0"/>
            <a:chExt cx="153416" cy="976376"/>
          </a:xfrm>
        </p:grpSpPr>
        <p:sp>
          <p:nvSpPr>
            <p:cNvPr name="Freeform 3" id="3"/>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4" id="4"/>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grpSp>
        <p:nvGrpSpPr>
          <p:cNvPr name="Group 5" id="5"/>
          <p:cNvGrpSpPr/>
          <p:nvPr/>
        </p:nvGrpSpPr>
        <p:grpSpPr>
          <a:xfrm rot="0">
            <a:off x="755850" y="564284"/>
            <a:ext cx="13164593" cy="928831"/>
            <a:chOff x="0" y="0"/>
            <a:chExt cx="17552791" cy="1238442"/>
          </a:xfrm>
        </p:grpSpPr>
        <p:sp>
          <p:nvSpPr>
            <p:cNvPr name="Freeform 6" id="6"/>
            <p:cNvSpPr/>
            <p:nvPr/>
          </p:nvSpPr>
          <p:spPr>
            <a:xfrm flipH="false" flipV="false" rot="0">
              <a:off x="0" y="0"/>
              <a:ext cx="17552791" cy="1238442"/>
            </a:xfrm>
            <a:custGeom>
              <a:avLst/>
              <a:gdLst/>
              <a:ahLst/>
              <a:cxnLst/>
              <a:rect r="r" b="b" t="t" l="l"/>
              <a:pathLst>
                <a:path h="1238442" w="17552791">
                  <a:moveTo>
                    <a:pt x="0" y="0"/>
                  </a:moveTo>
                  <a:lnTo>
                    <a:pt x="17552791" y="0"/>
                  </a:lnTo>
                  <a:lnTo>
                    <a:pt x="17552791" y="1238442"/>
                  </a:lnTo>
                  <a:lnTo>
                    <a:pt x="0" y="1238442"/>
                  </a:lnTo>
                  <a:close/>
                </a:path>
              </a:pathLst>
            </a:custGeom>
            <a:blipFill>
              <a:blip r:embed="rId3">
                <a:alphaModFix amt="0"/>
              </a:blip>
              <a:stretch>
                <a:fillRect l="0" t="-220566" r="6230" b="-197355"/>
              </a:stretch>
            </a:blipFill>
          </p:spPr>
        </p:sp>
        <p:sp>
          <p:nvSpPr>
            <p:cNvPr name="TextBox 7" id="7"/>
            <p:cNvSpPr txBox="true"/>
            <p:nvPr/>
          </p:nvSpPr>
          <p:spPr>
            <a:xfrm>
              <a:off x="0" y="-9525"/>
              <a:ext cx="17552791" cy="1247967"/>
            </a:xfrm>
            <a:prstGeom prst="rect">
              <a:avLst/>
            </a:prstGeom>
          </p:spPr>
          <p:txBody>
            <a:bodyPr anchor="ctr" rtlCol="false" tIns="0" lIns="0" bIns="0" rIns="0"/>
            <a:lstStyle/>
            <a:p>
              <a:pPr algn="l" marL="0" indent="0" lvl="0">
                <a:lnSpc>
                  <a:spcPts val="5280"/>
                </a:lnSpc>
                <a:spcBef>
                  <a:spcPct val="0"/>
                </a:spcBef>
              </a:pPr>
              <a:r>
                <a:rPr lang="en-US" b="true" sz="44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Performance Update</a:t>
              </a:r>
            </a:p>
          </p:txBody>
        </p:sp>
      </p:grpSp>
      <p:sp>
        <p:nvSpPr>
          <p:cNvPr name="Freeform 8" id="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10" id="10"/>
          <p:cNvGrpSpPr/>
          <p:nvPr/>
        </p:nvGrpSpPr>
        <p:grpSpPr>
          <a:xfrm rot="0">
            <a:off x="492442" y="1803934"/>
            <a:ext cx="3996690" cy="1802130"/>
            <a:chOff x="0" y="0"/>
            <a:chExt cx="5328920" cy="2402840"/>
          </a:xfrm>
        </p:grpSpPr>
        <p:sp>
          <p:nvSpPr>
            <p:cNvPr name="Freeform 11" id="11"/>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2" id="12"/>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13" id="13"/>
          <p:cNvGrpSpPr/>
          <p:nvPr/>
        </p:nvGrpSpPr>
        <p:grpSpPr>
          <a:xfrm rot="0">
            <a:off x="4881562" y="1803934"/>
            <a:ext cx="3996690" cy="1802130"/>
            <a:chOff x="0" y="0"/>
            <a:chExt cx="5328920" cy="2402840"/>
          </a:xfrm>
        </p:grpSpPr>
        <p:sp>
          <p:nvSpPr>
            <p:cNvPr name="Freeform 14" id="14"/>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5" id="15"/>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16" id="16"/>
          <p:cNvGrpSpPr/>
          <p:nvPr/>
        </p:nvGrpSpPr>
        <p:grpSpPr>
          <a:xfrm rot="0">
            <a:off x="9270682" y="1803934"/>
            <a:ext cx="3996690" cy="1802130"/>
            <a:chOff x="0" y="0"/>
            <a:chExt cx="5328920" cy="2402840"/>
          </a:xfrm>
        </p:grpSpPr>
        <p:sp>
          <p:nvSpPr>
            <p:cNvPr name="Freeform 17" id="17"/>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8" id="18"/>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19" id="19"/>
          <p:cNvGrpSpPr/>
          <p:nvPr/>
        </p:nvGrpSpPr>
        <p:grpSpPr>
          <a:xfrm rot="0">
            <a:off x="13659802" y="1803934"/>
            <a:ext cx="3996690" cy="1802130"/>
            <a:chOff x="0" y="0"/>
            <a:chExt cx="5328920" cy="2402840"/>
          </a:xfrm>
        </p:grpSpPr>
        <p:sp>
          <p:nvSpPr>
            <p:cNvPr name="Freeform 20" id="20"/>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21" id="21"/>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2" id="22"/>
          <p:cNvGrpSpPr/>
          <p:nvPr/>
        </p:nvGrpSpPr>
        <p:grpSpPr>
          <a:xfrm rot="0">
            <a:off x="476726" y="3931417"/>
            <a:ext cx="3996690" cy="1802130"/>
            <a:chOff x="0" y="0"/>
            <a:chExt cx="5328920" cy="2402840"/>
          </a:xfrm>
        </p:grpSpPr>
        <p:sp>
          <p:nvSpPr>
            <p:cNvPr name="Freeform 23" id="23"/>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24" id="24"/>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5" id="25"/>
          <p:cNvGrpSpPr/>
          <p:nvPr/>
        </p:nvGrpSpPr>
        <p:grpSpPr>
          <a:xfrm rot="0">
            <a:off x="4865846" y="3931417"/>
            <a:ext cx="3996690" cy="1802130"/>
            <a:chOff x="0" y="0"/>
            <a:chExt cx="5328920" cy="2402840"/>
          </a:xfrm>
        </p:grpSpPr>
        <p:sp>
          <p:nvSpPr>
            <p:cNvPr name="Freeform 26" id="26"/>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27" id="27"/>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8" id="28"/>
          <p:cNvGrpSpPr/>
          <p:nvPr/>
        </p:nvGrpSpPr>
        <p:grpSpPr>
          <a:xfrm rot="0">
            <a:off x="9254966" y="3931417"/>
            <a:ext cx="3996690" cy="1802130"/>
            <a:chOff x="0" y="0"/>
            <a:chExt cx="5328920" cy="2402840"/>
          </a:xfrm>
        </p:grpSpPr>
        <p:sp>
          <p:nvSpPr>
            <p:cNvPr name="Freeform 29" id="29"/>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30" id="30"/>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31" id="31"/>
          <p:cNvGrpSpPr/>
          <p:nvPr/>
        </p:nvGrpSpPr>
        <p:grpSpPr>
          <a:xfrm rot="0">
            <a:off x="13644086" y="3931417"/>
            <a:ext cx="3996690" cy="1802130"/>
            <a:chOff x="0" y="0"/>
            <a:chExt cx="5328920" cy="2402840"/>
          </a:xfrm>
        </p:grpSpPr>
        <p:sp>
          <p:nvSpPr>
            <p:cNvPr name="Freeform 32" id="32"/>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33" id="33"/>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34" id="34"/>
          <p:cNvGrpSpPr/>
          <p:nvPr/>
        </p:nvGrpSpPr>
        <p:grpSpPr>
          <a:xfrm rot="0">
            <a:off x="486251" y="1800446"/>
            <a:ext cx="3996690" cy="1802130"/>
            <a:chOff x="0" y="0"/>
            <a:chExt cx="5328920" cy="2402840"/>
          </a:xfrm>
        </p:grpSpPr>
        <p:sp>
          <p:nvSpPr>
            <p:cNvPr name="Freeform 35" id="35"/>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36" id="36"/>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37" id="37"/>
          <p:cNvGrpSpPr/>
          <p:nvPr/>
        </p:nvGrpSpPr>
        <p:grpSpPr>
          <a:xfrm rot="0">
            <a:off x="632936" y="1800444"/>
            <a:ext cx="3703320" cy="903818"/>
            <a:chOff x="0" y="0"/>
            <a:chExt cx="4937760" cy="1205090"/>
          </a:xfrm>
        </p:grpSpPr>
        <p:sp>
          <p:nvSpPr>
            <p:cNvPr name="Freeform 38" id="3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39" id="39"/>
          <p:cNvGrpSpPr/>
          <p:nvPr/>
        </p:nvGrpSpPr>
        <p:grpSpPr>
          <a:xfrm rot="0">
            <a:off x="632936" y="1793300"/>
            <a:ext cx="3703320" cy="910961"/>
            <a:chOff x="0" y="0"/>
            <a:chExt cx="4937760" cy="1214615"/>
          </a:xfrm>
        </p:grpSpPr>
        <p:sp>
          <p:nvSpPr>
            <p:cNvPr name="Freeform 40" id="4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41" id="4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490</a:t>
              </a:r>
            </a:p>
          </p:txBody>
        </p:sp>
      </p:grpSp>
      <p:grpSp>
        <p:nvGrpSpPr>
          <p:cNvPr name="Group 42" id="42"/>
          <p:cNvGrpSpPr/>
          <p:nvPr/>
        </p:nvGrpSpPr>
        <p:grpSpPr>
          <a:xfrm rot="0">
            <a:off x="632936" y="2608726"/>
            <a:ext cx="3703320" cy="499262"/>
            <a:chOff x="0" y="0"/>
            <a:chExt cx="4937760" cy="665683"/>
          </a:xfrm>
        </p:grpSpPr>
        <p:sp>
          <p:nvSpPr>
            <p:cNvPr name="Freeform 43" id="4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44" id="44"/>
          <p:cNvGrpSpPr/>
          <p:nvPr/>
        </p:nvGrpSpPr>
        <p:grpSpPr>
          <a:xfrm rot="0">
            <a:off x="632936" y="2601582"/>
            <a:ext cx="3703320" cy="506406"/>
            <a:chOff x="0" y="0"/>
            <a:chExt cx="4937760" cy="675208"/>
          </a:xfrm>
        </p:grpSpPr>
        <p:sp>
          <p:nvSpPr>
            <p:cNvPr name="Freeform 45" id="4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46" id="4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Downloads</a:t>
              </a:r>
            </a:p>
          </p:txBody>
        </p:sp>
      </p:grpSp>
      <p:grpSp>
        <p:nvGrpSpPr>
          <p:cNvPr name="Group 47" id="47"/>
          <p:cNvGrpSpPr/>
          <p:nvPr/>
        </p:nvGrpSpPr>
        <p:grpSpPr>
          <a:xfrm rot="0">
            <a:off x="5022056" y="1800444"/>
            <a:ext cx="3703320" cy="903818"/>
            <a:chOff x="0" y="0"/>
            <a:chExt cx="4937760" cy="1205090"/>
          </a:xfrm>
        </p:grpSpPr>
        <p:sp>
          <p:nvSpPr>
            <p:cNvPr name="Freeform 48" id="4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49" id="49"/>
          <p:cNvGrpSpPr/>
          <p:nvPr/>
        </p:nvGrpSpPr>
        <p:grpSpPr>
          <a:xfrm rot="0">
            <a:off x="5022056" y="1793300"/>
            <a:ext cx="3703320" cy="910961"/>
            <a:chOff x="0" y="0"/>
            <a:chExt cx="4937760" cy="1214615"/>
          </a:xfrm>
        </p:grpSpPr>
        <p:sp>
          <p:nvSpPr>
            <p:cNvPr name="Freeform 50" id="5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51" id="5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61</a:t>
              </a:r>
            </a:p>
          </p:txBody>
        </p:sp>
      </p:grpSp>
      <p:grpSp>
        <p:nvGrpSpPr>
          <p:cNvPr name="Group 52" id="52"/>
          <p:cNvGrpSpPr/>
          <p:nvPr/>
        </p:nvGrpSpPr>
        <p:grpSpPr>
          <a:xfrm rot="0">
            <a:off x="5022056" y="2608726"/>
            <a:ext cx="3703320" cy="499262"/>
            <a:chOff x="0" y="0"/>
            <a:chExt cx="4937760" cy="665683"/>
          </a:xfrm>
        </p:grpSpPr>
        <p:sp>
          <p:nvSpPr>
            <p:cNvPr name="Freeform 53" id="5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54" id="54"/>
          <p:cNvGrpSpPr/>
          <p:nvPr/>
        </p:nvGrpSpPr>
        <p:grpSpPr>
          <a:xfrm rot="0">
            <a:off x="5022056" y="2601582"/>
            <a:ext cx="3703320" cy="506406"/>
            <a:chOff x="0" y="0"/>
            <a:chExt cx="4937760" cy="675208"/>
          </a:xfrm>
        </p:grpSpPr>
        <p:sp>
          <p:nvSpPr>
            <p:cNvPr name="Freeform 55" id="5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56" id="5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Users Onboarded</a:t>
              </a:r>
            </a:p>
          </p:txBody>
        </p:sp>
      </p:grpSp>
      <p:grpSp>
        <p:nvGrpSpPr>
          <p:cNvPr name="Group 57" id="57"/>
          <p:cNvGrpSpPr/>
          <p:nvPr/>
        </p:nvGrpSpPr>
        <p:grpSpPr>
          <a:xfrm rot="0">
            <a:off x="9411176" y="1800444"/>
            <a:ext cx="3703320" cy="903818"/>
            <a:chOff x="0" y="0"/>
            <a:chExt cx="4937760" cy="1205090"/>
          </a:xfrm>
        </p:grpSpPr>
        <p:sp>
          <p:nvSpPr>
            <p:cNvPr name="Freeform 58" id="5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59" id="59"/>
          <p:cNvGrpSpPr/>
          <p:nvPr/>
        </p:nvGrpSpPr>
        <p:grpSpPr>
          <a:xfrm rot="0">
            <a:off x="9411176" y="1793300"/>
            <a:ext cx="3703320" cy="910961"/>
            <a:chOff x="0" y="0"/>
            <a:chExt cx="4937760" cy="1214615"/>
          </a:xfrm>
        </p:grpSpPr>
        <p:sp>
          <p:nvSpPr>
            <p:cNvPr name="Freeform 60" id="6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61" id="6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70</a:t>
              </a:r>
            </a:p>
          </p:txBody>
        </p:sp>
      </p:grpSp>
      <p:grpSp>
        <p:nvGrpSpPr>
          <p:cNvPr name="Group 62" id="62"/>
          <p:cNvGrpSpPr/>
          <p:nvPr/>
        </p:nvGrpSpPr>
        <p:grpSpPr>
          <a:xfrm rot="0">
            <a:off x="9411176" y="2608726"/>
            <a:ext cx="3703320" cy="499262"/>
            <a:chOff x="0" y="0"/>
            <a:chExt cx="4937760" cy="665683"/>
          </a:xfrm>
        </p:grpSpPr>
        <p:sp>
          <p:nvSpPr>
            <p:cNvPr name="Freeform 63" id="6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64" id="64"/>
          <p:cNvGrpSpPr/>
          <p:nvPr/>
        </p:nvGrpSpPr>
        <p:grpSpPr>
          <a:xfrm rot="0">
            <a:off x="9411176" y="2601582"/>
            <a:ext cx="3703320" cy="506406"/>
            <a:chOff x="0" y="0"/>
            <a:chExt cx="4937760" cy="675208"/>
          </a:xfrm>
        </p:grpSpPr>
        <p:sp>
          <p:nvSpPr>
            <p:cNvPr name="Freeform 65" id="6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66" id="6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name="Group 67" id="67"/>
          <p:cNvGrpSpPr/>
          <p:nvPr/>
        </p:nvGrpSpPr>
        <p:grpSpPr>
          <a:xfrm rot="0">
            <a:off x="617220" y="3927929"/>
            <a:ext cx="3703320" cy="903818"/>
            <a:chOff x="0" y="0"/>
            <a:chExt cx="4937760" cy="1205090"/>
          </a:xfrm>
        </p:grpSpPr>
        <p:sp>
          <p:nvSpPr>
            <p:cNvPr name="Freeform 68" id="6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69" id="69"/>
          <p:cNvGrpSpPr/>
          <p:nvPr/>
        </p:nvGrpSpPr>
        <p:grpSpPr>
          <a:xfrm rot="0">
            <a:off x="617220" y="3920785"/>
            <a:ext cx="3703320" cy="910961"/>
            <a:chOff x="0" y="0"/>
            <a:chExt cx="4937760" cy="1214615"/>
          </a:xfrm>
        </p:grpSpPr>
        <p:sp>
          <p:nvSpPr>
            <p:cNvPr name="Freeform 70" id="7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71" id="7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$12,206.00</a:t>
              </a:r>
            </a:p>
          </p:txBody>
        </p:sp>
      </p:grpSp>
      <p:grpSp>
        <p:nvGrpSpPr>
          <p:cNvPr name="Group 72" id="72"/>
          <p:cNvGrpSpPr/>
          <p:nvPr/>
        </p:nvGrpSpPr>
        <p:grpSpPr>
          <a:xfrm rot="0">
            <a:off x="617220" y="4740221"/>
            <a:ext cx="3703320" cy="499262"/>
            <a:chOff x="0" y="0"/>
            <a:chExt cx="4937760" cy="665683"/>
          </a:xfrm>
        </p:grpSpPr>
        <p:sp>
          <p:nvSpPr>
            <p:cNvPr name="Freeform 73" id="7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74" id="74"/>
          <p:cNvGrpSpPr/>
          <p:nvPr/>
        </p:nvGrpSpPr>
        <p:grpSpPr>
          <a:xfrm rot="0">
            <a:off x="617220" y="4733077"/>
            <a:ext cx="3703320" cy="506406"/>
            <a:chOff x="0" y="0"/>
            <a:chExt cx="4937760" cy="675208"/>
          </a:xfrm>
        </p:grpSpPr>
        <p:sp>
          <p:nvSpPr>
            <p:cNvPr name="Freeform 75" id="7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76" id="7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Deposits</a:t>
              </a:r>
            </a:p>
          </p:txBody>
        </p:sp>
      </p:grpSp>
      <p:grpSp>
        <p:nvGrpSpPr>
          <p:cNvPr name="Group 77" id="77"/>
          <p:cNvGrpSpPr/>
          <p:nvPr/>
        </p:nvGrpSpPr>
        <p:grpSpPr>
          <a:xfrm rot="0">
            <a:off x="864108" y="7643641"/>
            <a:ext cx="16212312" cy="775764"/>
            <a:chOff x="0" y="0"/>
            <a:chExt cx="21616416" cy="1034351"/>
          </a:xfrm>
        </p:grpSpPr>
        <p:sp>
          <p:nvSpPr>
            <p:cNvPr name="Freeform 78" id="78"/>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79" id="79"/>
          <p:cNvGrpSpPr/>
          <p:nvPr/>
        </p:nvGrpSpPr>
        <p:grpSpPr>
          <a:xfrm rot="0">
            <a:off x="864108" y="7643641"/>
            <a:ext cx="16212312" cy="775760"/>
            <a:chOff x="0" y="0"/>
            <a:chExt cx="21616416" cy="1034347"/>
          </a:xfrm>
        </p:grpSpPr>
        <p:sp>
          <p:nvSpPr>
            <p:cNvPr name="Freeform 80" id="80"/>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81" id="81"/>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Marketing: paid media testing, campaigns live</a:t>
              </a:r>
            </a:p>
            <a:p>
              <a:pPr algn="l">
                <a:lnSpc>
                  <a:spcPts val="2578"/>
                </a:lnSpc>
              </a:pPr>
              <a:r>
                <a:rPr lang="en-US" sz="2148">
                  <a:solidFill>
                    <a:srgbClr val="5A6A85"/>
                  </a:solidFill>
                  <a:latin typeface="Exo 2"/>
                  <a:ea typeface="Exo 2"/>
                  <a:cs typeface="Exo 2"/>
                  <a:sym typeface="Exo 2"/>
                </a:rPr>
                <a:t>Google Ads brought 70% of Sep site traffic; Mention &amp; Win, $5,000, and Abdulelah campaigns are live; Manal Talal video in October.</a:t>
              </a:r>
            </a:p>
          </p:txBody>
        </p:sp>
      </p:grpSp>
      <p:grpSp>
        <p:nvGrpSpPr>
          <p:cNvPr name="Group 82" id="82"/>
          <p:cNvGrpSpPr/>
          <p:nvPr/>
        </p:nvGrpSpPr>
        <p:grpSpPr>
          <a:xfrm rot="0">
            <a:off x="864108" y="6626714"/>
            <a:ext cx="16212312" cy="775764"/>
            <a:chOff x="0" y="0"/>
            <a:chExt cx="21616416" cy="1034351"/>
          </a:xfrm>
        </p:grpSpPr>
        <p:sp>
          <p:nvSpPr>
            <p:cNvPr name="Freeform 83" id="83"/>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84" id="84"/>
          <p:cNvGrpSpPr/>
          <p:nvPr/>
        </p:nvGrpSpPr>
        <p:grpSpPr>
          <a:xfrm rot="0">
            <a:off x="864108" y="6626714"/>
            <a:ext cx="16212312" cy="775760"/>
            <a:chOff x="0" y="0"/>
            <a:chExt cx="21616416" cy="1034347"/>
          </a:xfrm>
        </p:grpSpPr>
        <p:sp>
          <p:nvSpPr>
            <p:cNvPr name="Freeform 85" id="85"/>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86" id="86"/>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Platform: downloads up, onboardings to follow</a:t>
              </a:r>
            </a:p>
            <a:p>
              <a:pPr algn="l">
                <a:lnSpc>
                  <a:spcPts val="2578"/>
                </a:lnSpc>
              </a:pPr>
              <a:r>
                <a:rPr lang="en-US" sz="2148">
                  <a:solidFill>
                    <a:srgbClr val="5A6A85"/>
                  </a:solidFill>
                  <a:latin typeface="Exo 2"/>
                  <a:ea typeface="Exo 2"/>
                  <a:cs typeface="Exo 2"/>
                  <a:sym typeface="Exo 2"/>
                </a:rPr>
                <a:t>490 downloads (+18.4%), 61 clients (+19.6%); only 4 of 53 downloads since 22 Sep onboarded (Testing phase of Google Ads).</a:t>
              </a:r>
            </a:p>
          </p:txBody>
        </p:sp>
      </p:grpSp>
      <p:grpSp>
        <p:nvGrpSpPr>
          <p:cNvPr name="Group 87" id="87"/>
          <p:cNvGrpSpPr/>
          <p:nvPr/>
        </p:nvGrpSpPr>
        <p:grpSpPr>
          <a:xfrm rot="0">
            <a:off x="797528" y="3108017"/>
            <a:ext cx="1933956" cy="438912"/>
            <a:chOff x="0" y="0"/>
            <a:chExt cx="2578608" cy="585216"/>
          </a:xfrm>
        </p:grpSpPr>
        <p:sp>
          <p:nvSpPr>
            <p:cNvPr name="Freeform 88" id="8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89" id="89"/>
          <p:cNvGrpSpPr/>
          <p:nvPr/>
        </p:nvGrpSpPr>
        <p:grpSpPr>
          <a:xfrm rot="0">
            <a:off x="797528" y="3108017"/>
            <a:ext cx="1933956" cy="438912"/>
            <a:chOff x="0" y="0"/>
            <a:chExt cx="2578608" cy="585216"/>
          </a:xfrm>
        </p:grpSpPr>
        <p:sp>
          <p:nvSpPr>
            <p:cNvPr name="Freeform 90" id="90"/>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91" id="91"/>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414</a:t>
              </a:r>
            </a:p>
          </p:txBody>
        </p:sp>
      </p:grpSp>
      <p:grpSp>
        <p:nvGrpSpPr>
          <p:cNvPr name="Group 92" id="92"/>
          <p:cNvGrpSpPr/>
          <p:nvPr/>
        </p:nvGrpSpPr>
        <p:grpSpPr>
          <a:xfrm rot="0">
            <a:off x="2329882" y="3108017"/>
            <a:ext cx="1841783" cy="438912"/>
            <a:chOff x="0" y="0"/>
            <a:chExt cx="2455710" cy="585216"/>
          </a:xfrm>
        </p:grpSpPr>
        <p:sp>
          <p:nvSpPr>
            <p:cNvPr name="Freeform 93" id="93"/>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94" id="94"/>
          <p:cNvGrpSpPr/>
          <p:nvPr/>
        </p:nvGrpSpPr>
        <p:grpSpPr>
          <a:xfrm rot="0">
            <a:off x="2329882" y="3108017"/>
            <a:ext cx="1841783" cy="438912"/>
            <a:chOff x="0" y="0"/>
            <a:chExt cx="2455710" cy="585216"/>
          </a:xfrm>
        </p:grpSpPr>
        <p:sp>
          <p:nvSpPr>
            <p:cNvPr name="Freeform 95" id="95"/>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96" id="96"/>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+18.4%</a:t>
              </a:r>
            </a:p>
          </p:txBody>
        </p:sp>
      </p:grpSp>
      <p:grpSp>
        <p:nvGrpSpPr>
          <p:cNvPr name="Group 97" id="97"/>
          <p:cNvGrpSpPr/>
          <p:nvPr/>
        </p:nvGrpSpPr>
        <p:grpSpPr>
          <a:xfrm rot="0">
            <a:off x="781812" y="5243522"/>
            <a:ext cx="1933956" cy="438912"/>
            <a:chOff x="0" y="0"/>
            <a:chExt cx="2578608" cy="585216"/>
          </a:xfrm>
        </p:grpSpPr>
        <p:sp>
          <p:nvSpPr>
            <p:cNvPr name="Freeform 98" id="9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99" id="99"/>
          <p:cNvGrpSpPr/>
          <p:nvPr/>
        </p:nvGrpSpPr>
        <p:grpSpPr>
          <a:xfrm rot="0">
            <a:off x="781812" y="5243522"/>
            <a:ext cx="1933956" cy="438912"/>
            <a:chOff x="0" y="0"/>
            <a:chExt cx="2578608" cy="585216"/>
          </a:xfrm>
        </p:grpSpPr>
        <p:sp>
          <p:nvSpPr>
            <p:cNvPr name="Freeform 100" id="100"/>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01" id="101"/>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$10,195.88</a:t>
              </a:r>
            </a:p>
          </p:txBody>
        </p:sp>
      </p:grpSp>
      <p:grpSp>
        <p:nvGrpSpPr>
          <p:cNvPr name="Group 102" id="102"/>
          <p:cNvGrpSpPr/>
          <p:nvPr/>
        </p:nvGrpSpPr>
        <p:grpSpPr>
          <a:xfrm rot="0">
            <a:off x="2314165" y="5243522"/>
            <a:ext cx="1841783" cy="438912"/>
            <a:chOff x="0" y="0"/>
            <a:chExt cx="2455710" cy="585216"/>
          </a:xfrm>
        </p:grpSpPr>
        <p:sp>
          <p:nvSpPr>
            <p:cNvPr name="Freeform 103" id="103"/>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04" id="104"/>
          <p:cNvGrpSpPr/>
          <p:nvPr/>
        </p:nvGrpSpPr>
        <p:grpSpPr>
          <a:xfrm rot="0">
            <a:off x="2314165" y="5243522"/>
            <a:ext cx="1841783" cy="438912"/>
            <a:chOff x="0" y="0"/>
            <a:chExt cx="2455710" cy="585216"/>
          </a:xfrm>
        </p:grpSpPr>
        <p:sp>
          <p:nvSpPr>
            <p:cNvPr name="Freeform 105" id="105"/>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06" id="106"/>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94A3B8"/>
                  </a:solidFill>
                  <a:latin typeface="Exo 2 Bold"/>
                  <a:ea typeface="Exo 2 Bold"/>
                  <a:cs typeface="Exo 2 Bold"/>
                  <a:sym typeface="Exo 2 Bold"/>
                </a:rPr>
                <a:t>▲ +19.7%</a:t>
              </a:r>
            </a:p>
          </p:txBody>
        </p:sp>
      </p:grpSp>
      <p:grpSp>
        <p:nvGrpSpPr>
          <p:cNvPr name="Group 107" id="107"/>
          <p:cNvGrpSpPr/>
          <p:nvPr/>
        </p:nvGrpSpPr>
        <p:grpSpPr>
          <a:xfrm rot="0">
            <a:off x="5186648" y="3108017"/>
            <a:ext cx="1933956" cy="438912"/>
            <a:chOff x="0" y="0"/>
            <a:chExt cx="2578608" cy="585216"/>
          </a:xfrm>
        </p:grpSpPr>
        <p:sp>
          <p:nvSpPr>
            <p:cNvPr name="Freeform 108" id="10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09" id="109"/>
          <p:cNvGrpSpPr/>
          <p:nvPr/>
        </p:nvGrpSpPr>
        <p:grpSpPr>
          <a:xfrm rot="0">
            <a:off x="5186648" y="3108017"/>
            <a:ext cx="1933956" cy="438912"/>
            <a:chOff x="0" y="0"/>
            <a:chExt cx="2578608" cy="585216"/>
          </a:xfrm>
        </p:grpSpPr>
        <p:sp>
          <p:nvSpPr>
            <p:cNvPr name="Freeform 110" id="110"/>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11" id="111"/>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51</a:t>
              </a:r>
            </a:p>
          </p:txBody>
        </p:sp>
      </p:grpSp>
      <p:grpSp>
        <p:nvGrpSpPr>
          <p:cNvPr name="Group 112" id="112"/>
          <p:cNvGrpSpPr/>
          <p:nvPr/>
        </p:nvGrpSpPr>
        <p:grpSpPr>
          <a:xfrm rot="0">
            <a:off x="6719002" y="3108017"/>
            <a:ext cx="1841783" cy="438912"/>
            <a:chOff x="0" y="0"/>
            <a:chExt cx="2455710" cy="585216"/>
          </a:xfrm>
        </p:grpSpPr>
        <p:sp>
          <p:nvSpPr>
            <p:cNvPr name="Freeform 113" id="113"/>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14" id="114"/>
          <p:cNvGrpSpPr/>
          <p:nvPr/>
        </p:nvGrpSpPr>
        <p:grpSpPr>
          <a:xfrm rot="0">
            <a:off x="6719002" y="3108017"/>
            <a:ext cx="1841783" cy="438912"/>
            <a:chOff x="0" y="0"/>
            <a:chExt cx="2455710" cy="585216"/>
          </a:xfrm>
        </p:grpSpPr>
        <p:sp>
          <p:nvSpPr>
            <p:cNvPr name="Freeform 115" id="115"/>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16" id="116"/>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+19.6%</a:t>
              </a:r>
            </a:p>
          </p:txBody>
        </p:sp>
      </p:grpSp>
      <p:grpSp>
        <p:nvGrpSpPr>
          <p:cNvPr name="Group 117" id="117"/>
          <p:cNvGrpSpPr/>
          <p:nvPr/>
        </p:nvGrpSpPr>
        <p:grpSpPr>
          <a:xfrm rot="0">
            <a:off x="13800296" y="3927929"/>
            <a:ext cx="3703320" cy="903818"/>
            <a:chOff x="0" y="0"/>
            <a:chExt cx="4937760" cy="1205090"/>
          </a:xfrm>
        </p:grpSpPr>
        <p:sp>
          <p:nvSpPr>
            <p:cNvPr name="Freeform 118" id="11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19" id="119"/>
          <p:cNvGrpSpPr/>
          <p:nvPr/>
        </p:nvGrpSpPr>
        <p:grpSpPr>
          <a:xfrm rot="0">
            <a:off x="13800296" y="3920785"/>
            <a:ext cx="3703320" cy="910961"/>
            <a:chOff x="0" y="0"/>
            <a:chExt cx="4937760" cy="1214615"/>
          </a:xfrm>
        </p:grpSpPr>
        <p:sp>
          <p:nvSpPr>
            <p:cNvPr name="Freeform 120" id="12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21" id="12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55</a:t>
              </a:r>
            </a:p>
          </p:txBody>
        </p:sp>
      </p:grpSp>
      <p:grpSp>
        <p:nvGrpSpPr>
          <p:cNvPr name="Group 122" id="122"/>
          <p:cNvGrpSpPr/>
          <p:nvPr/>
        </p:nvGrpSpPr>
        <p:grpSpPr>
          <a:xfrm rot="0">
            <a:off x="13800296" y="4740221"/>
            <a:ext cx="3703320" cy="499262"/>
            <a:chOff x="0" y="0"/>
            <a:chExt cx="4937760" cy="665683"/>
          </a:xfrm>
        </p:grpSpPr>
        <p:sp>
          <p:nvSpPr>
            <p:cNvPr name="Freeform 123" id="12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24" id="124"/>
          <p:cNvGrpSpPr/>
          <p:nvPr/>
        </p:nvGrpSpPr>
        <p:grpSpPr>
          <a:xfrm rot="0">
            <a:off x="13800296" y="4733077"/>
            <a:ext cx="3703320" cy="506406"/>
            <a:chOff x="0" y="0"/>
            <a:chExt cx="4937760" cy="675208"/>
          </a:xfrm>
        </p:grpSpPr>
        <p:sp>
          <p:nvSpPr>
            <p:cNvPr name="Freeform 125" id="12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26" id="12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Trades</a:t>
              </a:r>
            </a:p>
          </p:txBody>
        </p:sp>
      </p:grpSp>
      <p:grpSp>
        <p:nvGrpSpPr>
          <p:cNvPr name="Group 127" id="127"/>
          <p:cNvGrpSpPr/>
          <p:nvPr/>
        </p:nvGrpSpPr>
        <p:grpSpPr>
          <a:xfrm rot="0">
            <a:off x="13964888" y="5243522"/>
            <a:ext cx="1933956" cy="438912"/>
            <a:chOff x="0" y="0"/>
            <a:chExt cx="2578608" cy="585216"/>
          </a:xfrm>
        </p:grpSpPr>
        <p:sp>
          <p:nvSpPr>
            <p:cNvPr name="Freeform 128" id="12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29" id="129"/>
          <p:cNvGrpSpPr/>
          <p:nvPr/>
        </p:nvGrpSpPr>
        <p:grpSpPr>
          <a:xfrm rot="0">
            <a:off x="13964888" y="5243522"/>
            <a:ext cx="1933956" cy="438912"/>
            <a:chOff x="0" y="0"/>
            <a:chExt cx="2578608" cy="585216"/>
          </a:xfrm>
        </p:grpSpPr>
        <p:sp>
          <p:nvSpPr>
            <p:cNvPr name="Freeform 130" id="130"/>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31" id="131"/>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47</a:t>
              </a:r>
            </a:p>
          </p:txBody>
        </p:sp>
      </p:grpSp>
      <p:grpSp>
        <p:nvGrpSpPr>
          <p:cNvPr name="Group 132" id="132"/>
          <p:cNvGrpSpPr/>
          <p:nvPr/>
        </p:nvGrpSpPr>
        <p:grpSpPr>
          <a:xfrm rot="0">
            <a:off x="15497242" y="5243522"/>
            <a:ext cx="1841783" cy="438912"/>
            <a:chOff x="0" y="0"/>
            <a:chExt cx="2455710" cy="585216"/>
          </a:xfrm>
        </p:grpSpPr>
        <p:sp>
          <p:nvSpPr>
            <p:cNvPr name="Freeform 133" id="133"/>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34" id="134"/>
          <p:cNvGrpSpPr/>
          <p:nvPr/>
        </p:nvGrpSpPr>
        <p:grpSpPr>
          <a:xfrm rot="0">
            <a:off x="15497242" y="5243522"/>
            <a:ext cx="1841783" cy="438912"/>
            <a:chOff x="0" y="0"/>
            <a:chExt cx="2455710" cy="585216"/>
          </a:xfrm>
        </p:grpSpPr>
        <p:sp>
          <p:nvSpPr>
            <p:cNvPr name="Freeform 135" id="135"/>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36" id="136"/>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+17.0%</a:t>
              </a:r>
            </a:p>
          </p:txBody>
        </p:sp>
      </p:grpSp>
      <p:grpSp>
        <p:nvGrpSpPr>
          <p:cNvPr name="Group 137" id="137"/>
          <p:cNvGrpSpPr/>
          <p:nvPr/>
        </p:nvGrpSpPr>
        <p:grpSpPr>
          <a:xfrm rot="0">
            <a:off x="5022056" y="3951742"/>
            <a:ext cx="3703320" cy="903818"/>
            <a:chOff x="0" y="0"/>
            <a:chExt cx="4937760" cy="1205090"/>
          </a:xfrm>
        </p:grpSpPr>
        <p:sp>
          <p:nvSpPr>
            <p:cNvPr name="Freeform 138" id="138"/>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39" id="139"/>
          <p:cNvGrpSpPr/>
          <p:nvPr/>
        </p:nvGrpSpPr>
        <p:grpSpPr>
          <a:xfrm rot="0">
            <a:off x="5022056" y="3944598"/>
            <a:ext cx="3703320" cy="910961"/>
            <a:chOff x="0" y="0"/>
            <a:chExt cx="4937760" cy="1214615"/>
          </a:xfrm>
        </p:grpSpPr>
        <p:sp>
          <p:nvSpPr>
            <p:cNvPr name="Freeform 140" id="140"/>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41" id="141"/>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$1,666.19</a:t>
              </a:r>
            </a:p>
          </p:txBody>
        </p:sp>
      </p:grpSp>
      <p:grpSp>
        <p:nvGrpSpPr>
          <p:cNvPr name="Group 142" id="142"/>
          <p:cNvGrpSpPr/>
          <p:nvPr/>
        </p:nvGrpSpPr>
        <p:grpSpPr>
          <a:xfrm rot="0">
            <a:off x="5022056" y="4764034"/>
            <a:ext cx="3703320" cy="499262"/>
            <a:chOff x="0" y="0"/>
            <a:chExt cx="4937760" cy="665683"/>
          </a:xfrm>
        </p:grpSpPr>
        <p:sp>
          <p:nvSpPr>
            <p:cNvPr name="Freeform 143" id="143"/>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44" id="144"/>
          <p:cNvGrpSpPr/>
          <p:nvPr/>
        </p:nvGrpSpPr>
        <p:grpSpPr>
          <a:xfrm rot="0">
            <a:off x="5022056" y="4756890"/>
            <a:ext cx="3703320" cy="506406"/>
            <a:chOff x="0" y="0"/>
            <a:chExt cx="4937760" cy="675208"/>
          </a:xfrm>
        </p:grpSpPr>
        <p:sp>
          <p:nvSpPr>
            <p:cNvPr name="Freeform 145" id="145"/>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46" id="146"/>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name="Group 147" id="147"/>
          <p:cNvGrpSpPr/>
          <p:nvPr/>
        </p:nvGrpSpPr>
        <p:grpSpPr>
          <a:xfrm rot="0">
            <a:off x="5186648" y="5267335"/>
            <a:ext cx="1933956" cy="438912"/>
            <a:chOff x="0" y="0"/>
            <a:chExt cx="2578608" cy="585216"/>
          </a:xfrm>
        </p:grpSpPr>
        <p:sp>
          <p:nvSpPr>
            <p:cNvPr name="Freeform 148" id="14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49" id="149"/>
          <p:cNvGrpSpPr/>
          <p:nvPr/>
        </p:nvGrpSpPr>
        <p:grpSpPr>
          <a:xfrm rot="0">
            <a:off x="5186648" y="5267335"/>
            <a:ext cx="1933956" cy="438912"/>
            <a:chOff x="0" y="0"/>
            <a:chExt cx="2578608" cy="585216"/>
          </a:xfrm>
        </p:grpSpPr>
        <p:sp>
          <p:nvSpPr>
            <p:cNvPr name="Freeform 150" id="150"/>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51" id="151"/>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$1,666.19</a:t>
              </a:r>
            </a:p>
          </p:txBody>
        </p:sp>
      </p:grpSp>
      <p:grpSp>
        <p:nvGrpSpPr>
          <p:cNvPr name="Group 152" id="152"/>
          <p:cNvGrpSpPr/>
          <p:nvPr/>
        </p:nvGrpSpPr>
        <p:grpSpPr>
          <a:xfrm rot="0">
            <a:off x="9411176" y="3937435"/>
            <a:ext cx="3703320" cy="903818"/>
            <a:chOff x="0" y="0"/>
            <a:chExt cx="4937760" cy="1205090"/>
          </a:xfrm>
        </p:grpSpPr>
        <p:sp>
          <p:nvSpPr>
            <p:cNvPr name="Freeform 153" id="153"/>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54" id="154"/>
          <p:cNvGrpSpPr/>
          <p:nvPr/>
        </p:nvGrpSpPr>
        <p:grpSpPr>
          <a:xfrm rot="0">
            <a:off x="9411176" y="3930291"/>
            <a:ext cx="3703320" cy="910961"/>
            <a:chOff x="0" y="0"/>
            <a:chExt cx="4937760" cy="1214615"/>
          </a:xfrm>
        </p:grpSpPr>
        <p:sp>
          <p:nvSpPr>
            <p:cNvPr name="Freeform 155" id="155"/>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56" id="156"/>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$10,539.81</a:t>
              </a:r>
            </a:p>
          </p:txBody>
        </p:sp>
      </p:grpSp>
      <p:grpSp>
        <p:nvGrpSpPr>
          <p:cNvPr name="Group 157" id="157"/>
          <p:cNvGrpSpPr/>
          <p:nvPr/>
        </p:nvGrpSpPr>
        <p:grpSpPr>
          <a:xfrm rot="0">
            <a:off x="9411176" y="4749727"/>
            <a:ext cx="3703320" cy="499262"/>
            <a:chOff x="0" y="0"/>
            <a:chExt cx="4937760" cy="665683"/>
          </a:xfrm>
        </p:grpSpPr>
        <p:sp>
          <p:nvSpPr>
            <p:cNvPr name="Freeform 158" id="158"/>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59" id="159"/>
          <p:cNvGrpSpPr/>
          <p:nvPr/>
        </p:nvGrpSpPr>
        <p:grpSpPr>
          <a:xfrm rot="0">
            <a:off x="9411176" y="4742583"/>
            <a:ext cx="3703320" cy="506406"/>
            <a:chOff x="0" y="0"/>
            <a:chExt cx="4937760" cy="675208"/>
          </a:xfrm>
        </p:grpSpPr>
        <p:sp>
          <p:nvSpPr>
            <p:cNvPr name="Freeform 160" id="160"/>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61" id="161"/>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Current AUM</a:t>
              </a:r>
            </a:p>
          </p:txBody>
        </p:sp>
      </p:grpSp>
      <p:grpSp>
        <p:nvGrpSpPr>
          <p:cNvPr name="Group 162" id="162"/>
          <p:cNvGrpSpPr/>
          <p:nvPr/>
        </p:nvGrpSpPr>
        <p:grpSpPr>
          <a:xfrm rot="0">
            <a:off x="9575768" y="5253028"/>
            <a:ext cx="1933956" cy="438912"/>
            <a:chOff x="0" y="0"/>
            <a:chExt cx="2578608" cy="585216"/>
          </a:xfrm>
        </p:grpSpPr>
        <p:sp>
          <p:nvSpPr>
            <p:cNvPr name="Freeform 163" id="163"/>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64" id="164"/>
          <p:cNvGrpSpPr/>
          <p:nvPr/>
        </p:nvGrpSpPr>
        <p:grpSpPr>
          <a:xfrm rot="0">
            <a:off x="9575768" y="5253028"/>
            <a:ext cx="1933956" cy="438912"/>
            <a:chOff x="0" y="0"/>
            <a:chExt cx="2578608" cy="585216"/>
          </a:xfrm>
        </p:grpSpPr>
        <p:sp>
          <p:nvSpPr>
            <p:cNvPr name="Freeform 165" id="165"/>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66" id="166"/>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$8,529.69</a:t>
              </a:r>
            </a:p>
          </p:txBody>
        </p:sp>
      </p:grpSp>
      <p:grpSp>
        <p:nvGrpSpPr>
          <p:cNvPr name="Group 167" id="167"/>
          <p:cNvGrpSpPr/>
          <p:nvPr/>
        </p:nvGrpSpPr>
        <p:grpSpPr>
          <a:xfrm rot="0">
            <a:off x="11108122" y="5253028"/>
            <a:ext cx="1841783" cy="438912"/>
            <a:chOff x="0" y="0"/>
            <a:chExt cx="2455710" cy="585216"/>
          </a:xfrm>
        </p:grpSpPr>
        <p:sp>
          <p:nvSpPr>
            <p:cNvPr name="Freeform 168" id="168"/>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69" id="169"/>
          <p:cNvGrpSpPr/>
          <p:nvPr/>
        </p:nvGrpSpPr>
        <p:grpSpPr>
          <a:xfrm rot="0">
            <a:off x="11108122" y="5253028"/>
            <a:ext cx="1841783" cy="438912"/>
            <a:chOff x="0" y="0"/>
            <a:chExt cx="2455710" cy="585216"/>
          </a:xfrm>
        </p:grpSpPr>
        <p:sp>
          <p:nvSpPr>
            <p:cNvPr name="Freeform 170" id="170"/>
            <p:cNvSpPr/>
            <p:nvPr/>
          </p:nvSpPr>
          <p:spPr>
            <a:xfrm flipH="false" flipV="false" rot="0">
              <a:off x="0" y="0"/>
              <a:ext cx="2455711" cy="585216"/>
            </a:xfrm>
            <a:custGeom>
              <a:avLst/>
              <a:gdLst/>
              <a:ahLst/>
              <a:cxnLst/>
              <a:rect r="r" b="b" t="t" l="l"/>
              <a:pathLst>
                <a:path h="585216" w="2455711">
                  <a:moveTo>
                    <a:pt x="0" y="0"/>
                  </a:moveTo>
                  <a:lnTo>
                    <a:pt x="2455711" y="0"/>
                  </a:lnTo>
                  <a:lnTo>
                    <a:pt x="2455711" y="585216"/>
                  </a:lnTo>
                  <a:lnTo>
                    <a:pt x="0" y="585216"/>
                  </a:lnTo>
                  <a:close/>
                </a:path>
              </a:pathLst>
            </a:custGeom>
            <a:blipFill>
              <a:blip r:embed="rId3">
                <a:alphaModFix amt="0"/>
              </a:blip>
              <a:stretch>
                <a:fillRect l="0" t="-31764" r="0" b="-31764"/>
              </a:stretch>
            </a:blipFill>
          </p:spPr>
        </p:sp>
        <p:sp>
          <p:nvSpPr>
            <p:cNvPr name="TextBox 171" id="171"/>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94A3B8"/>
                  </a:solidFill>
                  <a:latin typeface="Exo 2 Bold"/>
                  <a:ea typeface="Exo 2 Bold"/>
                  <a:cs typeface="Exo 2 Bold"/>
                  <a:sym typeface="Exo 2 Bold"/>
                </a:rPr>
                <a:t>▲ +23.6%</a:t>
              </a:r>
            </a:p>
          </p:txBody>
        </p:sp>
      </p:grpSp>
      <p:sp>
        <p:nvSpPr>
          <p:cNvPr name="TextBox 172" id="172"/>
          <p:cNvSpPr txBox="true"/>
          <p:nvPr/>
        </p:nvSpPr>
        <p:spPr>
          <a:xfrm rot="0">
            <a:off x="843324" y="6025315"/>
            <a:ext cx="7801575" cy="476250"/>
          </a:xfrm>
          <a:prstGeom prst="rect">
            <a:avLst/>
          </a:prstGeom>
        </p:spPr>
        <p:txBody>
          <a:bodyPr anchor="t" rtlCol="false" tIns="0" lIns="0" bIns="0" rIns="0">
            <a:spAutoFit/>
          </a:bodyPr>
          <a:lstStyle/>
          <a:p>
            <a:pPr algn="l">
              <a:lnSpc>
                <a:spcPts val="3510"/>
              </a:lnSpc>
            </a:pP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Key Highlights</a:t>
            </a:r>
          </a:p>
        </p:txBody>
      </p:sp>
      <p:grpSp>
        <p:nvGrpSpPr>
          <p:cNvPr name="Group 173" id="173"/>
          <p:cNvGrpSpPr/>
          <p:nvPr/>
        </p:nvGrpSpPr>
        <p:grpSpPr>
          <a:xfrm rot="0">
            <a:off x="13784580" y="1824257"/>
            <a:ext cx="3703320" cy="903818"/>
            <a:chOff x="0" y="0"/>
            <a:chExt cx="4937760" cy="1205090"/>
          </a:xfrm>
        </p:grpSpPr>
        <p:sp>
          <p:nvSpPr>
            <p:cNvPr name="Freeform 174" id="174"/>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75" id="175"/>
          <p:cNvGrpSpPr/>
          <p:nvPr/>
        </p:nvGrpSpPr>
        <p:grpSpPr>
          <a:xfrm rot="0">
            <a:off x="13784580" y="1817113"/>
            <a:ext cx="3703320" cy="910961"/>
            <a:chOff x="0" y="0"/>
            <a:chExt cx="4937760" cy="1214615"/>
          </a:xfrm>
        </p:grpSpPr>
        <p:sp>
          <p:nvSpPr>
            <p:cNvPr name="Freeform 176" id="176"/>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77" id="177"/>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$107.52</a:t>
              </a:r>
            </a:p>
          </p:txBody>
        </p:sp>
      </p:grpSp>
      <p:grpSp>
        <p:nvGrpSpPr>
          <p:cNvPr name="Group 178" id="178"/>
          <p:cNvGrpSpPr/>
          <p:nvPr/>
        </p:nvGrpSpPr>
        <p:grpSpPr>
          <a:xfrm rot="0">
            <a:off x="13784580" y="2636549"/>
            <a:ext cx="3703320" cy="499262"/>
            <a:chOff x="0" y="0"/>
            <a:chExt cx="4937760" cy="665683"/>
          </a:xfrm>
        </p:grpSpPr>
        <p:sp>
          <p:nvSpPr>
            <p:cNvPr name="Freeform 179" id="179"/>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80" id="180"/>
          <p:cNvGrpSpPr/>
          <p:nvPr/>
        </p:nvGrpSpPr>
        <p:grpSpPr>
          <a:xfrm rot="0">
            <a:off x="13784580" y="2629405"/>
            <a:ext cx="3703320" cy="506406"/>
            <a:chOff x="0" y="0"/>
            <a:chExt cx="4937760" cy="675208"/>
          </a:xfrm>
        </p:grpSpPr>
        <p:sp>
          <p:nvSpPr>
            <p:cNvPr name="Freeform 181" id="181"/>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82" id="182"/>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Revenue </a:t>
              </a:r>
            </a:p>
          </p:txBody>
        </p:sp>
      </p:grpSp>
      <p:grpSp>
        <p:nvGrpSpPr>
          <p:cNvPr name="Group 183" id="183"/>
          <p:cNvGrpSpPr/>
          <p:nvPr/>
        </p:nvGrpSpPr>
        <p:grpSpPr>
          <a:xfrm rot="0">
            <a:off x="13804106" y="3061449"/>
            <a:ext cx="3703320" cy="499262"/>
            <a:chOff x="0" y="0"/>
            <a:chExt cx="4937760" cy="665683"/>
          </a:xfrm>
        </p:grpSpPr>
        <p:sp>
          <p:nvSpPr>
            <p:cNvPr name="Freeform 184" id="18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85" id="185"/>
          <p:cNvGrpSpPr/>
          <p:nvPr/>
        </p:nvGrpSpPr>
        <p:grpSpPr>
          <a:xfrm rot="0">
            <a:off x="13804106" y="3061449"/>
            <a:ext cx="3703320" cy="499262"/>
            <a:chOff x="0" y="0"/>
            <a:chExt cx="4937760" cy="665683"/>
          </a:xfrm>
        </p:grpSpPr>
        <p:sp>
          <p:nvSpPr>
            <p:cNvPr name="Freeform 186" id="186"/>
            <p:cNvSpPr/>
            <p:nvPr/>
          </p:nvSpPr>
          <p:spPr>
            <a:xfrm flipH="false" flipV="false" rot="0">
              <a:off x="0" y="0"/>
              <a:ext cx="4937760" cy="665684"/>
            </a:xfrm>
            <a:custGeom>
              <a:avLst/>
              <a:gdLst/>
              <a:ahLst/>
              <a:cxnLst/>
              <a:rect r="r" b="b" t="t" l="l"/>
              <a:pathLst>
                <a:path h="665684" w="4937760">
                  <a:moveTo>
                    <a:pt x="0" y="0"/>
                  </a:moveTo>
                  <a:lnTo>
                    <a:pt x="4937760" y="0"/>
                  </a:lnTo>
                  <a:lnTo>
                    <a:pt x="4937760" y="665684"/>
                  </a:lnTo>
                  <a:lnTo>
                    <a:pt x="0" y="665684"/>
                  </a:lnTo>
                  <a:close/>
                </a:path>
              </a:pathLst>
            </a:custGeom>
            <a:blipFill>
              <a:blip r:embed="rId3">
                <a:alphaModFix amt="0"/>
              </a:blip>
              <a:stretch>
                <a:fillRect l="0" t="-94531" r="0" b="-94531"/>
              </a:stretch>
            </a:blipFill>
          </p:spPr>
        </p:sp>
        <p:sp>
          <p:nvSpPr>
            <p:cNvPr name="TextBox 187" id="187"/>
            <p:cNvSpPr txBox="true"/>
            <p:nvPr/>
          </p:nvSpPr>
          <p:spPr>
            <a:xfrm>
              <a:off x="0" y="0"/>
              <a:ext cx="4937760" cy="665683"/>
            </a:xfrm>
            <a:prstGeom prst="rect">
              <a:avLst/>
            </a:prstGeom>
          </p:spPr>
          <p:txBody>
            <a:bodyPr anchor="ctr" rtlCol="false" tIns="0" lIns="0" bIns="0" rIns="0"/>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name="Group 188" id="188"/>
          <p:cNvGrpSpPr/>
          <p:nvPr/>
        </p:nvGrpSpPr>
        <p:grpSpPr>
          <a:xfrm rot="0">
            <a:off x="816007" y="8660568"/>
            <a:ext cx="16212312" cy="775764"/>
            <a:chOff x="0" y="0"/>
            <a:chExt cx="21616416" cy="1034351"/>
          </a:xfrm>
        </p:grpSpPr>
        <p:sp>
          <p:nvSpPr>
            <p:cNvPr name="Freeform 189" id="189"/>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190" id="190"/>
          <p:cNvGrpSpPr/>
          <p:nvPr/>
        </p:nvGrpSpPr>
        <p:grpSpPr>
          <a:xfrm rot="0">
            <a:off x="864108" y="8657530"/>
            <a:ext cx="16212312" cy="775760"/>
            <a:chOff x="0" y="0"/>
            <a:chExt cx="21616416" cy="1034347"/>
          </a:xfrm>
        </p:grpSpPr>
        <p:sp>
          <p:nvSpPr>
            <p:cNvPr name="Freeform 191" id="191"/>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192" id="192"/>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Client Experience and IT: clearing onboarding blockers</a:t>
              </a:r>
            </a:p>
            <a:p>
              <a:pPr algn="l">
                <a:lnSpc>
                  <a:spcPts val="2578"/>
                </a:lnSpc>
              </a:pPr>
              <a:r>
                <a:rPr lang="en-US" sz="2148">
                  <a:solidFill>
                    <a:srgbClr val="5A6A85"/>
                  </a:solidFill>
                  <a:latin typeface="Exo 2"/>
                  <a:ea typeface="Exo 2"/>
                  <a:cs typeface="Exo 2"/>
                  <a:sym typeface="Exo 2"/>
                </a:rPr>
                <a:t>8 of 31 contacted clients onboarded (25.8%); Helpdesk launched.</a:t>
              </a:r>
            </a:p>
          </p:txBody>
        </p:sp>
      </p:grpSp>
      <p:grpSp>
        <p:nvGrpSpPr>
          <p:cNvPr name="Group 193" id="193"/>
          <p:cNvGrpSpPr/>
          <p:nvPr/>
        </p:nvGrpSpPr>
        <p:grpSpPr>
          <a:xfrm rot="0">
            <a:off x="470535" y="7766980"/>
            <a:ext cx="278092" cy="243331"/>
            <a:chOff x="0" y="0"/>
            <a:chExt cx="812800" cy="711200"/>
          </a:xfrm>
        </p:grpSpPr>
        <p:sp>
          <p:nvSpPr>
            <p:cNvPr name="Freeform 194" id="19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195" id="195"/>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6" id="196"/>
          <p:cNvGrpSpPr/>
          <p:nvPr/>
        </p:nvGrpSpPr>
        <p:grpSpPr>
          <a:xfrm rot="0">
            <a:off x="470535" y="6750051"/>
            <a:ext cx="278092" cy="243331"/>
            <a:chOff x="0" y="0"/>
            <a:chExt cx="812800" cy="711200"/>
          </a:xfrm>
        </p:grpSpPr>
        <p:sp>
          <p:nvSpPr>
            <p:cNvPr name="Freeform 197" id="19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198" id="198"/>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9" id="199"/>
          <p:cNvGrpSpPr/>
          <p:nvPr/>
        </p:nvGrpSpPr>
        <p:grpSpPr>
          <a:xfrm rot="0">
            <a:off x="422434" y="8783910"/>
            <a:ext cx="278092" cy="243331"/>
            <a:chOff x="0" y="0"/>
            <a:chExt cx="812800" cy="711200"/>
          </a:xfrm>
        </p:grpSpPr>
        <p:sp>
          <p:nvSpPr>
            <p:cNvPr name="Freeform 200" id="200"/>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201" id="201"/>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4861" y="603559"/>
            <a:ext cx="13241570" cy="822851"/>
            <a:chOff x="0" y="0"/>
            <a:chExt cx="17655427" cy="1097134"/>
          </a:xfrm>
        </p:grpSpPr>
        <p:sp>
          <p:nvSpPr>
            <p:cNvPr name="Freeform 3" id="3"/>
            <p:cNvSpPr/>
            <p:nvPr/>
          </p:nvSpPr>
          <p:spPr>
            <a:xfrm flipH="false" flipV="false" rot="0">
              <a:off x="0" y="0"/>
              <a:ext cx="17655426" cy="1097134"/>
            </a:xfrm>
            <a:custGeom>
              <a:avLst/>
              <a:gdLst/>
              <a:ahLst/>
              <a:cxnLst/>
              <a:rect r="r" b="b" t="t" l="l"/>
              <a:pathLst>
                <a:path h="1097134" w="17655426">
                  <a:moveTo>
                    <a:pt x="0" y="0"/>
                  </a:moveTo>
                  <a:lnTo>
                    <a:pt x="17655426" y="0"/>
                  </a:lnTo>
                  <a:lnTo>
                    <a:pt x="17655426" y="1097134"/>
                  </a:lnTo>
                  <a:lnTo>
                    <a:pt x="0" y="1097134"/>
                  </a:lnTo>
                  <a:close/>
                </a:path>
              </a:pathLst>
            </a:custGeom>
            <a:blipFill>
              <a:blip r:embed="rId3">
                <a:alphaModFix amt="0"/>
              </a:blip>
              <a:stretch>
                <a:fillRect l="0" t="-248975" r="6775" b="-235653"/>
              </a:stretch>
            </a:blipFill>
          </p:spPr>
        </p:sp>
        <p:sp>
          <p:nvSpPr>
            <p:cNvPr name="TextBox 4" id="4"/>
            <p:cNvSpPr txBox="true"/>
            <p:nvPr/>
          </p:nvSpPr>
          <p:spPr>
            <a:xfrm>
              <a:off x="0" y="-9525"/>
              <a:ext cx="17655427" cy="1106659"/>
            </a:xfrm>
            <a:prstGeom prst="rect">
              <a:avLst/>
            </a:prstGeom>
          </p:spPr>
          <p:txBody>
            <a:bodyPr anchor="ctr" rtlCol="false" tIns="0" lIns="0" bIns="0" rIns="0"/>
            <a:lstStyle/>
            <a:p>
              <a:pPr algn="l" marL="0" indent="0" lvl="0">
                <a:lnSpc>
                  <a:spcPts val="4680"/>
                </a:lnSpc>
                <a:spcBef>
                  <a:spcPct val="0"/>
                </a:spcBef>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Key Performance Indicators &amp; Volume Projections</a:t>
              </a:r>
            </a:p>
          </p:txBody>
        </p:sp>
      </p:grpSp>
      <p:sp>
        <p:nvSpPr>
          <p:cNvPr name="Freeform 5" id="5"/>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7" id="7"/>
          <p:cNvGrpSpPr/>
          <p:nvPr/>
        </p:nvGrpSpPr>
        <p:grpSpPr>
          <a:xfrm rot="0">
            <a:off x="470535" y="648843"/>
            <a:ext cx="115062" cy="732282"/>
            <a:chOff x="0" y="0"/>
            <a:chExt cx="153416" cy="976376"/>
          </a:xfrm>
        </p:grpSpPr>
        <p:sp>
          <p:nvSpPr>
            <p:cNvPr name="Freeform 8" id="8"/>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9" id="9"/>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grpSp>
        <p:nvGrpSpPr>
          <p:cNvPr name="Group 10" id="10"/>
          <p:cNvGrpSpPr/>
          <p:nvPr/>
        </p:nvGrpSpPr>
        <p:grpSpPr>
          <a:xfrm rot="0">
            <a:off x="839286" y="2284524"/>
            <a:ext cx="5358194" cy="1350931"/>
            <a:chOff x="0" y="0"/>
            <a:chExt cx="7144258" cy="1801241"/>
          </a:xfrm>
        </p:grpSpPr>
        <p:sp>
          <p:nvSpPr>
            <p:cNvPr name="Freeform 11" id="11"/>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2" id="12"/>
          <p:cNvGrpSpPr/>
          <p:nvPr/>
        </p:nvGrpSpPr>
        <p:grpSpPr>
          <a:xfrm rot="0">
            <a:off x="856374" y="2300002"/>
            <a:ext cx="5323999" cy="50006"/>
            <a:chOff x="0" y="0"/>
            <a:chExt cx="7098665" cy="66675"/>
          </a:xfrm>
        </p:grpSpPr>
        <p:sp>
          <p:nvSpPr>
            <p:cNvPr name="Freeform 13" id="13"/>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BA97C"/>
            </a:solidFill>
          </p:spPr>
        </p:sp>
      </p:grpSp>
      <p:sp>
        <p:nvSpPr>
          <p:cNvPr name="TextBox 14" id="14"/>
          <p:cNvSpPr txBox="true"/>
          <p:nvPr/>
        </p:nvSpPr>
        <p:spPr>
          <a:xfrm rot="0">
            <a:off x="1257471" y="2445248"/>
            <a:ext cx="4521794" cy="561975"/>
          </a:xfrm>
          <a:prstGeom prst="rect">
            <a:avLst/>
          </a:prstGeom>
        </p:spPr>
        <p:txBody>
          <a:bodyPr anchor="t" rtlCol="false" tIns="0" lIns="0" bIns="0" rIns="0">
            <a:spAutoFit/>
          </a:bodyPr>
          <a:lstStyle/>
          <a:p>
            <a:pPr algn="l">
              <a:lnSpc>
                <a:spcPts val="4175"/>
              </a:lnSpc>
            </a:pPr>
            <a:r>
              <a:rPr lang="en-US" sz="3479" b="true">
                <a:solidFill>
                  <a:srgbClr val="1BA97C"/>
                </a:solidFill>
                <a:latin typeface="Exo 2 Bold"/>
                <a:ea typeface="Exo 2 Bold"/>
                <a:cs typeface="Exo 2 Bold"/>
                <a:sym typeface="Exo 2 Bold"/>
              </a:rPr>
              <a:t>61</a:t>
            </a:r>
          </a:p>
        </p:txBody>
      </p:sp>
      <p:sp>
        <p:nvSpPr>
          <p:cNvPr name="TextBox 15" id="15"/>
          <p:cNvSpPr txBox="true"/>
          <p:nvPr/>
        </p:nvSpPr>
        <p:spPr>
          <a:xfrm rot="0">
            <a:off x="1257471"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Clients onboarded</a:t>
            </a:r>
          </a:p>
        </p:txBody>
      </p:sp>
      <p:sp>
        <p:nvSpPr>
          <p:cNvPr name="TextBox 16" id="16"/>
          <p:cNvSpPr txBox="true"/>
          <p:nvPr/>
        </p:nvSpPr>
        <p:spPr>
          <a:xfrm rot="0">
            <a:off x="1257471"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156% of the 39 target</a:t>
            </a:r>
          </a:p>
        </p:txBody>
      </p:sp>
      <p:grpSp>
        <p:nvGrpSpPr>
          <p:cNvPr name="Group 17" id="17"/>
          <p:cNvGrpSpPr/>
          <p:nvPr/>
        </p:nvGrpSpPr>
        <p:grpSpPr>
          <a:xfrm rot="0">
            <a:off x="6477171" y="2284524"/>
            <a:ext cx="5358194" cy="1350931"/>
            <a:chOff x="0" y="0"/>
            <a:chExt cx="7144258" cy="1801241"/>
          </a:xfrm>
        </p:grpSpPr>
        <p:sp>
          <p:nvSpPr>
            <p:cNvPr name="Freeform 18" id="18"/>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9" id="19"/>
          <p:cNvGrpSpPr/>
          <p:nvPr/>
        </p:nvGrpSpPr>
        <p:grpSpPr>
          <a:xfrm rot="0">
            <a:off x="6494259" y="2300002"/>
            <a:ext cx="5323999" cy="50006"/>
            <a:chOff x="0" y="0"/>
            <a:chExt cx="7098665" cy="66675"/>
          </a:xfrm>
        </p:grpSpPr>
        <p:sp>
          <p:nvSpPr>
            <p:cNvPr name="Freeform 20" id="20"/>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9A7B1F"/>
            </a:solidFill>
          </p:spPr>
        </p:sp>
      </p:grpSp>
      <p:sp>
        <p:nvSpPr>
          <p:cNvPr name="TextBox 21" id="21"/>
          <p:cNvSpPr txBox="true"/>
          <p:nvPr/>
        </p:nvSpPr>
        <p:spPr>
          <a:xfrm rot="0">
            <a:off x="6895357" y="2445248"/>
            <a:ext cx="4521794" cy="561975"/>
          </a:xfrm>
          <a:prstGeom prst="rect">
            <a:avLst/>
          </a:prstGeom>
        </p:spPr>
        <p:txBody>
          <a:bodyPr anchor="t" rtlCol="false" tIns="0" lIns="0" bIns="0" rIns="0">
            <a:spAutoFit/>
          </a:bodyPr>
          <a:lstStyle/>
          <a:p>
            <a:pPr algn="l">
              <a:lnSpc>
                <a:spcPts val="4175"/>
              </a:lnSpc>
            </a:pPr>
            <a:r>
              <a:rPr lang="en-US" sz="3479" b="true">
                <a:solidFill>
                  <a:srgbClr val="9A7B1F"/>
                </a:solidFill>
                <a:latin typeface="Exo 2 Bold"/>
                <a:ea typeface="Exo 2 Bold"/>
                <a:cs typeface="Exo 2 Bold"/>
                <a:sym typeface="Exo 2 Bold"/>
              </a:rPr>
              <a:t>$12,206.00</a:t>
            </a:r>
          </a:p>
        </p:txBody>
      </p:sp>
      <p:sp>
        <p:nvSpPr>
          <p:cNvPr name="TextBox 22" id="22"/>
          <p:cNvSpPr txBox="true"/>
          <p:nvPr/>
        </p:nvSpPr>
        <p:spPr>
          <a:xfrm rot="0">
            <a:off x="689535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Total deposits</a:t>
            </a:r>
          </a:p>
        </p:txBody>
      </p:sp>
      <p:sp>
        <p:nvSpPr>
          <p:cNvPr name="TextBox 23" id="23"/>
          <p:cNvSpPr txBox="true"/>
          <p:nvPr/>
        </p:nvSpPr>
        <p:spPr>
          <a:xfrm rot="0">
            <a:off x="689535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5.18% of the $235,660 target</a:t>
            </a:r>
          </a:p>
        </p:txBody>
      </p:sp>
      <p:grpSp>
        <p:nvGrpSpPr>
          <p:cNvPr name="Group 24" id="24"/>
          <p:cNvGrpSpPr/>
          <p:nvPr/>
        </p:nvGrpSpPr>
        <p:grpSpPr>
          <a:xfrm rot="0">
            <a:off x="12095302" y="2284524"/>
            <a:ext cx="5358194" cy="1350931"/>
            <a:chOff x="0" y="0"/>
            <a:chExt cx="7144258" cy="1801241"/>
          </a:xfrm>
        </p:grpSpPr>
        <p:sp>
          <p:nvSpPr>
            <p:cNvPr name="Freeform 25" id="25"/>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26" id="26"/>
          <p:cNvGrpSpPr/>
          <p:nvPr/>
        </p:nvGrpSpPr>
        <p:grpSpPr>
          <a:xfrm rot="0">
            <a:off x="12112390" y="2300002"/>
            <a:ext cx="5323999" cy="50006"/>
            <a:chOff x="0" y="0"/>
            <a:chExt cx="7098665" cy="66675"/>
          </a:xfrm>
        </p:grpSpPr>
        <p:sp>
          <p:nvSpPr>
            <p:cNvPr name="Freeform 27" id="27"/>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32257"/>
            </a:solidFill>
          </p:spPr>
        </p:sp>
      </p:grpSp>
      <p:sp>
        <p:nvSpPr>
          <p:cNvPr name="TextBox 28" id="28"/>
          <p:cNvSpPr txBox="true"/>
          <p:nvPr/>
        </p:nvSpPr>
        <p:spPr>
          <a:xfrm rot="0">
            <a:off x="12513497" y="2445248"/>
            <a:ext cx="4521794" cy="561975"/>
          </a:xfrm>
          <a:prstGeom prst="rect">
            <a:avLst/>
          </a:prstGeom>
        </p:spPr>
        <p:txBody>
          <a:bodyPr anchor="t" rtlCol="false" tIns="0" lIns="0" bIns="0" rIns="0">
            <a:spAutoFit/>
          </a:bodyPr>
          <a:lstStyle/>
          <a:p>
            <a:pPr algn="l">
              <a:lnSpc>
                <a:spcPts val="4175"/>
              </a:lnSpc>
            </a:pPr>
            <a:r>
              <a:rPr lang="en-US" sz="3479" b="true">
                <a:solidFill>
                  <a:srgbClr val="132257"/>
                </a:solidFill>
                <a:latin typeface="Exo 2 Bold"/>
                <a:ea typeface="Exo 2 Bold"/>
                <a:cs typeface="Exo 2 Bold"/>
                <a:sym typeface="Exo 2 Bold"/>
              </a:rPr>
              <a:t>$200.10</a:t>
            </a:r>
          </a:p>
        </p:txBody>
      </p:sp>
      <p:sp>
        <p:nvSpPr>
          <p:cNvPr name="TextBox 29" id="29"/>
          <p:cNvSpPr txBox="true"/>
          <p:nvPr/>
        </p:nvSpPr>
        <p:spPr>
          <a:xfrm rot="0">
            <a:off x="1251349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Average deposit per client</a:t>
            </a:r>
          </a:p>
        </p:txBody>
      </p:sp>
      <p:sp>
        <p:nvSpPr>
          <p:cNvPr name="TextBox 30" id="30"/>
          <p:cNvSpPr txBox="true"/>
          <p:nvPr/>
        </p:nvSpPr>
        <p:spPr>
          <a:xfrm rot="0">
            <a:off x="1251349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Across all 61 onboarded clients</a:t>
            </a:r>
          </a:p>
        </p:txBody>
      </p:sp>
      <p:grpSp>
        <p:nvGrpSpPr>
          <p:cNvPr name="Group 31" id="31"/>
          <p:cNvGrpSpPr/>
          <p:nvPr/>
        </p:nvGrpSpPr>
        <p:grpSpPr>
          <a:xfrm rot="0">
            <a:off x="834523" y="4384519"/>
            <a:ext cx="8214932" cy="4880991"/>
            <a:chOff x="0" y="0"/>
            <a:chExt cx="10953242" cy="6507988"/>
          </a:xfrm>
        </p:grpSpPr>
        <p:sp>
          <p:nvSpPr>
            <p:cNvPr name="Freeform 32" id="32"/>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3" id="33"/>
          <p:cNvGrpSpPr/>
          <p:nvPr/>
        </p:nvGrpSpPr>
        <p:grpSpPr>
          <a:xfrm rot="0">
            <a:off x="850001" y="4399998"/>
            <a:ext cx="8183975" cy="50006"/>
            <a:chOff x="0" y="0"/>
            <a:chExt cx="10911967" cy="66675"/>
          </a:xfrm>
        </p:grpSpPr>
        <p:sp>
          <p:nvSpPr>
            <p:cNvPr name="Freeform 34" id="34"/>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35" id="35"/>
          <p:cNvSpPr txBox="true"/>
          <p:nvPr/>
        </p:nvSpPr>
        <p:spPr>
          <a:xfrm rot="0">
            <a:off x="1150001"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CLIENTS</a:t>
            </a:r>
          </a:p>
        </p:txBody>
      </p:sp>
      <p:grpSp>
        <p:nvGrpSpPr>
          <p:cNvPr name="Group 36" id="36"/>
          <p:cNvGrpSpPr/>
          <p:nvPr/>
        </p:nvGrpSpPr>
        <p:grpSpPr>
          <a:xfrm rot="0">
            <a:off x="9238526" y="4384519"/>
            <a:ext cx="8214932" cy="4880991"/>
            <a:chOff x="0" y="0"/>
            <a:chExt cx="10953242" cy="6507988"/>
          </a:xfrm>
        </p:grpSpPr>
        <p:sp>
          <p:nvSpPr>
            <p:cNvPr name="Freeform 37" id="37"/>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8" id="38"/>
          <p:cNvGrpSpPr/>
          <p:nvPr/>
        </p:nvGrpSpPr>
        <p:grpSpPr>
          <a:xfrm rot="0">
            <a:off x="9254004" y="4399998"/>
            <a:ext cx="8183975" cy="50006"/>
            <a:chOff x="0" y="0"/>
            <a:chExt cx="10911967" cy="66675"/>
          </a:xfrm>
        </p:grpSpPr>
        <p:sp>
          <p:nvSpPr>
            <p:cNvPr name="Freeform 39" id="39"/>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40" id="40"/>
          <p:cNvSpPr txBox="true"/>
          <p:nvPr/>
        </p:nvSpPr>
        <p:spPr>
          <a:xfrm rot="0">
            <a:off x="9554004"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DEPOSITS</a:t>
            </a:r>
          </a:p>
        </p:txBody>
      </p:sp>
      <p:grpSp>
        <p:nvGrpSpPr>
          <p:cNvPr name="Group 41" id="41"/>
          <p:cNvGrpSpPr/>
          <p:nvPr/>
        </p:nvGrpSpPr>
        <p:grpSpPr>
          <a:xfrm rot="0">
            <a:off x="1269997" y="8349996"/>
            <a:ext cx="7349966" cy="8954"/>
            <a:chOff x="0" y="0"/>
            <a:chExt cx="9799955" cy="11938"/>
          </a:xfrm>
        </p:grpSpPr>
        <p:sp>
          <p:nvSpPr>
            <p:cNvPr name="Freeform 42" id="42"/>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3" id="43"/>
          <p:cNvGrpSpPr/>
          <p:nvPr/>
        </p:nvGrpSpPr>
        <p:grpSpPr>
          <a:xfrm rot="0">
            <a:off x="1269997" y="6924999"/>
            <a:ext cx="7349966" cy="8954"/>
            <a:chOff x="0" y="0"/>
            <a:chExt cx="9799955" cy="11938"/>
          </a:xfrm>
        </p:grpSpPr>
        <p:sp>
          <p:nvSpPr>
            <p:cNvPr name="Freeform 44" id="44"/>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5" id="45"/>
          <p:cNvGrpSpPr/>
          <p:nvPr/>
        </p:nvGrpSpPr>
        <p:grpSpPr>
          <a:xfrm rot="0">
            <a:off x="1269997" y="5500002"/>
            <a:ext cx="7349966" cy="8954"/>
            <a:chOff x="0" y="0"/>
            <a:chExt cx="9799955" cy="11938"/>
          </a:xfrm>
        </p:grpSpPr>
        <p:sp>
          <p:nvSpPr>
            <p:cNvPr name="Freeform 46" id="46"/>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7" id="47"/>
          <p:cNvGrpSpPr/>
          <p:nvPr/>
        </p:nvGrpSpPr>
        <p:grpSpPr>
          <a:xfrm rot="0">
            <a:off x="2005003" y="5867743"/>
            <a:ext cx="5879973" cy="2482215"/>
            <a:chOff x="0" y="0"/>
            <a:chExt cx="7839964" cy="3309620"/>
          </a:xfrm>
        </p:grpSpPr>
        <p:sp>
          <p:nvSpPr>
            <p:cNvPr name="Freeform 48" id="48"/>
            <p:cNvSpPr/>
            <p:nvPr/>
          </p:nvSpPr>
          <p:spPr>
            <a:xfrm flipH="false" flipV="false" rot="0">
              <a:off x="0" y="0"/>
              <a:ext cx="7839964" cy="3309620"/>
            </a:xfrm>
            <a:custGeom>
              <a:avLst/>
              <a:gdLst/>
              <a:ahLst/>
              <a:cxnLst/>
              <a:rect r="r" b="b" t="t" l="l"/>
              <a:pathLst>
                <a:path h="3309620" w="7839964">
                  <a:moveTo>
                    <a:pt x="0" y="3309620"/>
                  </a:moveTo>
                  <a:lnTo>
                    <a:pt x="0" y="2635504"/>
                  </a:lnTo>
                  <a:lnTo>
                    <a:pt x="1959991" y="1838706"/>
                  </a:lnTo>
                  <a:lnTo>
                    <a:pt x="3919982" y="1287145"/>
                  </a:lnTo>
                  <a:lnTo>
                    <a:pt x="5879973" y="429006"/>
                  </a:lnTo>
                  <a:lnTo>
                    <a:pt x="7839964" y="0"/>
                  </a:lnTo>
                  <a:lnTo>
                    <a:pt x="7839964" y="3309620"/>
                  </a:lnTo>
                  <a:close/>
                </a:path>
              </a:pathLst>
            </a:custGeom>
            <a:solidFill>
              <a:srgbClr val="E3F4EC"/>
            </a:solidFill>
          </p:spPr>
        </p:sp>
      </p:grpSp>
      <p:grpSp>
        <p:nvGrpSpPr>
          <p:cNvPr name="Group 49" id="49"/>
          <p:cNvGrpSpPr/>
          <p:nvPr/>
        </p:nvGrpSpPr>
        <p:grpSpPr>
          <a:xfrm rot="0">
            <a:off x="1988334" y="6540589"/>
            <a:ext cx="5913310" cy="906685"/>
            <a:chOff x="0" y="0"/>
            <a:chExt cx="7884414" cy="1208913"/>
          </a:xfrm>
        </p:grpSpPr>
        <p:sp>
          <p:nvSpPr>
            <p:cNvPr name="Freeform 50" id="50"/>
            <p:cNvSpPr/>
            <p:nvPr/>
          </p:nvSpPr>
          <p:spPr>
            <a:xfrm flipH="false" flipV="false" rot="0">
              <a:off x="0" y="0"/>
              <a:ext cx="7884414" cy="1208913"/>
            </a:xfrm>
            <a:custGeom>
              <a:avLst/>
              <a:gdLst/>
              <a:ahLst/>
              <a:cxnLst/>
              <a:rect r="r" b="b" t="t" l="l"/>
              <a:pathLst>
                <a:path h="1208913" w="7884414">
                  <a:moveTo>
                    <a:pt x="0" y="1208913"/>
                  </a:moveTo>
                  <a:lnTo>
                    <a:pt x="1971167" y="954405"/>
                  </a:lnTo>
                  <a:lnTo>
                    <a:pt x="3942207" y="699897"/>
                  </a:lnTo>
                  <a:lnTo>
                    <a:pt x="5913374" y="381762"/>
                  </a:lnTo>
                  <a:lnTo>
                    <a:pt x="7884414" y="0"/>
                  </a:lnTo>
                </a:path>
              </a:pathLst>
            </a:custGeom>
            <a:blipFill>
              <a:blip r:embed="rId7">
                <a:alphaModFix amt="0"/>
              </a:blip>
              <a:stretch>
                <a:fillRect l="0" t="-76991" r="0" b="-76991"/>
              </a:stretch>
            </a:blipFill>
            <a:ln w="19050" cap="sq">
              <a:solidFill>
                <a:srgbClr val="132257"/>
              </a:solidFill>
              <a:prstDash val="solid"/>
              <a:miter/>
            </a:ln>
          </p:spPr>
        </p:sp>
      </p:grpSp>
      <p:sp>
        <p:nvSpPr>
          <p:cNvPr name="Freeform 51" id="51"/>
          <p:cNvSpPr/>
          <p:nvPr/>
        </p:nvSpPr>
        <p:spPr>
          <a:xfrm flipH="false" flipV="false" rot="0">
            <a:off x="1925755" y="73513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2" id="52"/>
          <p:cNvSpPr/>
          <p:nvPr/>
        </p:nvSpPr>
        <p:spPr>
          <a:xfrm flipH="false" flipV="false" rot="0">
            <a:off x="3395748" y="716752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3" id="53"/>
          <p:cNvSpPr/>
          <p:nvPr/>
        </p:nvSpPr>
        <p:spPr>
          <a:xfrm flipH="false" flipV="false" rot="0">
            <a:off x="4865751" y="698365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4" id="54"/>
          <p:cNvSpPr/>
          <p:nvPr/>
        </p:nvSpPr>
        <p:spPr>
          <a:xfrm flipH="false" flipV="false" rot="0">
            <a:off x="6335754" y="6753816"/>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5" id="55"/>
          <p:cNvSpPr/>
          <p:nvPr/>
        </p:nvSpPr>
        <p:spPr>
          <a:xfrm flipH="false" flipV="false" rot="0">
            <a:off x="7805747" y="6478010"/>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6" id="56"/>
          <p:cNvSpPr txBox="true"/>
          <p:nvPr/>
        </p:nvSpPr>
        <p:spPr>
          <a:xfrm rot="0">
            <a:off x="6585004" y="6647259"/>
            <a:ext cx="1450000"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39</a:t>
            </a:r>
          </a:p>
        </p:txBody>
      </p:sp>
      <p:grpSp>
        <p:nvGrpSpPr>
          <p:cNvPr name="Group 57" id="57"/>
          <p:cNvGrpSpPr/>
          <p:nvPr/>
        </p:nvGrpSpPr>
        <p:grpSpPr>
          <a:xfrm rot="0">
            <a:off x="5919997" y="4745003"/>
            <a:ext cx="300038" cy="28004"/>
            <a:chOff x="0" y="0"/>
            <a:chExt cx="400050" cy="37338"/>
          </a:xfrm>
        </p:grpSpPr>
        <p:sp>
          <p:nvSpPr>
            <p:cNvPr name="Freeform 58" id="58"/>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59" id="59"/>
          <p:cNvSpPr txBox="true"/>
          <p:nvPr/>
        </p:nvSpPr>
        <p:spPr>
          <a:xfrm rot="0">
            <a:off x="6280004"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60" id="60"/>
          <p:cNvGrpSpPr/>
          <p:nvPr/>
        </p:nvGrpSpPr>
        <p:grpSpPr>
          <a:xfrm rot="0">
            <a:off x="7069998" y="4745003"/>
            <a:ext cx="300038" cy="18955"/>
            <a:chOff x="0" y="0"/>
            <a:chExt cx="400050" cy="25273"/>
          </a:xfrm>
        </p:grpSpPr>
        <p:sp>
          <p:nvSpPr>
            <p:cNvPr name="Freeform 61" id="61"/>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62" id="62"/>
          <p:cNvSpPr txBox="true"/>
          <p:nvPr/>
        </p:nvSpPr>
        <p:spPr>
          <a:xfrm rot="0">
            <a:off x="7429995"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63" id="63"/>
          <p:cNvGrpSpPr/>
          <p:nvPr/>
        </p:nvGrpSpPr>
        <p:grpSpPr>
          <a:xfrm rot="0">
            <a:off x="1974437" y="5837187"/>
            <a:ext cx="5941124" cy="2037778"/>
            <a:chOff x="0" y="0"/>
            <a:chExt cx="7921498" cy="2717038"/>
          </a:xfrm>
        </p:grpSpPr>
        <p:sp>
          <p:nvSpPr>
            <p:cNvPr name="Freeform 64" id="64"/>
            <p:cNvSpPr/>
            <p:nvPr/>
          </p:nvSpPr>
          <p:spPr>
            <a:xfrm flipH="false" flipV="false" rot="0">
              <a:off x="0" y="0"/>
              <a:ext cx="7921498" cy="2717038"/>
            </a:xfrm>
            <a:custGeom>
              <a:avLst/>
              <a:gdLst/>
              <a:ahLst/>
              <a:cxnLst/>
              <a:rect r="r" b="b" t="t" l="l"/>
              <a:pathLst>
                <a:path h="2717038" w="7921498">
                  <a:moveTo>
                    <a:pt x="0" y="2717038"/>
                  </a:moveTo>
                  <a:lnTo>
                    <a:pt x="1980438" y="1895602"/>
                  </a:lnTo>
                  <a:lnTo>
                    <a:pt x="3960876" y="1326896"/>
                  </a:lnTo>
                  <a:lnTo>
                    <a:pt x="5941060" y="442341"/>
                  </a:lnTo>
                  <a:lnTo>
                    <a:pt x="7921498" y="0"/>
                  </a:lnTo>
                </a:path>
              </a:pathLst>
            </a:custGeom>
            <a:blipFill>
              <a:blip r:embed="rId7">
                <a:alphaModFix amt="0"/>
              </a:blip>
              <a:stretch>
                <a:fillRect l="0" t="-6768" r="0" b="-6769"/>
              </a:stretch>
            </a:blipFill>
            <a:ln w="34925" cap="sq">
              <a:solidFill>
                <a:srgbClr val="1BA97C"/>
              </a:solidFill>
              <a:prstDash val="solid"/>
              <a:miter/>
            </a:ln>
          </p:spPr>
        </p:sp>
      </p:grpSp>
      <p:sp>
        <p:nvSpPr>
          <p:cNvPr name="Freeform 65" id="65"/>
          <p:cNvSpPr/>
          <p:nvPr/>
        </p:nvSpPr>
        <p:spPr>
          <a:xfrm flipH="false" flipV="false" rot="0">
            <a:off x="1910753" y="7750102"/>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66" id="66"/>
          <p:cNvSpPr txBox="true"/>
          <p:nvPr/>
        </p:nvSpPr>
        <p:spPr>
          <a:xfrm rot="0">
            <a:off x="1305001" y="79543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11</a:t>
            </a:r>
          </a:p>
        </p:txBody>
      </p:sp>
      <p:sp>
        <p:nvSpPr>
          <p:cNvPr name="TextBox 67" id="67"/>
          <p:cNvSpPr txBox="true"/>
          <p:nvPr/>
        </p:nvSpPr>
        <p:spPr>
          <a:xfrm rot="0">
            <a:off x="1504998"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68" id="68"/>
          <p:cNvSpPr/>
          <p:nvPr/>
        </p:nvSpPr>
        <p:spPr>
          <a:xfrm flipH="false" flipV="false" rot="0">
            <a:off x="3380756" y="7152523"/>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69" id="69"/>
          <p:cNvSpPr txBox="true"/>
          <p:nvPr/>
        </p:nvSpPr>
        <p:spPr>
          <a:xfrm rot="0">
            <a:off x="2775004" y="6886775"/>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24</a:t>
            </a:r>
          </a:p>
        </p:txBody>
      </p:sp>
      <p:grpSp>
        <p:nvGrpSpPr>
          <p:cNvPr name="Group 70" id="70"/>
          <p:cNvGrpSpPr/>
          <p:nvPr/>
        </p:nvGrpSpPr>
        <p:grpSpPr>
          <a:xfrm rot="0">
            <a:off x="3094996" y="6566773"/>
            <a:ext cx="760000" cy="250031"/>
            <a:chOff x="0" y="0"/>
            <a:chExt cx="1013333" cy="333375"/>
          </a:xfrm>
        </p:grpSpPr>
        <p:sp>
          <p:nvSpPr>
            <p:cNvPr name="Freeform 71" id="71"/>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72" id="72"/>
          <p:cNvGrpSpPr/>
          <p:nvPr/>
        </p:nvGrpSpPr>
        <p:grpSpPr>
          <a:xfrm rot="0">
            <a:off x="3094996" y="6552486"/>
            <a:ext cx="760000" cy="264290"/>
            <a:chOff x="0" y="0"/>
            <a:chExt cx="1013333" cy="352387"/>
          </a:xfrm>
        </p:grpSpPr>
        <p:sp>
          <p:nvSpPr>
            <p:cNvPr name="Freeform 73" id="73"/>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74" id="74"/>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118%</a:t>
              </a:r>
            </a:p>
          </p:txBody>
        </p:sp>
      </p:grpSp>
      <p:sp>
        <p:nvSpPr>
          <p:cNvPr name="TextBox 75" id="75"/>
          <p:cNvSpPr txBox="true"/>
          <p:nvPr/>
        </p:nvSpPr>
        <p:spPr>
          <a:xfrm rot="0">
            <a:off x="2975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76" id="76"/>
          <p:cNvSpPr/>
          <p:nvPr/>
        </p:nvSpPr>
        <p:spPr>
          <a:xfrm flipH="false" flipV="false" rot="0">
            <a:off x="4850749" y="6738814"/>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7" id="77"/>
          <p:cNvSpPr txBox="true"/>
          <p:nvPr/>
        </p:nvSpPr>
        <p:spPr>
          <a:xfrm rot="0">
            <a:off x="4244997" y="647306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33</a:t>
            </a:r>
          </a:p>
        </p:txBody>
      </p:sp>
      <p:grpSp>
        <p:nvGrpSpPr>
          <p:cNvPr name="Group 78" id="78"/>
          <p:cNvGrpSpPr/>
          <p:nvPr/>
        </p:nvGrpSpPr>
        <p:grpSpPr>
          <a:xfrm rot="0">
            <a:off x="4564999" y="6153064"/>
            <a:ext cx="760000" cy="250031"/>
            <a:chOff x="0" y="0"/>
            <a:chExt cx="1013333" cy="333375"/>
          </a:xfrm>
        </p:grpSpPr>
        <p:sp>
          <p:nvSpPr>
            <p:cNvPr name="Freeform 79" id="79"/>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0" id="80"/>
          <p:cNvGrpSpPr/>
          <p:nvPr/>
        </p:nvGrpSpPr>
        <p:grpSpPr>
          <a:xfrm rot="0">
            <a:off x="4564999" y="6138777"/>
            <a:ext cx="760000" cy="264290"/>
            <a:chOff x="0" y="0"/>
            <a:chExt cx="1013333" cy="352387"/>
          </a:xfrm>
        </p:grpSpPr>
        <p:sp>
          <p:nvSpPr>
            <p:cNvPr name="Freeform 81" id="81"/>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82" id="82"/>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38%</a:t>
              </a:r>
            </a:p>
          </p:txBody>
        </p:sp>
      </p:grpSp>
      <p:sp>
        <p:nvSpPr>
          <p:cNvPr name="TextBox 83" id="83"/>
          <p:cNvSpPr txBox="true"/>
          <p:nvPr/>
        </p:nvSpPr>
        <p:spPr>
          <a:xfrm rot="0">
            <a:off x="4445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84" id="84"/>
          <p:cNvSpPr/>
          <p:nvPr/>
        </p:nvSpPr>
        <p:spPr>
          <a:xfrm flipH="false" flipV="false" rot="0">
            <a:off x="6320752" y="6095267"/>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5" id="85"/>
          <p:cNvSpPr txBox="true"/>
          <p:nvPr/>
        </p:nvSpPr>
        <p:spPr>
          <a:xfrm rot="0">
            <a:off x="5715000" y="5829519"/>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47</a:t>
            </a:r>
          </a:p>
        </p:txBody>
      </p:sp>
      <p:grpSp>
        <p:nvGrpSpPr>
          <p:cNvPr name="Group 86" id="86"/>
          <p:cNvGrpSpPr/>
          <p:nvPr/>
        </p:nvGrpSpPr>
        <p:grpSpPr>
          <a:xfrm rot="0">
            <a:off x="6035002" y="5509517"/>
            <a:ext cx="760000" cy="250031"/>
            <a:chOff x="0" y="0"/>
            <a:chExt cx="1013333" cy="333375"/>
          </a:xfrm>
        </p:grpSpPr>
        <p:sp>
          <p:nvSpPr>
            <p:cNvPr name="Freeform 87" id="87"/>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8" id="88"/>
          <p:cNvGrpSpPr/>
          <p:nvPr/>
        </p:nvGrpSpPr>
        <p:grpSpPr>
          <a:xfrm rot="0">
            <a:off x="6035002" y="5495230"/>
            <a:ext cx="760000" cy="264290"/>
            <a:chOff x="0" y="0"/>
            <a:chExt cx="1013333" cy="352387"/>
          </a:xfrm>
        </p:grpSpPr>
        <p:sp>
          <p:nvSpPr>
            <p:cNvPr name="Freeform 89" id="89"/>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0" id="90"/>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42%</a:t>
              </a:r>
            </a:p>
          </p:txBody>
        </p:sp>
      </p:grpSp>
      <p:sp>
        <p:nvSpPr>
          <p:cNvPr name="TextBox 91" id="91"/>
          <p:cNvSpPr txBox="true"/>
          <p:nvPr/>
        </p:nvSpPr>
        <p:spPr>
          <a:xfrm rot="0">
            <a:off x="5914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92" id="92"/>
          <p:cNvSpPr/>
          <p:nvPr/>
        </p:nvSpPr>
        <p:spPr>
          <a:xfrm flipH="false" flipV="false" rot="0">
            <a:off x="7790755" y="577349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3" id="93"/>
          <p:cNvSpPr txBox="true"/>
          <p:nvPr/>
        </p:nvSpPr>
        <p:spPr>
          <a:xfrm rot="0">
            <a:off x="7185003" y="5507746"/>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61</a:t>
            </a:r>
          </a:p>
        </p:txBody>
      </p:sp>
      <p:grpSp>
        <p:nvGrpSpPr>
          <p:cNvPr name="Group 94" id="94"/>
          <p:cNvGrpSpPr/>
          <p:nvPr/>
        </p:nvGrpSpPr>
        <p:grpSpPr>
          <a:xfrm rot="0">
            <a:off x="7505005" y="5187744"/>
            <a:ext cx="760000" cy="250031"/>
            <a:chOff x="0" y="0"/>
            <a:chExt cx="1013333" cy="333375"/>
          </a:xfrm>
        </p:grpSpPr>
        <p:sp>
          <p:nvSpPr>
            <p:cNvPr name="Freeform 95" id="95"/>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96" id="96"/>
          <p:cNvGrpSpPr/>
          <p:nvPr/>
        </p:nvGrpSpPr>
        <p:grpSpPr>
          <a:xfrm rot="0">
            <a:off x="7505005" y="5173456"/>
            <a:ext cx="760000" cy="264290"/>
            <a:chOff x="0" y="0"/>
            <a:chExt cx="1013333" cy="352387"/>
          </a:xfrm>
        </p:grpSpPr>
        <p:sp>
          <p:nvSpPr>
            <p:cNvPr name="Freeform 97" id="97"/>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8" id="98"/>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30%</a:t>
              </a:r>
            </a:p>
          </p:txBody>
        </p:sp>
      </p:grpSp>
      <p:sp>
        <p:nvSpPr>
          <p:cNvPr name="TextBox 99" id="99"/>
          <p:cNvSpPr txBox="true"/>
          <p:nvPr/>
        </p:nvSpPr>
        <p:spPr>
          <a:xfrm rot="0">
            <a:off x="7384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00" id="100"/>
          <p:cNvSpPr txBox="true"/>
          <p:nvPr/>
        </p:nvSpPr>
        <p:spPr>
          <a:xfrm rot="0">
            <a:off x="1269997"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grpSp>
        <p:nvGrpSpPr>
          <p:cNvPr name="Group 101" id="101"/>
          <p:cNvGrpSpPr/>
          <p:nvPr/>
        </p:nvGrpSpPr>
        <p:grpSpPr>
          <a:xfrm rot="0">
            <a:off x="9674000" y="8349996"/>
            <a:ext cx="7349966" cy="8954"/>
            <a:chOff x="0" y="0"/>
            <a:chExt cx="9799955" cy="11938"/>
          </a:xfrm>
        </p:grpSpPr>
        <p:sp>
          <p:nvSpPr>
            <p:cNvPr name="Freeform 102" id="102"/>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3" id="103"/>
          <p:cNvGrpSpPr/>
          <p:nvPr/>
        </p:nvGrpSpPr>
        <p:grpSpPr>
          <a:xfrm rot="0">
            <a:off x="9674000" y="6924999"/>
            <a:ext cx="7349966" cy="8954"/>
            <a:chOff x="0" y="0"/>
            <a:chExt cx="9799955" cy="11938"/>
          </a:xfrm>
        </p:grpSpPr>
        <p:sp>
          <p:nvSpPr>
            <p:cNvPr name="Freeform 104" id="104"/>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5" id="105"/>
          <p:cNvGrpSpPr/>
          <p:nvPr/>
        </p:nvGrpSpPr>
        <p:grpSpPr>
          <a:xfrm rot="0">
            <a:off x="9674000" y="5500002"/>
            <a:ext cx="7349966" cy="8954"/>
            <a:chOff x="0" y="0"/>
            <a:chExt cx="9799955" cy="11938"/>
          </a:xfrm>
        </p:grpSpPr>
        <p:sp>
          <p:nvSpPr>
            <p:cNvPr name="Freeform 106" id="106"/>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7" id="107"/>
          <p:cNvGrpSpPr/>
          <p:nvPr/>
        </p:nvGrpSpPr>
        <p:grpSpPr>
          <a:xfrm rot="0">
            <a:off x="10408996" y="8222371"/>
            <a:ext cx="5879973" cy="127635"/>
            <a:chOff x="0" y="0"/>
            <a:chExt cx="7839964" cy="170180"/>
          </a:xfrm>
        </p:grpSpPr>
        <p:sp>
          <p:nvSpPr>
            <p:cNvPr name="Freeform 108" id="108"/>
            <p:cNvSpPr/>
            <p:nvPr/>
          </p:nvSpPr>
          <p:spPr>
            <a:xfrm flipH="false" flipV="false" rot="0">
              <a:off x="0" y="0"/>
              <a:ext cx="7839964" cy="170180"/>
            </a:xfrm>
            <a:custGeom>
              <a:avLst/>
              <a:gdLst/>
              <a:ahLst/>
              <a:cxnLst/>
              <a:rect r="r" b="b" t="t" l="l"/>
              <a:pathLst>
                <a:path h="170180" w="7839964">
                  <a:moveTo>
                    <a:pt x="0" y="170180"/>
                  </a:moveTo>
                  <a:lnTo>
                    <a:pt x="0" y="109220"/>
                  </a:lnTo>
                  <a:lnTo>
                    <a:pt x="1959991" y="50038"/>
                  </a:lnTo>
                  <a:lnTo>
                    <a:pt x="3919982" y="39116"/>
                  </a:lnTo>
                  <a:lnTo>
                    <a:pt x="5879973" y="18161"/>
                  </a:lnTo>
                  <a:lnTo>
                    <a:pt x="7839964" y="0"/>
                  </a:lnTo>
                  <a:lnTo>
                    <a:pt x="7839964" y="170180"/>
                  </a:lnTo>
                  <a:close/>
                </a:path>
              </a:pathLst>
            </a:custGeom>
            <a:solidFill>
              <a:srgbClr val="E3F4EC"/>
            </a:solidFill>
          </p:spPr>
        </p:sp>
      </p:grpSp>
      <p:grpSp>
        <p:nvGrpSpPr>
          <p:cNvPr name="Group 109" id="109"/>
          <p:cNvGrpSpPr/>
          <p:nvPr/>
        </p:nvGrpSpPr>
        <p:grpSpPr>
          <a:xfrm rot="0">
            <a:off x="10392327" y="5646811"/>
            <a:ext cx="5913310" cy="1579817"/>
            <a:chOff x="0" y="0"/>
            <a:chExt cx="7884414" cy="2106422"/>
          </a:xfrm>
        </p:grpSpPr>
        <p:sp>
          <p:nvSpPr>
            <p:cNvPr name="Freeform 110" id="110"/>
            <p:cNvSpPr/>
            <p:nvPr/>
          </p:nvSpPr>
          <p:spPr>
            <a:xfrm flipH="false" flipV="false" rot="0">
              <a:off x="0" y="0"/>
              <a:ext cx="7884414" cy="2106422"/>
            </a:xfrm>
            <a:custGeom>
              <a:avLst/>
              <a:gdLst/>
              <a:ahLst/>
              <a:cxnLst/>
              <a:rect r="r" b="b" t="t" l="l"/>
              <a:pathLst>
                <a:path h="2106422" w="7884414">
                  <a:moveTo>
                    <a:pt x="0" y="2106422"/>
                  </a:moveTo>
                  <a:lnTo>
                    <a:pt x="1971167" y="1735328"/>
                  </a:lnTo>
                  <a:lnTo>
                    <a:pt x="3942334" y="1275588"/>
                  </a:lnTo>
                  <a:lnTo>
                    <a:pt x="5913374" y="705866"/>
                  </a:lnTo>
                  <a:lnTo>
                    <a:pt x="7884414" y="0"/>
                  </a:lnTo>
                </a:path>
              </a:pathLst>
            </a:custGeom>
            <a:blipFill>
              <a:blip r:embed="rId7">
                <a:alphaModFix amt="0"/>
              </a:blip>
              <a:stretch>
                <a:fillRect l="0" t="-22882" r="0" b="-22882"/>
              </a:stretch>
            </a:blipFill>
            <a:ln w="19050" cap="sq">
              <a:solidFill>
                <a:srgbClr val="132257"/>
              </a:solidFill>
              <a:prstDash val="solid"/>
              <a:miter/>
            </a:ln>
          </p:spPr>
        </p:sp>
      </p:grpSp>
      <p:sp>
        <p:nvSpPr>
          <p:cNvPr name="Freeform 111" id="111"/>
          <p:cNvSpPr/>
          <p:nvPr/>
        </p:nvSpPr>
        <p:spPr>
          <a:xfrm flipH="false" flipV="false" rot="0">
            <a:off x="10329748" y="713074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2" id="112"/>
          <p:cNvSpPr/>
          <p:nvPr/>
        </p:nvSpPr>
        <p:spPr>
          <a:xfrm flipH="false" flipV="false" rot="0">
            <a:off x="11799751" y="68582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3" id="113"/>
          <p:cNvSpPr/>
          <p:nvPr/>
        </p:nvSpPr>
        <p:spPr>
          <a:xfrm flipH="false" flipV="false" rot="0">
            <a:off x="13269754" y="6520710"/>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4" id="114"/>
          <p:cNvSpPr/>
          <p:nvPr/>
        </p:nvSpPr>
        <p:spPr>
          <a:xfrm flipH="false" flipV="false" rot="0">
            <a:off x="14739747" y="610245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5" id="115"/>
          <p:cNvSpPr/>
          <p:nvPr/>
        </p:nvSpPr>
        <p:spPr>
          <a:xfrm flipH="false" flipV="false" rot="0">
            <a:off x="16209750" y="5584231"/>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6" id="116"/>
          <p:cNvSpPr txBox="true"/>
          <p:nvPr/>
        </p:nvSpPr>
        <p:spPr>
          <a:xfrm rot="0">
            <a:off x="15199004" y="5843511"/>
            <a:ext cx="2000002"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$235,660</a:t>
            </a:r>
          </a:p>
        </p:txBody>
      </p:sp>
      <p:grpSp>
        <p:nvGrpSpPr>
          <p:cNvPr name="Group 117" id="117"/>
          <p:cNvGrpSpPr/>
          <p:nvPr/>
        </p:nvGrpSpPr>
        <p:grpSpPr>
          <a:xfrm rot="0">
            <a:off x="14324000" y="4745003"/>
            <a:ext cx="300038" cy="28004"/>
            <a:chOff x="0" y="0"/>
            <a:chExt cx="400050" cy="37338"/>
          </a:xfrm>
        </p:grpSpPr>
        <p:sp>
          <p:nvSpPr>
            <p:cNvPr name="Freeform 118" id="118"/>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119" id="119"/>
          <p:cNvSpPr txBox="true"/>
          <p:nvPr/>
        </p:nvSpPr>
        <p:spPr>
          <a:xfrm rot="0">
            <a:off x="14683997"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120" id="120"/>
          <p:cNvGrpSpPr/>
          <p:nvPr/>
        </p:nvGrpSpPr>
        <p:grpSpPr>
          <a:xfrm rot="0">
            <a:off x="15474001" y="4745003"/>
            <a:ext cx="300038" cy="18955"/>
            <a:chOff x="0" y="0"/>
            <a:chExt cx="400050" cy="25273"/>
          </a:xfrm>
        </p:grpSpPr>
        <p:sp>
          <p:nvSpPr>
            <p:cNvPr name="Freeform 121" id="121"/>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122" id="122"/>
          <p:cNvSpPr txBox="true"/>
          <p:nvPr/>
        </p:nvSpPr>
        <p:spPr>
          <a:xfrm rot="0">
            <a:off x="15833998"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123" id="123"/>
          <p:cNvGrpSpPr/>
          <p:nvPr/>
        </p:nvGrpSpPr>
        <p:grpSpPr>
          <a:xfrm rot="0">
            <a:off x="10378440" y="8191805"/>
            <a:ext cx="5941124" cy="142970"/>
            <a:chOff x="0" y="0"/>
            <a:chExt cx="7921498" cy="190627"/>
          </a:xfrm>
        </p:grpSpPr>
        <p:sp>
          <p:nvSpPr>
            <p:cNvPr name="Freeform 124" id="124"/>
            <p:cNvSpPr/>
            <p:nvPr/>
          </p:nvSpPr>
          <p:spPr>
            <a:xfrm flipH="false" flipV="false" rot="0">
              <a:off x="0" y="0"/>
              <a:ext cx="7921498" cy="190627"/>
            </a:xfrm>
            <a:custGeom>
              <a:avLst/>
              <a:gdLst/>
              <a:ahLst/>
              <a:cxnLst/>
              <a:rect r="r" b="b" t="t" l="l"/>
              <a:pathLst>
                <a:path h="190627" w="7921498">
                  <a:moveTo>
                    <a:pt x="0" y="190627"/>
                  </a:moveTo>
                  <a:lnTo>
                    <a:pt x="1980438" y="87249"/>
                  </a:lnTo>
                  <a:lnTo>
                    <a:pt x="3960622" y="68199"/>
                  </a:lnTo>
                  <a:lnTo>
                    <a:pt x="5941060" y="31750"/>
                  </a:lnTo>
                  <a:lnTo>
                    <a:pt x="7921498" y="0"/>
                  </a:lnTo>
                </a:path>
              </a:pathLst>
            </a:custGeom>
            <a:blipFill>
              <a:blip r:embed="rId7">
                <a:alphaModFix amt="0"/>
              </a:blip>
              <a:stretch>
                <a:fillRect l="0" t="-759133" r="0" b="-759140"/>
              </a:stretch>
            </a:blipFill>
            <a:ln w="34925" cap="sq">
              <a:solidFill>
                <a:srgbClr val="1BA97C"/>
              </a:solidFill>
              <a:prstDash val="solid"/>
              <a:miter/>
            </a:ln>
          </p:spPr>
        </p:sp>
      </p:grpSp>
      <p:sp>
        <p:nvSpPr>
          <p:cNvPr name="Freeform 125" id="125"/>
          <p:cNvSpPr/>
          <p:nvPr/>
        </p:nvSpPr>
        <p:spPr>
          <a:xfrm flipH="false" flipV="false" rot="0">
            <a:off x="10314756" y="8210007"/>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6" id="126"/>
          <p:cNvSpPr txBox="true"/>
          <p:nvPr/>
        </p:nvSpPr>
        <p:spPr>
          <a:xfrm rot="0">
            <a:off x="9709004" y="7944250"/>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$4,013</a:t>
            </a:r>
          </a:p>
        </p:txBody>
      </p:sp>
      <p:sp>
        <p:nvSpPr>
          <p:cNvPr name="TextBox 127" id="127"/>
          <p:cNvSpPr txBox="true"/>
          <p:nvPr/>
        </p:nvSpPr>
        <p:spPr>
          <a:xfrm rot="0">
            <a:off x="9909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128" id="128"/>
          <p:cNvSpPr/>
          <p:nvPr/>
        </p:nvSpPr>
        <p:spPr>
          <a:xfrm flipH="false" flipV="false" rot="0">
            <a:off x="11784749" y="8165611"/>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9" id="129"/>
          <p:cNvSpPr txBox="true"/>
          <p:nvPr/>
        </p:nvSpPr>
        <p:spPr>
          <a:xfrm rot="0">
            <a:off x="11178997" y="7899854"/>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$7,907</a:t>
            </a:r>
          </a:p>
        </p:txBody>
      </p:sp>
      <p:grpSp>
        <p:nvGrpSpPr>
          <p:cNvPr name="Group 130" id="130"/>
          <p:cNvGrpSpPr/>
          <p:nvPr/>
        </p:nvGrpSpPr>
        <p:grpSpPr>
          <a:xfrm rot="0">
            <a:off x="11498999" y="7579862"/>
            <a:ext cx="760000" cy="250031"/>
            <a:chOff x="0" y="0"/>
            <a:chExt cx="1013333" cy="333375"/>
          </a:xfrm>
        </p:grpSpPr>
        <p:sp>
          <p:nvSpPr>
            <p:cNvPr name="Freeform 131" id="131"/>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32" id="132"/>
          <p:cNvGrpSpPr/>
          <p:nvPr/>
        </p:nvGrpSpPr>
        <p:grpSpPr>
          <a:xfrm rot="0">
            <a:off x="11498999" y="7565574"/>
            <a:ext cx="760000" cy="264290"/>
            <a:chOff x="0" y="0"/>
            <a:chExt cx="1013333" cy="352387"/>
          </a:xfrm>
        </p:grpSpPr>
        <p:sp>
          <p:nvSpPr>
            <p:cNvPr name="Freeform 133" id="133"/>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34" id="134"/>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97%</a:t>
              </a:r>
            </a:p>
          </p:txBody>
        </p:sp>
      </p:grpSp>
      <p:sp>
        <p:nvSpPr>
          <p:cNvPr name="TextBox 135" id="135"/>
          <p:cNvSpPr txBox="true"/>
          <p:nvPr/>
        </p:nvSpPr>
        <p:spPr>
          <a:xfrm rot="0">
            <a:off x="11379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136" id="136"/>
          <p:cNvSpPr/>
          <p:nvPr/>
        </p:nvSpPr>
        <p:spPr>
          <a:xfrm flipH="false" flipV="false" rot="0">
            <a:off x="13254752" y="8157400"/>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7" id="137"/>
          <p:cNvSpPr txBox="true"/>
          <p:nvPr/>
        </p:nvSpPr>
        <p:spPr>
          <a:xfrm rot="0">
            <a:off x="12649000" y="7891653"/>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$8,627</a:t>
            </a:r>
          </a:p>
        </p:txBody>
      </p:sp>
      <p:grpSp>
        <p:nvGrpSpPr>
          <p:cNvPr name="Group 138" id="138"/>
          <p:cNvGrpSpPr/>
          <p:nvPr/>
        </p:nvGrpSpPr>
        <p:grpSpPr>
          <a:xfrm rot="0">
            <a:off x="12969002" y="7571651"/>
            <a:ext cx="760000" cy="250031"/>
            <a:chOff x="0" y="0"/>
            <a:chExt cx="1013333" cy="333375"/>
          </a:xfrm>
        </p:grpSpPr>
        <p:sp>
          <p:nvSpPr>
            <p:cNvPr name="Freeform 139" id="139"/>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0" id="140"/>
          <p:cNvGrpSpPr/>
          <p:nvPr/>
        </p:nvGrpSpPr>
        <p:grpSpPr>
          <a:xfrm rot="0">
            <a:off x="12969002" y="7557364"/>
            <a:ext cx="760000" cy="264290"/>
            <a:chOff x="0" y="0"/>
            <a:chExt cx="1013333" cy="352387"/>
          </a:xfrm>
        </p:grpSpPr>
        <p:sp>
          <p:nvSpPr>
            <p:cNvPr name="Freeform 141" id="141"/>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42" id="142"/>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a:t>
              </a:r>
            </a:p>
          </p:txBody>
        </p:sp>
      </p:grpSp>
      <p:sp>
        <p:nvSpPr>
          <p:cNvPr name="TextBox 143" id="143"/>
          <p:cNvSpPr txBox="true"/>
          <p:nvPr/>
        </p:nvSpPr>
        <p:spPr>
          <a:xfrm rot="0">
            <a:off x="12848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144" id="144"/>
          <p:cNvSpPr/>
          <p:nvPr/>
        </p:nvSpPr>
        <p:spPr>
          <a:xfrm flipH="false" flipV="false" rot="0">
            <a:off x="14724755" y="814171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5" id="145"/>
          <p:cNvSpPr txBox="true"/>
          <p:nvPr/>
        </p:nvSpPr>
        <p:spPr>
          <a:xfrm rot="0">
            <a:off x="14119003" y="78759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$10,004</a:t>
            </a:r>
          </a:p>
        </p:txBody>
      </p:sp>
      <p:grpSp>
        <p:nvGrpSpPr>
          <p:cNvPr name="Group 146" id="146"/>
          <p:cNvGrpSpPr/>
          <p:nvPr/>
        </p:nvGrpSpPr>
        <p:grpSpPr>
          <a:xfrm rot="0">
            <a:off x="14439005" y="7555954"/>
            <a:ext cx="760000" cy="250031"/>
            <a:chOff x="0" y="0"/>
            <a:chExt cx="1013333" cy="333375"/>
          </a:xfrm>
        </p:grpSpPr>
        <p:sp>
          <p:nvSpPr>
            <p:cNvPr name="Freeform 147" id="147"/>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8" id="148"/>
          <p:cNvGrpSpPr/>
          <p:nvPr/>
        </p:nvGrpSpPr>
        <p:grpSpPr>
          <a:xfrm rot="0">
            <a:off x="14439005" y="7541666"/>
            <a:ext cx="760000" cy="264290"/>
            <a:chOff x="0" y="0"/>
            <a:chExt cx="1013333" cy="352387"/>
          </a:xfrm>
        </p:grpSpPr>
        <p:sp>
          <p:nvSpPr>
            <p:cNvPr name="Freeform 149" id="149"/>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0" id="150"/>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16%</a:t>
              </a:r>
            </a:p>
          </p:txBody>
        </p:sp>
      </p:grpSp>
      <p:sp>
        <p:nvSpPr>
          <p:cNvPr name="TextBox 151" id="151"/>
          <p:cNvSpPr txBox="true"/>
          <p:nvPr/>
        </p:nvSpPr>
        <p:spPr>
          <a:xfrm rot="0">
            <a:off x="14318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152" id="152"/>
          <p:cNvSpPr/>
          <p:nvPr/>
        </p:nvSpPr>
        <p:spPr>
          <a:xfrm flipH="false" flipV="false" rot="0">
            <a:off x="16194748" y="8128121"/>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3" id="153"/>
          <p:cNvSpPr txBox="true"/>
          <p:nvPr/>
        </p:nvSpPr>
        <p:spPr>
          <a:xfrm rot="0">
            <a:off x="15588996" y="7862364"/>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$12,206</a:t>
            </a:r>
          </a:p>
        </p:txBody>
      </p:sp>
      <p:grpSp>
        <p:nvGrpSpPr>
          <p:cNvPr name="Group 154" id="154"/>
          <p:cNvGrpSpPr/>
          <p:nvPr/>
        </p:nvGrpSpPr>
        <p:grpSpPr>
          <a:xfrm rot="0">
            <a:off x="15908998" y="7542362"/>
            <a:ext cx="760000" cy="250031"/>
            <a:chOff x="0" y="0"/>
            <a:chExt cx="1013333" cy="333375"/>
          </a:xfrm>
        </p:grpSpPr>
        <p:sp>
          <p:nvSpPr>
            <p:cNvPr name="Freeform 155" id="155"/>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56" id="156"/>
          <p:cNvGrpSpPr/>
          <p:nvPr/>
        </p:nvGrpSpPr>
        <p:grpSpPr>
          <a:xfrm rot="0">
            <a:off x="15908998" y="7528074"/>
            <a:ext cx="760000" cy="264290"/>
            <a:chOff x="0" y="0"/>
            <a:chExt cx="1013333" cy="352387"/>
          </a:xfrm>
        </p:grpSpPr>
        <p:sp>
          <p:nvSpPr>
            <p:cNvPr name="Freeform 157" id="157"/>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8" id="158"/>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22%</a:t>
              </a:r>
            </a:p>
          </p:txBody>
        </p:sp>
      </p:grpSp>
      <p:sp>
        <p:nvSpPr>
          <p:cNvPr name="TextBox 159" id="159"/>
          <p:cNvSpPr txBox="true"/>
          <p:nvPr/>
        </p:nvSpPr>
        <p:spPr>
          <a:xfrm rot="0">
            <a:off x="15789002"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60" id="160"/>
          <p:cNvSpPr txBox="true"/>
          <p:nvPr/>
        </p:nvSpPr>
        <p:spPr>
          <a:xfrm rot="0">
            <a:off x="9674000"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4861" y="603559"/>
            <a:ext cx="13241570" cy="822851"/>
            <a:chOff x="0" y="0"/>
            <a:chExt cx="17655427" cy="1097134"/>
          </a:xfrm>
        </p:grpSpPr>
        <p:sp>
          <p:nvSpPr>
            <p:cNvPr name="Freeform 3" id="3"/>
            <p:cNvSpPr/>
            <p:nvPr/>
          </p:nvSpPr>
          <p:spPr>
            <a:xfrm flipH="false" flipV="false" rot="0">
              <a:off x="0" y="0"/>
              <a:ext cx="17655426" cy="1097134"/>
            </a:xfrm>
            <a:custGeom>
              <a:avLst/>
              <a:gdLst/>
              <a:ahLst/>
              <a:cxnLst/>
              <a:rect r="r" b="b" t="t" l="l"/>
              <a:pathLst>
                <a:path h="1097134" w="17655426">
                  <a:moveTo>
                    <a:pt x="0" y="0"/>
                  </a:moveTo>
                  <a:lnTo>
                    <a:pt x="17655426" y="0"/>
                  </a:lnTo>
                  <a:lnTo>
                    <a:pt x="17655426" y="1097134"/>
                  </a:lnTo>
                  <a:lnTo>
                    <a:pt x="0" y="1097134"/>
                  </a:lnTo>
                  <a:close/>
                </a:path>
              </a:pathLst>
            </a:custGeom>
            <a:blipFill>
              <a:blip r:embed="rId3">
                <a:alphaModFix amt="0"/>
              </a:blip>
              <a:stretch>
                <a:fillRect l="0" t="-248975" r="6775" b="-235653"/>
              </a:stretch>
            </a:blipFill>
          </p:spPr>
        </p:sp>
        <p:sp>
          <p:nvSpPr>
            <p:cNvPr name="TextBox 4" id="4"/>
            <p:cNvSpPr txBox="true"/>
            <p:nvPr/>
          </p:nvSpPr>
          <p:spPr>
            <a:xfrm>
              <a:off x="0" y="-9525"/>
              <a:ext cx="17655427" cy="1106659"/>
            </a:xfrm>
            <a:prstGeom prst="rect">
              <a:avLst/>
            </a:prstGeom>
          </p:spPr>
          <p:txBody>
            <a:bodyPr anchor="ctr" rtlCol="false" tIns="0" lIns="0" bIns="0" rIns="0"/>
            <a:lstStyle/>
            <a:p>
              <a:pPr algn="l" marL="0" indent="0" lvl="0">
                <a:lnSpc>
                  <a:spcPts val="4680"/>
                </a:lnSpc>
                <a:spcBef>
                  <a:spcPct val="0"/>
                </a:spcBef>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Key Performance Indicators &amp; Volume Projections</a:t>
              </a:r>
            </a:p>
          </p:txBody>
        </p:sp>
      </p:grpSp>
      <p:sp>
        <p:nvSpPr>
          <p:cNvPr name="Freeform 5" id="5"/>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7" id="7"/>
          <p:cNvGrpSpPr/>
          <p:nvPr/>
        </p:nvGrpSpPr>
        <p:grpSpPr>
          <a:xfrm rot="0">
            <a:off x="470535" y="648843"/>
            <a:ext cx="115062" cy="732282"/>
            <a:chOff x="0" y="0"/>
            <a:chExt cx="153416" cy="976376"/>
          </a:xfrm>
        </p:grpSpPr>
        <p:sp>
          <p:nvSpPr>
            <p:cNvPr name="Freeform 8" id="8"/>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9" id="9"/>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grpSp>
        <p:nvGrpSpPr>
          <p:cNvPr name="Group 10" id="10"/>
          <p:cNvGrpSpPr/>
          <p:nvPr/>
        </p:nvGrpSpPr>
        <p:grpSpPr>
          <a:xfrm rot="0">
            <a:off x="850001" y="2300002"/>
            <a:ext cx="16587978" cy="469964"/>
            <a:chOff x="0" y="0"/>
            <a:chExt cx="22117304" cy="626618"/>
          </a:xfrm>
        </p:grpSpPr>
        <p:sp>
          <p:nvSpPr>
            <p:cNvPr name="Freeform 11" id="11"/>
            <p:cNvSpPr/>
            <p:nvPr/>
          </p:nvSpPr>
          <p:spPr>
            <a:xfrm flipH="false" flipV="false" rot="0">
              <a:off x="0" y="0"/>
              <a:ext cx="22117304" cy="626618"/>
            </a:xfrm>
            <a:custGeom>
              <a:avLst/>
              <a:gdLst/>
              <a:ahLst/>
              <a:cxnLst/>
              <a:rect r="r" b="b" t="t" l="l"/>
              <a:pathLst>
                <a:path h="626618" w="22117304">
                  <a:moveTo>
                    <a:pt x="0" y="0"/>
                  </a:moveTo>
                  <a:lnTo>
                    <a:pt x="22117304" y="0"/>
                  </a:lnTo>
                  <a:lnTo>
                    <a:pt x="22117304" y="626618"/>
                  </a:lnTo>
                  <a:lnTo>
                    <a:pt x="0" y="626618"/>
                  </a:lnTo>
                  <a:close/>
                </a:path>
              </a:pathLst>
            </a:custGeom>
            <a:gradFill rotWithShape="true">
              <a:gsLst>
                <a:gs pos="0">
                  <a:srgbClr val="101B3B">
                    <a:alpha val="100000"/>
                  </a:srgbClr>
                </a:gs>
                <a:gs pos="100000">
                  <a:srgbClr val="22376F">
                    <a:alpha val="100000"/>
                  </a:srgbClr>
                </a:gs>
              </a:gsLst>
              <a:lin ang="0"/>
            </a:gradFill>
          </p:spPr>
        </p:sp>
      </p:grpSp>
      <p:grpSp>
        <p:nvGrpSpPr>
          <p:cNvPr name="Group 12" id="12"/>
          <p:cNvGrpSpPr/>
          <p:nvPr/>
        </p:nvGrpSpPr>
        <p:grpSpPr>
          <a:xfrm rot="0">
            <a:off x="1070000" y="2271427"/>
            <a:ext cx="2699956" cy="469964"/>
            <a:chOff x="0" y="0"/>
            <a:chExt cx="3599942" cy="626618"/>
          </a:xfrm>
        </p:grpSpPr>
        <p:sp>
          <p:nvSpPr>
            <p:cNvPr name="Freeform 13" id="13"/>
            <p:cNvSpPr/>
            <p:nvPr/>
          </p:nvSpPr>
          <p:spPr>
            <a:xfrm flipH="false" flipV="false" rot="0">
              <a:off x="0" y="0"/>
              <a:ext cx="3599942" cy="626618"/>
            </a:xfrm>
            <a:custGeom>
              <a:avLst/>
              <a:gdLst/>
              <a:ahLst/>
              <a:cxnLst/>
              <a:rect r="r" b="b" t="t" l="l"/>
              <a:pathLst>
                <a:path h="626618" w="3599942">
                  <a:moveTo>
                    <a:pt x="0" y="0"/>
                  </a:moveTo>
                  <a:lnTo>
                    <a:pt x="3599942" y="0"/>
                  </a:lnTo>
                  <a:lnTo>
                    <a:pt x="3599942" y="626618"/>
                  </a:lnTo>
                  <a:lnTo>
                    <a:pt x="0" y="626618"/>
                  </a:lnTo>
                  <a:close/>
                </a:path>
              </a:pathLst>
            </a:custGeom>
            <a:blipFill>
              <a:blip r:embed="rId7">
                <a:alphaModFix amt="0"/>
              </a:blip>
              <a:stretch>
                <a:fillRect l="0" t="-61864" r="0" b="-61864"/>
              </a:stretch>
            </a:blipFill>
          </p:spPr>
        </p:sp>
      </p:grpSp>
      <p:grpSp>
        <p:nvGrpSpPr>
          <p:cNvPr name="Group 14" id="14"/>
          <p:cNvGrpSpPr/>
          <p:nvPr/>
        </p:nvGrpSpPr>
        <p:grpSpPr>
          <a:xfrm rot="0">
            <a:off x="1070000" y="2264283"/>
            <a:ext cx="2699956" cy="477107"/>
            <a:chOff x="0" y="0"/>
            <a:chExt cx="3599942" cy="636143"/>
          </a:xfrm>
        </p:grpSpPr>
        <p:sp>
          <p:nvSpPr>
            <p:cNvPr name="Freeform 15" id="15"/>
            <p:cNvSpPr/>
            <p:nvPr/>
          </p:nvSpPr>
          <p:spPr>
            <a:xfrm flipH="false" flipV="false" rot="0">
              <a:off x="0" y="0"/>
              <a:ext cx="3599942" cy="636143"/>
            </a:xfrm>
            <a:custGeom>
              <a:avLst/>
              <a:gdLst/>
              <a:ahLst/>
              <a:cxnLst/>
              <a:rect r="r" b="b" t="t" l="l"/>
              <a:pathLst>
                <a:path h="636143" w="3599942">
                  <a:moveTo>
                    <a:pt x="0" y="0"/>
                  </a:moveTo>
                  <a:lnTo>
                    <a:pt x="3599942" y="0"/>
                  </a:lnTo>
                  <a:lnTo>
                    <a:pt x="3599942" y="636143"/>
                  </a:lnTo>
                  <a:lnTo>
                    <a:pt x="0" y="636143"/>
                  </a:lnTo>
                  <a:close/>
                </a:path>
              </a:pathLst>
            </a:custGeom>
            <a:blipFill>
              <a:blip r:embed="rId8">
                <a:alphaModFix amt="0"/>
              </a:blip>
              <a:stretch>
                <a:fillRect l="0" t="-60189" r="0" b="-60189"/>
              </a:stretch>
            </a:blipFill>
          </p:spPr>
        </p:sp>
      </p:grpSp>
      <p:grpSp>
        <p:nvGrpSpPr>
          <p:cNvPr name="Group 16" id="16"/>
          <p:cNvGrpSpPr/>
          <p:nvPr/>
        </p:nvGrpSpPr>
        <p:grpSpPr>
          <a:xfrm rot="0">
            <a:off x="1070000" y="2257139"/>
            <a:ext cx="2700004" cy="484289"/>
            <a:chOff x="0" y="0"/>
            <a:chExt cx="3600005" cy="645719"/>
          </a:xfrm>
        </p:grpSpPr>
        <p:sp>
          <p:nvSpPr>
            <p:cNvPr name="Freeform 17" id="17"/>
            <p:cNvSpPr/>
            <p:nvPr/>
          </p:nvSpPr>
          <p:spPr>
            <a:xfrm flipH="false" flipV="false" rot="0">
              <a:off x="0" y="0"/>
              <a:ext cx="3599942" cy="645668"/>
            </a:xfrm>
            <a:custGeom>
              <a:avLst/>
              <a:gdLst/>
              <a:ahLst/>
              <a:cxnLst/>
              <a:rect r="r" b="b" t="t" l="l"/>
              <a:pathLst>
                <a:path h="645668" w="3599942">
                  <a:moveTo>
                    <a:pt x="0" y="0"/>
                  </a:moveTo>
                  <a:lnTo>
                    <a:pt x="3599942" y="0"/>
                  </a:lnTo>
                  <a:lnTo>
                    <a:pt x="3599942" y="645668"/>
                  </a:lnTo>
                  <a:lnTo>
                    <a:pt x="0" y="645668"/>
                  </a:lnTo>
                  <a:close/>
                </a:path>
              </a:pathLst>
            </a:custGeom>
            <a:blipFill>
              <a:blip r:embed="rId9">
                <a:alphaModFix amt="0"/>
              </a:blip>
              <a:stretch>
                <a:fillRect l="0" t="-58562" r="-1" b="-58570"/>
              </a:stretch>
            </a:blipFill>
          </p:spPr>
        </p:sp>
      </p:grpSp>
      <p:grpSp>
        <p:nvGrpSpPr>
          <p:cNvPr name="Group 18" id="18"/>
          <p:cNvGrpSpPr/>
          <p:nvPr/>
        </p:nvGrpSpPr>
        <p:grpSpPr>
          <a:xfrm rot="0">
            <a:off x="1070000" y="2249996"/>
            <a:ext cx="2700004" cy="491433"/>
            <a:chOff x="0" y="0"/>
            <a:chExt cx="3600005" cy="655244"/>
          </a:xfrm>
        </p:grpSpPr>
        <p:sp>
          <p:nvSpPr>
            <p:cNvPr name="Freeform 19" id="19"/>
            <p:cNvSpPr/>
            <p:nvPr/>
          </p:nvSpPr>
          <p:spPr>
            <a:xfrm flipH="false" flipV="false" rot="0">
              <a:off x="0" y="0"/>
              <a:ext cx="3600005" cy="655244"/>
            </a:xfrm>
            <a:custGeom>
              <a:avLst/>
              <a:gdLst/>
              <a:ahLst/>
              <a:cxnLst/>
              <a:rect r="r" b="b" t="t" l="l"/>
              <a:pathLst>
                <a:path h="655244" w="3600005">
                  <a:moveTo>
                    <a:pt x="0" y="0"/>
                  </a:moveTo>
                  <a:lnTo>
                    <a:pt x="3600005" y="0"/>
                  </a:lnTo>
                  <a:lnTo>
                    <a:pt x="3600005" y="655244"/>
                  </a:lnTo>
                  <a:lnTo>
                    <a:pt x="0" y="655244"/>
                  </a:lnTo>
                  <a:close/>
                </a:path>
              </a:pathLst>
            </a:custGeom>
            <a:blipFill>
              <a:blip r:embed="rId3">
                <a:alphaModFix amt="0"/>
              </a:blip>
              <a:stretch>
                <a:fillRect l="0" t="-57053" r="0" b="-57053"/>
              </a:stretch>
            </a:blipFill>
          </p:spPr>
        </p:sp>
        <p:sp>
          <p:nvSpPr>
            <p:cNvPr name="TextBox 20" id="20"/>
            <p:cNvSpPr txBox="true"/>
            <p:nvPr/>
          </p:nvSpPr>
          <p:spPr>
            <a:xfrm>
              <a:off x="0" y="-9525"/>
              <a:ext cx="3600005" cy="664769"/>
            </a:xfrm>
            <a:prstGeom prst="rect">
              <a:avLst/>
            </a:prstGeom>
          </p:spPr>
          <p:txBody>
            <a:bodyPr anchor="ctr" rtlCol="false" tIns="0" lIns="0" bIns="0" rIns="0"/>
            <a:lstStyle/>
            <a:p>
              <a:pPr algn="l">
                <a:lnSpc>
                  <a:spcPts val="1907"/>
                </a:lnSpc>
              </a:pPr>
              <a:r>
                <a:rPr lang="en-US" sz="1589" b="true">
                  <a:solidFill>
                    <a:srgbClr val="FFFFFF"/>
                  </a:solidFill>
                  <a:latin typeface="Exo 2 Bold"/>
                  <a:ea typeface="Exo 2 Bold"/>
                  <a:cs typeface="Exo 2 Bold"/>
                  <a:sym typeface="Exo 2 Bold"/>
                </a:rPr>
                <a:t>KPI &amp; Performance Detail</a:t>
              </a:r>
            </a:p>
          </p:txBody>
        </p:sp>
      </p:grpSp>
      <p:grpSp>
        <p:nvGrpSpPr>
          <p:cNvPr name="Group 21" id="21"/>
          <p:cNvGrpSpPr/>
          <p:nvPr/>
        </p:nvGrpSpPr>
        <p:grpSpPr>
          <a:xfrm rot="0">
            <a:off x="3850005" y="2271427"/>
            <a:ext cx="1698498" cy="469964"/>
            <a:chOff x="0" y="0"/>
            <a:chExt cx="2264664" cy="626618"/>
          </a:xfrm>
        </p:grpSpPr>
        <p:sp>
          <p:nvSpPr>
            <p:cNvPr name="Freeform 22" id="22"/>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23" id="23"/>
          <p:cNvGrpSpPr/>
          <p:nvPr/>
        </p:nvGrpSpPr>
        <p:grpSpPr>
          <a:xfrm rot="0">
            <a:off x="3850005" y="2264283"/>
            <a:ext cx="1698498" cy="477107"/>
            <a:chOff x="0" y="0"/>
            <a:chExt cx="2264664" cy="636143"/>
          </a:xfrm>
        </p:grpSpPr>
        <p:sp>
          <p:nvSpPr>
            <p:cNvPr name="Freeform 24" id="24"/>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25" id="25"/>
          <p:cNvGrpSpPr/>
          <p:nvPr/>
        </p:nvGrpSpPr>
        <p:grpSpPr>
          <a:xfrm rot="0">
            <a:off x="3850005" y="2257139"/>
            <a:ext cx="1698498" cy="484289"/>
            <a:chOff x="0" y="0"/>
            <a:chExt cx="2264664" cy="645719"/>
          </a:xfrm>
        </p:grpSpPr>
        <p:sp>
          <p:nvSpPr>
            <p:cNvPr name="Freeform 26" id="26"/>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27" id="27"/>
          <p:cNvGrpSpPr/>
          <p:nvPr/>
        </p:nvGrpSpPr>
        <p:grpSpPr>
          <a:xfrm rot="0">
            <a:off x="3850005" y="2249996"/>
            <a:ext cx="1698498" cy="491433"/>
            <a:chOff x="0" y="0"/>
            <a:chExt cx="2264664" cy="655244"/>
          </a:xfrm>
        </p:grpSpPr>
        <p:sp>
          <p:nvSpPr>
            <p:cNvPr name="Freeform 28" id="28"/>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29" id="29"/>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May</a:t>
              </a:r>
            </a:p>
          </p:txBody>
        </p:sp>
      </p:grpSp>
      <p:grpSp>
        <p:nvGrpSpPr>
          <p:cNvPr name="Group 30" id="30"/>
          <p:cNvGrpSpPr/>
          <p:nvPr/>
        </p:nvGrpSpPr>
        <p:grpSpPr>
          <a:xfrm rot="0">
            <a:off x="5548503" y="2271427"/>
            <a:ext cx="1698498" cy="469964"/>
            <a:chOff x="0" y="0"/>
            <a:chExt cx="2264664" cy="626618"/>
          </a:xfrm>
        </p:grpSpPr>
        <p:sp>
          <p:nvSpPr>
            <p:cNvPr name="Freeform 31" id="31"/>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32" id="32"/>
          <p:cNvGrpSpPr/>
          <p:nvPr/>
        </p:nvGrpSpPr>
        <p:grpSpPr>
          <a:xfrm rot="0">
            <a:off x="5548503" y="2264283"/>
            <a:ext cx="1698498" cy="477107"/>
            <a:chOff x="0" y="0"/>
            <a:chExt cx="2264664" cy="636143"/>
          </a:xfrm>
        </p:grpSpPr>
        <p:sp>
          <p:nvSpPr>
            <p:cNvPr name="Freeform 33" id="33"/>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34" id="34"/>
          <p:cNvGrpSpPr/>
          <p:nvPr/>
        </p:nvGrpSpPr>
        <p:grpSpPr>
          <a:xfrm rot="0">
            <a:off x="5548503" y="2257139"/>
            <a:ext cx="1698498" cy="484289"/>
            <a:chOff x="0" y="0"/>
            <a:chExt cx="2264664" cy="645719"/>
          </a:xfrm>
        </p:grpSpPr>
        <p:sp>
          <p:nvSpPr>
            <p:cNvPr name="Freeform 35" id="35"/>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36" id="36"/>
          <p:cNvGrpSpPr/>
          <p:nvPr/>
        </p:nvGrpSpPr>
        <p:grpSpPr>
          <a:xfrm rot="0">
            <a:off x="5548503" y="2249996"/>
            <a:ext cx="1698498" cy="491433"/>
            <a:chOff x="0" y="0"/>
            <a:chExt cx="2264664" cy="655244"/>
          </a:xfrm>
        </p:grpSpPr>
        <p:sp>
          <p:nvSpPr>
            <p:cNvPr name="Freeform 37" id="37"/>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38" id="38"/>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June</a:t>
              </a:r>
            </a:p>
          </p:txBody>
        </p:sp>
      </p:grpSp>
      <p:grpSp>
        <p:nvGrpSpPr>
          <p:cNvPr name="Group 39" id="39"/>
          <p:cNvGrpSpPr/>
          <p:nvPr/>
        </p:nvGrpSpPr>
        <p:grpSpPr>
          <a:xfrm rot="0">
            <a:off x="7247001" y="2271427"/>
            <a:ext cx="1698498" cy="469964"/>
            <a:chOff x="0" y="0"/>
            <a:chExt cx="2264664" cy="626618"/>
          </a:xfrm>
        </p:grpSpPr>
        <p:sp>
          <p:nvSpPr>
            <p:cNvPr name="Freeform 40" id="40"/>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41" id="41"/>
          <p:cNvGrpSpPr/>
          <p:nvPr/>
        </p:nvGrpSpPr>
        <p:grpSpPr>
          <a:xfrm rot="0">
            <a:off x="7247001" y="2264283"/>
            <a:ext cx="1698498" cy="477107"/>
            <a:chOff x="0" y="0"/>
            <a:chExt cx="2264664" cy="636143"/>
          </a:xfrm>
        </p:grpSpPr>
        <p:sp>
          <p:nvSpPr>
            <p:cNvPr name="Freeform 42" id="42"/>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43" id="43"/>
          <p:cNvGrpSpPr/>
          <p:nvPr/>
        </p:nvGrpSpPr>
        <p:grpSpPr>
          <a:xfrm rot="0">
            <a:off x="7247001" y="2257139"/>
            <a:ext cx="1698498" cy="484289"/>
            <a:chOff x="0" y="0"/>
            <a:chExt cx="2264664" cy="645719"/>
          </a:xfrm>
        </p:grpSpPr>
        <p:sp>
          <p:nvSpPr>
            <p:cNvPr name="Freeform 44" id="44"/>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45" id="45"/>
          <p:cNvGrpSpPr/>
          <p:nvPr/>
        </p:nvGrpSpPr>
        <p:grpSpPr>
          <a:xfrm rot="0">
            <a:off x="7247001" y="2249996"/>
            <a:ext cx="1698498" cy="491433"/>
            <a:chOff x="0" y="0"/>
            <a:chExt cx="2264664" cy="655244"/>
          </a:xfrm>
        </p:grpSpPr>
        <p:sp>
          <p:nvSpPr>
            <p:cNvPr name="Freeform 46" id="46"/>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47" id="47"/>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July</a:t>
              </a:r>
            </a:p>
          </p:txBody>
        </p:sp>
      </p:grpSp>
      <p:grpSp>
        <p:nvGrpSpPr>
          <p:cNvPr name="Group 48" id="48"/>
          <p:cNvGrpSpPr/>
          <p:nvPr/>
        </p:nvGrpSpPr>
        <p:grpSpPr>
          <a:xfrm rot="0">
            <a:off x="8945499" y="2271427"/>
            <a:ext cx="1698498" cy="469964"/>
            <a:chOff x="0" y="0"/>
            <a:chExt cx="2264664" cy="626618"/>
          </a:xfrm>
        </p:grpSpPr>
        <p:sp>
          <p:nvSpPr>
            <p:cNvPr name="Freeform 49" id="49"/>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0" id="50"/>
          <p:cNvGrpSpPr/>
          <p:nvPr/>
        </p:nvGrpSpPr>
        <p:grpSpPr>
          <a:xfrm rot="0">
            <a:off x="8945499" y="2264283"/>
            <a:ext cx="1698498" cy="477107"/>
            <a:chOff x="0" y="0"/>
            <a:chExt cx="2264664" cy="636143"/>
          </a:xfrm>
        </p:grpSpPr>
        <p:sp>
          <p:nvSpPr>
            <p:cNvPr name="Freeform 51" id="51"/>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52" id="52"/>
          <p:cNvGrpSpPr/>
          <p:nvPr/>
        </p:nvGrpSpPr>
        <p:grpSpPr>
          <a:xfrm rot="0">
            <a:off x="8945499" y="2257139"/>
            <a:ext cx="1698498" cy="484289"/>
            <a:chOff x="0" y="0"/>
            <a:chExt cx="2264664" cy="645719"/>
          </a:xfrm>
        </p:grpSpPr>
        <p:sp>
          <p:nvSpPr>
            <p:cNvPr name="Freeform 53" id="53"/>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54" id="54"/>
          <p:cNvGrpSpPr/>
          <p:nvPr/>
        </p:nvGrpSpPr>
        <p:grpSpPr>
          <a:xfrm rot="0">
            <a:off x="8945499" y="2249996"/>
            <a:ext cx="1698498" cy="491433"/>
            <a:chOff x="0" y="0"/>
            <a:chExt cx="2264664" cy="655244"/>
          </a:xfrm>
        </p:grpSpPr>
        <p:sp>
          <p:nvSpPr>
            <p:cNvPr name="Freeform 55" id="55"/>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56" id="56"/>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August</a:t>
              </a:r>
            </a:p>
          </p:txBody>
        </p:sp>
      </p:grpSp>
      <p:grpSp>
        <p:nvGrpSpPr>
          <p:cNvPr name="Group 57" id="57"/>
          <p:cNvGrpSpPr/>
          <p:nvPr/>
        </p:nvGrpSpPr>
        <p:grpSpPr>
          <a:xfrm rot="0">
            <a:off x="10643997" y="2271427"/>
            <a:ext cx="1698498" cy="469964"/>
            <a:chOff x="0" y="0"/>
            <a:chExt cx="2264664" cy="626618"/>
          </a:xfrm>
        </p:grpSpPr>
        <p:sp>
          <p:nvSpPr>
            <p:cNvPr name="Freeform 58" id="58"/>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9" id="59"/>
          <p:cNvGrpSpPr/>
          <p:nvPr/>
        </p:nvGrpSpPr>
        <p:grpSpPr>
          <a:xfrm rot="0">
            <a:off x="10643997" y="2264283"/>
            <a:ext cx="1698498" cy="477107"/>
            <a:chOff x="0" y="0"/>
            <a:chExt cx="2264664" cy="636143"/>
          </a:xfrm>
        </p:grpSpPr>
        <p:sp>
          <p:nvSpPr>
            <p:cNvPr name="Freeform 60" id="60"/>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61" id="61"/>
          <p:cNvGrpSpPr/>
          <p:nvPr/>
        </p:nvGrpSpPr>
        <p:grpSpPr>
          <a:xfrm rot="0">
            <a:off x="10643997" y="2257139"/>
            <a:ext cx="1698498" cy="484289"/>
            <a:chOff x="0" y="0"/>
            <a:chExt cx="2264664" cy="645719"/>
          </a:xfrm>
        </p:grpSpPr>
        <p:sp>
          <p:nvSpPr>
            <p:cNvPr name="Freeform 62" id="62"/>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63" id="63"/>
          <p:cNvGrpSpPr/>
          <p:nvPr/>
        </p:nvGrpSpPr>
        <p:grpSpPr>
          <a:xfrm rot="0">
            <a:off x="10643997" y="2249996"/>
            <a:ext cx="1698498" cy="491433"/>
            <a:chOff x="0" y="0"/>
            <a:chExt cx="2264664" cy="655244"/>
          </a:xfrm>
        </p:grpSpPr>
        <p:sp>
          <p:nvSpPr>
            <p:cNvPr name="Freeform 64" id="64"/>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65" id="65"/>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D4AF37"/>
                  </a:solidFill>
                  <a:latin typeface="Exo 2 Bold"/>
                  <a:ea typeface="Exo 2 Bold"/>
                  <a:cs typeface="Exo 2 Bold"/>
                  <a:sym typeface="Exo 2 Bold"/>
                </a:rPr>
                <a:t>September</a:t>
              </a:r>
            </a:p>
          </p:txBody>
        </p:sp>
      </p:grpSp>
      <p:grpSp>
        <p:nvGrpSpPr>
          <p:cNvPr name="Group 66" id="66"/>
          <p:cNvGrpSpPr/>
          <p:nvPr/>
        </p:nvGrpSpPr>
        <p:grpSpPr>
          <a:xfrm rot="0">
            <a:off x="12342505" y="2271427"/>
            <a:ext cx="1698498" cy="469964"/>
            <a:chOff x="0" y="0"/>
            <a:chExt cx="2264664" cy="626618"/>
          </a:xfrm>
        </p:grpSpPr>
        <p:sp>
          <p:nvSpPr>
            <p:cNvPr name="Freeform 67" id="67"/>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68" id="68"/>
          <p:cNvGrpSpPr/>
          <p:nvPr/>
        </p:nvGrpSpPr>
        <p:grpSpPr>
          <a:xfrm rot="0">
            <a:off x="12342505" y="2264283"/>
            <a:ext cx="1698498" cy="477107"/>
            <a:chOff x="0" y="0"/>
            <a:chExt cx="2264664" cy="636143"/>
          </a:xfrm>
        </p:grpSpPr>
        <p:sp>
          <p:nvSpPr>
            <p:cNvPr name="Freeform 69" id="69"/>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0" id="70"/>
          <p:cNvGrpSpPr/>
          <p:nvPr/>
        </p:nvGrpSpPr>
        <p:grpSpPr>
          <a:xfrm rot="0">
            <a:off x="12342505" y="2257139"/>
            <a:ext cx="1698498" cy="484289"/>
            <a:chOff x="0" y="0"/>
            <a:chExt cx="2264664" cy="645719"/>
          </a:xfrm>
        </p:grpSpPr>
        <p:sp>
          <p:nvSpPr>
            <p:cNvPr name="Freeform 71" id="71"/>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72" id="72"/>
          <p:cNvGrpSpPr/>
          <p:nvPr/>
        </p:nvGrpSpPr>
        <p:grpSpPr>
          <a:xfrm rot="0">
            <a:off x="12342505" y="2249996"/>
            <a:ext cx="1698498" cy="491433"/>
            <a:chOff x="0" y="0"/>
            <a:chExt cx="2264664" cy="655244"/>
          </a:xfrm>
        </p:grpSpPr>
        <p:sp>
          <p:nvSpPr>
            <p:cNvPr name="Freeform 73" id="73"/>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74" id="74"/>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October</a:t>
              </a:r>
            </a:p>
          </p:txBody>
        </p:sp>
      </p:grpSp>
      <p:grpSp>
        <p:nvGrpSpPr>
          <p:cNvPr name="Group 75" id="75"/>
          <p:cNvGrpSpPr/>
          <p:nvPr/>
        </p:nvGrpSpPr>
        <p:grpSpPr>
          <a:xfrm rot="0">
            <a:off x="14041003" y="2271427"/>
            <a:ext cx="1698498" cy="469964"/>
            <a:chOff x="0" y="0"/>
            <a:chExt cx="2264664" cy="626618"/>
          </a:xfrm>
        </p:grpSpPr>
        <p:sp>
          <p:nvSpPr>
            <p:cNvPr name="Freeform 76" id="76"/>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77" id="77"/>
          <p:cNvGrpSpPr/>
          <p:nvPr/>
        </p:nvGrpSpPr>
        <p:grpSpPr>
          <a:xfrm rot="0">
            <a:off x="14041003" y="2264283"/>
            <a:ext cx="1698498" cy="477107"/>
            <a:chOff x="0" y="0"/>
            <a:chExt cx="2264664" cy="636143"/>
          </a:xfrm>
        </p:grpSpPr>
        <p:sp>
          <p:nvSpPr>
            <p:cNvPr name="Freeform 78" id="78"/>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9" id="79"/>
          <p:cNvGrpSpPr/>
          <p:nvPr/>
        </p:nvGrpSpPr>
        <p:grpSpPr>
          <a:xfrm rot="0">
            <a:off x="14041003" y="2257139"/>
            <a:ext cx="1698498" cy="484289"/>
            <a:chOff x="0" y="0"/>
            <a:chExt cx="2264664" cy="645719"/>
          </a:xfrm>
        </p:grpSpPr>
        <p:sp>
          <p:nvSpPr>
            <p:cNvPr name="Freeform 80" id="80"/>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81" id="81"/>
          <p:cNvGrpSpPr/>
          <p:nvPr/>
        </p:nvGrpSpPr>
        <p:grpSpPr>
          <a:xfrm rot="0">
            <a:off x="14041003" y="2249996"/>
            <a:ext cx="1698498" cy="491433"/>
            <a:chOff x="0" y="0"/>
            <a:chExt cx="2264664" cy="655244"/>
          </a:xfrm>
        </p:grpSpPr>
        <p:sp>
          <p:nvSpPr>
            <p:cNvPr name="Freeform 82" id="82"/>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83" id="83"/>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November</a:t>
              </a:r>
            </a:p>
          </p:txBody>
        </p:sp>
      </p:grpSp>
      <p:grpSp>
        <p:nvGrpSpPr>
          <p:cNvPr name="Group 84" id="84"/>
          <p:cNvGrpSpPr/>
          <p:nvPr/>
        </p:nvGrpSpPr>
        <p:grpSpPr>
          <a:xfrm rot="0">
            <a:off x="15739501" y="2271427"/>
            <a:ext cx="1698498" cy="469964"/>
            <a:chOff x="0" y="0"/>
            <a:chExt cx="2264664" cy="626618"/>
          </a:xfrm>
        </p:grpSpPr>
        <p:sp>
          <p:nvSpPr>
            <p:cNvPr name="Freeform 85" id="85"/>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86" id="86"/>
          <p:cNvGrpSpPr/>
          <p:nvPr/>
        </p:nvGrpSpPr>
        <p:grpSpPr>
          <a:xfrm rot="0">
            <a:off x="15739501" y="2264283"/>
            <a:ext cx="1698498" cy="477107"/>
            <a:chOff x="0" y="0"/>
            <a:chExt cx="2264664" cy="636143"/>
          </a:xfrm>
        </p:grpSpPr>
        <p:sp>
          <p:nvSpPr>
            <p:cNvPr name="Freeform 87" id="87"/>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88" id="88"/>
          <p:cNvGrpSpPr/>
          <p:nvPr/>
        </p:nvGrpSpPr>
        <p:grpSpPr>
          <a:xfrm rot="0">
            <a:off x="15739501" y="2257139"/>
            <a:ext cx="1698498" cy="484289"/>
            <a:chOff x="0" y="0"/>
            <a:chExt cx="2264664" cy="645719"/>
          </a:xfrm>
        </p:grpSpPr>
        <p:sp>
          <p:nvSpPr>
            <p:cNvPr name="Freeform 89" id="89"/>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90" id="90"/>
          <p:cNvGrpSpPr/>
          <p:nvPr/>
        </p:nvGrpSpPr>
        <p:grpSpPr>
          <a:xfrm rot="0">
            <a:off x="15739501" y="2249996"/>
            <a:ext cx="1698498" cy="491433"/>
            <a:chOff x="0" y="0"/>
            <a:chExt cx="2264664" cy="655244"/>
          </a:xfrm>
        </p:grpSpPr>
        <p:sp>
          <p:nvSpPr>
            <p:cNvPr name="Freeform 91" id="91"/>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92" id="92"/>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December</a:t>
              </a:r>
            </a:p>
          </p:txBody>
        </p:sp>
      </p:grpSp>
      <p:grpSp>
        <p:nvGrpSpPr>
          <p:cNvPr name="Group 93" id="93"/>
          <p:cNvGrpSpPr/>
          <p:nvPr/>
        </p:nvGrpSpPr>
        <p:grpSpPr>
          <a:xfrm rot="0">
            <a:off x="10643997" y="2770003"/>
            <a:ext cx="1698498" cy="6320028"/>
            <a:chOff x="0" y="0"/>
            <a:chExt cx="2264664" cy="8426704"/>
          </a:xfrm>
        </p:grpSpPr>
        <p:sp>
          <p:nvSpPr>
            <p:cNvPr name="Freeform 94" id="94"/>
            <p:cNvSpPr/>
            <p:nvPr/>
          </p:nvSpPr>
          <p:spPr>
            <a:xfrm flipH="false" flipV="false" rot="0">
              <a:off x="0" y="0"/>
              <a:ext cx="2264664" cy="8426704"/>
            </a:xfrm>
            <a:custGeom>
              <a:avLst/>
              <a:gdLst/>
              <a:ahLst/>
              <a:cxnLst/>
              <a:rect r="r" b="b" t="t" l="l"/>
              <a:pathLst>
                <a:path h="8426704" w="2264664">
                  <a:moveTo>
                    <a:pt x="0" y="0"/>
                  </a:moveTo>
                  <a:lnTo>
                    <a:pt x="2264664" y="0"/>
                  </a:lnTo>
                  <a:lnTo>
                    <a:pt x="2264664" y="8426704"/>
                  </a:lnTo>
                  <a:lnTo>
                    <a:pt x="0" y="8426704"/>
                  </a:lnTo>
                  <a:close/>
                </a:path>
              </a:pathLst>
            </a:custGeom>
            <a:solidFill>
              <a:srgbClr val="FBF6E6"/>
            </a:solidFill>
          </p:spPr>
        </p:sp>
      </p:grpSp>
      <p:grpSp>
        <p:nvGrpSpPr>
          <p:cNvPr name="Group 95" id="95"/>
          <p:cNvGrpSpPr/>
          <p:nvPr/>
        </p:nvGrpSpPr>
        <p:grpSpPr>
          <a:xfrm rot="0">
            <a:off x="850001" y="2770003"/>
            <a:ext cx="16587978" cy="395002"/>
            <a:chOff x="0" y="0"/>
            <a:chExt cx="22117304" cy="526669"/>
          </a:xfrm>
        </p:grpSpPr>
        <p:sp>
          <p:nvSpPr>
            <p:cNvPr name="Freeform 96" id="96"/>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97" id="97"/>
          <p:cNvGrpSpPr/>
          <p:nvPr/>
        </p:nvGrpSpPr>
        <p:grpSpPr>
          <a:xfrm rot="0">
            <a:off x="1070000" y="2770003"/>
            <a:ext cx="16587978" cy="395002"/>
            <a:chOff x="0" y="0"/>
            <a:chExt cx="22117304" cy="526669"/>
          </a:xfrm>
        </p:grpSpPr>
        <p:sp>
          <p:nvSpPr>
            <p:cNvPr name="Freeform 98" id="98"/>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99" id="99"/>
          <p:cNvGrpSpPr/>
          <p:nvPr/>
        </p:nvGrpSpPr>
        <p:grpSpPr>
          <a:xfrm rot="0">
            <a:off x="1070000" y="2762860"/>
            <a:ext cx="16587978" cy="402146"/>
            <a:chOff x="0" y="0"/>
            <a:chExt cx="22117304" cy="536194"/>
          </a:xfrm>
        </p:grpSpPr>
        <p:sp>
          <p:nvSpPr>
            <p:cNvPr name="Freeform 100" id="100"/>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101" id="101"/>
          <p:cNvGrpSpPr/>
          <p:nvPr/>
        </p:nvGrpSpPr>
        <p:grpSpPr>
          <a:xfrm rot="0">
            <a:off x="1070000" y="2755716"/>
            <a:ext cx="16587997" cy="409289"/>
            <a:chOff x="0" y="0"/>
            <a:chExt cx="22117329" cy="545719"/>
          </a:xfrm>
        </p:grpSpPr>
        <p:sp>
          <p:nvSpPr>
            <p:cNvPr name="Freeform 102" id="102"/>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103" id="103"/>
          <p:cNvGrpSpPr/>
          <p:nvPr/>
        </p:nvGrpSpPr>
        <p:grpSpPr>
          <a:xfrm rot="0">
            <a:off x="1070000" y="2748572"/>
            <a:ext cx="16587997" cy="416433"/>
            <a:chOff x="0" y="0"/>
            <a:chExt cx="22117329" cy="555244"/>
          </a:xfrm>
        </p:grpSpPr>
        <p:sp>
          <p:nvSpPr>
            <p:cNvPr name="Freeform 104" id="104"/>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105" id="105"/>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  CLIENTS, CUMULATIVE</a:t>
              </a:r>
            </a:p>
          </p:txBody>
        </p:sp>
      </p:grpSp>
      <p:grpSp>
        <p:nvGrpSpPr>
          <p:cNvPr name="Group 106" id="106"/>
          <p:cNvGrpSpPr/>
          <p:nvPr/>
        </p:nvGrpSpPr>
        <p:grpSpPr>
          <a:xfrm rot="0">
            <a:off x="1070000" y="3164996"/>
            <a:ext cx="2699956" cy="395002"/>
            <a:chOff x="0" y="0"/>
            <a:chExt cx="3599942" cy="526669"/>
          </a:xfrm>
        </p:grpSpPr>
        <p:sp>
          <p:nvSpPr>
            <p:cNvPr name="Freeform 107" id="10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08" id="108"/>
          <p:cNvGrpSpPr/>
          <p:nvPr/>
        </p:nvGrpSpPr>
        <p:grpSpPr>
          <a:xfrm rot="0">
            <a:off x="1070000" y="3164996"/>
            <a:ext cx="2699956" cy="395002"/>
            <a:chOff x="0" y="0"/>
            <a:chExt cx="3599942" cy="526669"/>
          </a:xfrm>
        </p:grpSpPr>
        <p:sp>
          <p:nvSpPr>
            <p:cNvPr name="Freeform 109" id="10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10" id="110"/>
          <p:cNvGrpSpPr/>
          <p:nvPr/>
        </p:nvGrpSpPr>
        <p:grpSpPr>
          <a:xfrm rot="0">
            <a:off x="1070000" y="3164996"/>
            <a:ext cx="2700004" cy="395002"/>
            <a:chOff x="0" y="0"/>
            <a:chExt cx="3600005" cy="526669"/>
          </a:xfrm>
        </p:grpSpPr>
        <p:sp>
          <p:nvSpPr>
            <p:cNvPr name="Freeform 111" id="11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12" id="112"/>
          <p:cNvGrpSpPr/>
          <p:nvPr/>
        </p:nvGrpSpPr>
        <p:grpSpPr>
          <a:xfrm rot="0">
            <a:off x="1070000" y="3164996"/>
            <a:ext cx="2700004" cy="395002"/>
            <a:chOff x="0" y="0"/>
            <a:chExt cx="3600005" cy="526669"/>
          </a:xfrm>
        </p:grpSpPr>
        <p:sp>
          <p:nvSpPr>
            <p:cNvPr name="Freeform 113" id="113"/>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14" id="114"/>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115" id="115"/>
          <p:cNvGrpSpPr/>
          <p:nvPr/>
        </p:nvGrpSpPr>
        <p:grpSpPr>
          <a:xfrm rot="0">
            <a:off x="3850005" y="3164996"/>
            <a:ext cx="1698498" cy="395002"/>
            <a:chOff x="0" y="0"/>
            <a:chExt cx="2264664" cy="526669"/>
          </a:xfrm>
        </p:grpSpPr>
        <p:sp>
          <p:nvSpPr>
            <p:cNvPr name="Freeform 116" id="1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17" id="117"/>
          <p:cNvGrpSpPr/>
          <p:nvPr/>
        </p:nvGrpSpPr>
        <p:grpSpPr>
          <a:xfrm rot="0">
            <a:off x="3850005" y="3164996"/>
            <a:ext cx="1698498" cy="395002"/>
            <a:chOff x="0" y="0"/>
            <a:chExt cx="2264664" cy="526669"/>
          </a:xfrm>
        </p:grpSpPr>
        <p:sp>
          <p:nvSpPr>
            <p:cNvPr name="Freeform 118" id="1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19" id="119"/>
          <p:cNvGrpSpPr/>
          <p:nvPr/>
        </p:nvGrpSpPr>
        <p:grpSpPr>
          <a:xfrm rot="0">
            <a:off x="3850005" y="3164996"/>
            <a:ext cx="1698498" cy="395002"/>
            <a:chOff x="0" y="0"/>
            <a:chExt cx="2264664" cy="526669"/>
          </a:xfrm>
        </p:grpSpPr>
        <p:sp>
          <p:nvSpPr>
            <p:cNvPr name="Freeform 120" id="1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21" id="121"/>
          <p:cNvGrpSpPr/>
          <p:nvPr/>
        </p:nvGrpSpPr>
        <p:grpSpPr>
          <a:xfrm rot="0">
            <a:off x="3850005" y="3164996"/>
            <a:ext cx="1698498" cy="395002"/>
            <a:chOff x="0" y="0"/>
            <a:chExt cx="2264664" cy="526669"/>
          </a:xfrm>
        </p:grpSpPr>
        <p:sp>
          <p:nvSpPr>
            <p:cNvPr name="Freeform 122" id="1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23" id="12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11</a:t>
              </a:r>
            </a:p>
          </p:txBody>
        </p:sp>
      </p:grpSp>
      <p:grpSp>
        <p:nvGrpSpPr>
          <p:cNvPr name="Group 124" id="124"/>
          <p:cNvGrpSpPr/>
          <p:nvPr/>
        </p:nvGrpSpPr>
        <p:grpSpPr>
          <a:xfrm rot="0">
            <a:off x="5548503" y="3164996"/>
            <a:ext cx="1698498" cy="395002"/>
            <a:chOff x="0" y="0"/>
            <a:chExt cx="2264664" cy="526669"/>
          </a:xfrm>
        </p:grpSpPr>
        <p:sp>
          <p:nvSpPr>
            <p:cNvPr name="Freeform 125" id="1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26" id="126"/>
          <p:cNvGrpSpPr/>
          <p:nvPr/>
        </p:nvGrpSpPr>
        <p:grpSpPr>
          <a:xfrm rot="0">
            <a:off x="5548503" y="3164996"/>
            <a:ext cx="1698498" cy="395002"/>
            <a:chOff x="0" y="0"/>
            <a:chExt cx="2264664" cy="526669"/>
          </a:xfrm>
        </p:grpSpPr>
        <p:sp>
          <p:nvSpPr>
            <p:cNvPr name="Freeform 127" id="1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28" id="128"/>
          <p:cNvGrpSpPr/>
          <p:nvPr/>
        </p:nvGrpSpPr>
        <p:grpSpPr>
          <a:xfrm rot="0">
            <a:off x="5548503" y="3164996"/>
            <a:ext cx="1698498" cy="395002"/>
            <a:chOff x="0" y="0"/>
            <a:chExt cx="2264664" cy="526669"/>
          </a:xfrm>
        </p:grpSpPr>
        <p:sp>
          <p:nvSpPr>
            <p:cNvPr name="Freeform 129" id="1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0" id="130"/>
          <p:cNvGrpSpPr/>
          <p:nvPr/>
        </p:nvGrpSpPr>
        <p:grpSpPr>
          <a:xfrm rot="0">
            <a:off x="5548503" y="3164996"/>
            <a:ext cx="1698498" cy="395002"/>
            <a:chOff x="0" y="0"/>
            <a:chExt cx="2264664" cy="526669"/>
          </a:xfrm>
        </p:grpSpPr>
        <p:sp>
          <p:nvSpPr>
            <p:cNvPr name="Freeform 131" id="1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32" id="13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33" id="133"/>
          <p:cNvGrpSpPr/>
          <p:nvPr/>
        </p:nvGrpSpPr>
        <p:grpSpPr>
          <a:xfrm rot="0">
            <a:off x="7247001" y="3164996"/>
            <a:ext cx="1698498" cy="395002"/>
            <a:chOff x="0" y="0"/>
            <a:chExt cx="2264664" cy="526669"/>
          </a:xfrm>
        </p:grpSpPr>
        <p:sp>
          <p:nvSpPr>
            <p:cNvPr name="Freeform 134" id="1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35" id="135"/>
          <p:cNvGrpSpPr/>
          <p:nvPr/>
        </p:nvGrpSpPr>
        <p:grpSpPr>
          <a:xfrm rot="0">
            <a:off x="7247001" y="3164996"/>
            <a:ext cx="1698498" cy="395002"/>
            <a:chOff x="0" y="0"/>
            <a:chExt cx="2264664" cy="526669"/>
          </a:xfrm>
        </p:grpSpPr>
        <p:sp>
          <p:nvSpPr>
            <p:cNvPr name="Freeform 136" id="1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37" id="137"/>
          <p:cNvGrpSpPr/>
          <p:nvPr/>
        </p:nvGrpSpPr>
        <p:grpSpPr>
          <a:xfrm rot="0">
            <a:off x="7247001" y="3164996"/>
            <a:ext cx="1698498" cy="395002"/>
            <a:chOff x="0" y="0"/>
            <a:chExt cx="2264664" cy="526669"/>
          </a:xfrm>
        </p:grpSpPr>
        <p:sp>
          <p:nvSpPr>
            <p:cNvPr name="Freeform 138" id="1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9" id="139"/>
          <p:cNvGrpSpPr/>
          <p:nvPr/>
        </p:nvGrpSpPr>
        <p:grpSpPr>
          <a:xfrm rot="0">
            <a:off x="7247001" y="3164996"/>
            <a:ext cx="1698498" cy="395002"/>
            <a:chOff x="0" y="0"/>
            <a:chExt cx="2264664" cy="526669"/>
          </a:xfrm>
        </p:grpSpPr>
        <p:sp>
          <p:nvSpPr>
            <p:cNvPr name="Freeform 140" id="1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41" id="14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142" id="142"/>
          <p:cNvGrpSpPr/>
          <p:nvPr/>
        </p:nvGrpSpPr>
        <p:grpSpPr>
          <a:xfrm rot="0">
            <a:off x="8945499" y="3164996"/>
            <a:ext cx="1698498" cy="395002"/>
            <a:chOff x="0" y="0"/>
            <a:chExt cx="2264664" cy="526669"/>
          </a:xfrm>
        </p:grpSpPr>
        <p:sp>
          <p:nvSpPr>
            <p:cNvPr name="Freeform 143" id="1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44" id="144"/>
          <p:cNvGrpSpPr/>
          <p:nvPr/>
        </p:nvGrpSpPr>
        <p:grpSpPr>
          <a:xfrm rot="0">
            <a:off x="8945499" y="3164996"/>
            <a:ext cx="1698498" cy="395002"/>
            <a:chOff x="0" y="0"/>
            <a:chExt cx="2264664" cy="526669"/>
          </a:xfrm>
        </p:grpSpPr>
        <p:sp>
          <p:nvSpPr>
            <p:cNvPr name="Freeform 145" id="1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46" id="146"/>
          <p:cNvGrpSpPr/>
          <p:nvPr/>
        </p:nvGrpSpPr>
        <p:grpSpPr>
          <a:xfrm rot="0">
            <a:off x="8945499" y="3164996"/>
            <a:ext cx="1698498" cy="395002"/>
            <a:chOff x="0" y="0"/>
            <a:chExt cx="2264664" cy="526669"/>
          </a:xfrm>
        </p:grpSpPr>
        <p:sp>
          <p:nvSpPr>
            <p:cNvPr name="Freeform 147" id="1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48" id="148"/>
          <p:cNvGrpSpPr/>
          <p:nvPr/>
        </p:nvGrpSpPr>
        <p:grpSpPr>
          <a:xfrm rot="0">
            <a:off x="8945499" y="3164996"/>
            <a:ext cx="1698498" cy="395002"/>
            <a:chOff x="0" y="0"/>
            <a:chExt cx="2264664" cy="526669"/>
          </a:xfrm>
        </p:grpSpPr>
        <p:sp>
          <p:nvSpPr>
            <p:cNvPr name="Freeform 149" id="1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0" id="15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47</a:t>
              </a:r>
            </a:p>
          </p:txBody>
        </p:sp>
      </p:grpSp>
      <p:grpSp>
        <p:nvGrpSpPr>
          <p:cNvPr name="Group 151" id="151"/>
          <p:cNvGrpSpPr/>
          <p:nvPr/>
        </p:nvGrpSpPr>
        <p:grpSpPr>
          <a:xfrm rot="0">
            <a:off x="10643997" y="3164996"/>
            <a:ext cx="1698498" cy="395002"/>
            <a:chOff x="0" y="0"/>
            <a:chExt cx="2264664" cy="526669"/>
          </a:xfrm>
        </p:grpSpPr>
        <p:sp>
          <p:nvSpPr>
            <p:cNvPr name="Freeform 152" id="1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53" id="153"/>
          <p:cNvGrpSpPr/>
          <p:nvPr/>
        </p:nvGrpSpPr>
        <p:grpSpPr>
          <a:xfrm rot="0">
            <a:off x="10643997" y="3164996"/>
            <a:ext cx="1698498" cy="395002"/>
            <a:chOff x="0" y="0"/>
            <a:chExt cx="2264664" cy="526669"/>
          </a:xfrm>
        </p:grpSpPr>
        <p:sp>
          <p:nvSpPr>
            <p:cNvPr name="Freeform 154" id="1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55" id="155"/>
          <p:cNvGrpSpPr/>
          <p:nvPr/>
        </p:nvGrpSpPr>
        <p:grpSpPr>
          <a:xfrm rot="0">
            <a:off x="10643997" y="3164996"/>
            <a:ext cx="1698498" cy="395002"/>
            <a:chOff x="0" y="0"/>
            <a:chExt cx="2264664" cy="526669"/>
          </a:xfrm>
        </p:grpSpPr>
        <p:sp>
          <p:nvSpPr>
            <p:cNvPr name="Freeform 156" id="1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57" id="157"/>
          <p:cNvGrpSpPr/>
          <p:nvPr/>
        </p:nvGrpSpPr>
        <p:grpSpPr>
          <a:xfrm rot="0">
            <a:off x="10643997" y="3164996"/>
            <a:ext cx="1698498" cy="395002"/>
            <a:chOff x="0" y="0"/>
            <a:chExt cx="2264664" cy="526669"/>
          </a:xfrm>
        </p:grpSpPr>
        <p:sp>
          <p:nvSpPr>
            <p:cNvPr name="Freeform 158" id="1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9" id="15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61</a:t>
              </a:r>
            </a:p>
          </p:txBody>
        </p:sp>
      </p:grpSp>
      <p:grpSp>
        <p:nvGrpSpPr>
          <p:cNvPr name="Group 160" id="160"/>
          <p:cNvGrpSpPr/>
          <p:nvPr/>
        </p:nvGrpSpPr>
        <p:grpSpPr>
          <a:xfrm rot="0">
            <a:off x="850001" y="3550996"/>
            <a:ext cx="16587978" cy="8954"/>
            <a:chOff x="0" y="0"/>
            <a:chExt cx="22117304" cy="11938"/>
          </a:xfrm>
        </p:grpSpPr>
        <p:sp>
          <p:nvSpPr>
            <p:cNvPr name="Freeform 161" id="161"/>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162" id="162"/>
          <p:cNvGrpSpPr/>
          <p:nvPr/>
        </p:nvGrpSpPr>
        <p:grpSpPr>
          <a:xfrm rot="0">
            <a:off x="1070000" y="3559997"/>
            <a:ext cx="2699956" cy="395002"/>
            <a:chOff x="0" y="0"/>
            <a:chExt cx="3599942" cy="526669"/>
          </a:xfrm>
        </p:grpSpPr>
        <p:sp>
          <p:nvSpPr>
            <p:cNvPr name="Freeform 163" id="16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64" id="164"/>
          <p:cNvGrpSpPr/>
          <p:nvPr/>
        </p:nvGrpSpPr>
        <p:grpSpPr>
          <a:xfrm rot="0">
            <a:off x="1070000" y="3559997"/>
            <a:ext cx="2699956" cy="395002"/>
            <a:chOff x="0" y="0"/>
            <a:chExt cx="3599942" cy="526669"/>
          </a:xfrm>
        </p:grpSpPr>
        <p:sp>
          <p:nvSpPr>
            <p:cNvPr name="Freeform 165" id="16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66" id="166"/>
          <p:cNvGrpSpPr/>
          <p:nvPr/>
        </p:nvGrpSpPr>
        <p:grpSpPr>
          <a:xfrm rot="0">
            <a:off x="1070000" y="3559997"/>
            <a:ext cx="2700004" cy="395002"/>
            <a:chOff x="0" y="0"/>
            <a:chExt cx="3600005" cy="526669"/>
          </a:xfrm>
        </p:grpSpPr>
        <p:sp>
          <p:nvSpPr>
            <p:cNvPr name="Freeform 167" id="16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68" id="168"/>
          <p:cNvGrpSpPr/>
          <p:nvPr/>
        </p:nvGrpSpPr>
        <p:grpSpPr>
          <a:xfrm rot="0">
            <a:off x="1070000" y="3559997"/>
            <a:ext cx="2700004" cy="395002"/>
            <a:chOff x="0" y="0"/>
            <a:chExt cx="3600005" cy="526669"/>
          </a:xfrm>
        </p:grpSpPr>
        <p:sp>
          <p:nvSpPr>
            <p:cNvPr name="Freeform 169" id="169"/>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70" id="170"/>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171" id="171"/>
          <p:cNvGrpSpPr/>
          <p:nvPr/>
        </p:nvGrpSpPr>
        <p:grpSpPr>
          <a:xfrm rot="0">
            <a:off x="3850005" y="3559997"/>
            <a:ext cx="1698498" cy="395002"/>
            <a:chOff x="0" y="0"/>
            <a:chExt cx="2264664" cy="526669"/>
          </a:xfrm>
        </p:grpSpPr>
        <p:sp>
          <p:nvSpPr>
            <p:cNvPr name="Freeform 172" id="1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73" id="173"/>
          <p:cNvGrpSpPr/>
          <p:nvPr/>
        </p:nvGrpSpPr>
        <p:grpSpPr>
          <a:xfrm rot="0">
            <a:off x="3850005" y="3559997"/>
            <a:ext cx="1698498" cy="395002"/>
            <a:chOff x="0" y="0"/>
            <a:chExt cx="2264664" cy="526669"/>
          </a:xfrm>
        </p:grpSpPr>
        <p:sp>
          <p:nvSpPr>
            <p:cNvPr name="Freeform 174" id="1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75" id="175"/>
          <p:cNvGrpSpPr/>
          <p:nvPr/>
        </p:nvGrpSpPr>
        <p:grpSpPr>
          <a:xfrm rot="0">
            <a:off x="3850005" y="3559997"/>
            <a:ext cx="1698498" cy="395002"/>
            <a:chOff x="0" y="0"/>
            <a:chExt cx="2264664" cy="526669"/>
          </a:xfrm>
        </p:grpSpPr>
        <p:sp>
          <p:nvSpPr>
            <p:cNvPr name="Freeform 176" id="1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77" id="177"/>
          <p:cNvGrpSpPr/>
          <p:nvPr/>
        </p:nvGrpSpPr>
        <p:grpSpPr>
          <a:xfrm rot="0">
            <a:off x="3850005" y="3559997"/>
            <a:ext cx="1698498" cy="395002"/>
            <a:chOff x="0" y="0"/>
            <a:chExt cx="2264664" cy="526669"/>
          </a:xfrm>
        </p:grpSpPr>
        <p:sp>
          <p:nvSpPr>
            <p:cNvPr name="Freeform 178" id="1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79" id="17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180" id="180"/>
          <p:cNvGrpSpPr/>
          <p:nvPr/>
        </p:nvGrpSpPr>
        <p:grpSpPr>
          <a:xfrm rot="0">
            <a:off x="5548503" y="3559997"/>
            <a:ext cx="1698498" cy="395002"/>
            <a:chOff x="0" y="0"/>
            <a:chExt cx="2264664" cy="526669"/>
          </a:xfrm>
        </p:grpSpPr>
        <p:sp>
          <p:nvSpPr>
            <p:cNvPr name="Freeform 181" id="1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82" id="182"/>
          <p:cNvGrpSpPr/>
          <p:nvPr/>
        </p:nvGrpSpPr>
        <p:grpSpPr>
          <a:xfrm rot="0">
            <a:off x="5548503" y="3559997"/>
            <a:ext cx="1698498" cy="395002"/>
            <a:chOff x="0" y="0"/>
            <a:chExt cx="2264664" cy="526669"/>
          </a:xfrm>
        </p:grpSpPr>
        <p:sp>
          <p:nvSpPr>
            <p:cNvPr name="Freeform 183" id="1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84" id="184"/>
          <p:cNvGrpSpPr/>
          <p:nvPr/>
        </p:nvGrpSpPr>
        <p:grpSpPr>
          <a:xfrm rot="0">
            <a:off x="5548503" y="3559997"/>
            <a:ext cx="1698498" cy="395002"/>
            <a:chOff x="0" y="0"/>
            <a:chExt cx="2264664" cy="526669"/>
          </a:xfrm>
        </p:grpSpPr>
        <p:sp>
          <p:nvSpPr>
            <p:cNvPr name="Freeform 185" id="1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86" id="186"/>
          <p:cNvGrpSpPr/>
          <p:nvPr/>
        </p:nvGrpSpPr>
        <p:grpSpPr>
          <a:xfrm rot="0">
            <a:off x="5548503" y="3559997"/>
            <a:ext cx="1698498" cy="395002"/>
            <a:chOff x="0" y="0"/>
            <a:chExt cx="2264664" cy="526669"/>
          </a:xfrm>
        </p:grpSpPr>
        <p:sp>
          <p:nvSpPr>
            <p:cNvPr name="Freeform 187" id="1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88" id="18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89" id="189"/>
          <p:cNvGrpSpPr/>
          <p:nvPr/>
        </p:nvGrpSpPr>
        <p:grpSpPr>
          <a:xfrm rot="0">
            <a:off x="7247001" y="3559997"/>
            <a:ext cx="1698498" cy="395002"/>
            <a:chOff x="0" y="0"/>
            <a:chExt cx="2264664" cy="526669"/>
          </a:xfrm>
        </p:grpSpPr>
        <p:sp>
          <p:nvSpPr>
            <p:cNvPr name="Freeform 190" id="1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91" id="191"/>
          <p:cNvGrpSpPr/>
          <p:nvPr/>
        </p:nvGrpSpPr>
        <p:grpSpPr>
          <a:xfrm rot="0">
            <a:off x="7247001" y="3559997"/>
            <a:ext cx="1698498" cy="395002"/>
            <a:chOff x="0" y="0"/>
            <a:chExt cx="2264664" cy="526669"/>
          </a:xfrm>
        </p:grpSpPr>
        <p:sp>
          <p:nvSpPr>
            <p:cNvPr name="Freeform 192" id="1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93" id="193"/>
          <p:cNvGrpSpPr/>
          <p:nvPr/>
        </p:nvGrpSpPr>
        <p:grpSpPr>
          <a:xfrm rot="0">
            <a:off x="7247001" y="3559997"/>
            <a:ext cx="1698498" cy="395002"/>
            <a:chOff x="0" y="0"/>
            <a:chExt cx="2264664" cy="526669"/>
          </a:xfrm>
        </p:grpSpPr>
        <p:sp>
          <p:nvSpPr>
            <p:cNvPr name="Freeform 194" id="1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95" id="195"/>
          <p:cNvGrpSpPr/>
          <p:nvPr/>
        </p:nvGrpSpPr>
        <p:grpSpPr>
          <a:xfrm rot="0">
            <a:off x="7247001" y="3559997"/>
            <a:ext cx="1698498" cy="395002"/>
            <a:chOff x="0" y="0"/>
            <a:chExt cx="2264664" cy="526669"/>
          </a:xfrm>
        </p:grpSpPr>
        <p:sp>
          <p:nvSpPr>
            <p:cNvPr name="Freeform 196" id="1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97" id="19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198" id="198"/>
          <p:cNvGrpSpPr/>
          <p:nvPr/>
        </p:nvGrpSpPr>
        <p:grpSpPr>
          <a:xfrm rot="0">
            <a:off x="8945499" y="3559997"/>
            <a:ext cx="1698498" cy="395002"/>
            <a:chOff x="0" y="0"/>
            <a:chExt cx="2264664" cy="526669"/>
          </a:xfrm>
        </p:grpSpPr>
        <p:sp>
          <p:nvSpPr>
            <p:cNvPr name="Freeform 199" id="1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0" id="200"/>
          <p:cNvGrpSpPr/>
          <p:nvPr/>
        </p:nvGrpSpPr>
        <p:grpSpPr>
          <a:xfrm rot="0">
            <a:off x="8945499" y="3559997"/>
            <a:ext cx="1698498" cy="395002"/>
            <a:chOff x="0" y="0"/>
            <a:chExt cx="2264664" cy="526669"/>
          </a:xfrm>
        </p:grpSpPr>
        <p:sp>
          <p:nvSpPr>
            <p:cNvPr name="Freeform 201" id="2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02" id="202"/>
          <p:cNvGrpSpPr/>
          <p:nvPr/>
        </p:nvGrpSpPr>
        <p:grpSpPr>
          <a:xfrm rot="0">
            <a:off x="8945499" y="3559997"/>
            <a:ext cx="1698498" cy="395002"/>
            <a:chOff x="0" y="0"/>
            <a:chExt cx="2264664" cy="526669"/>
          </a:xfrm>
        </p:grpSpPr>
        <p:sp>
          <p:nvSpPr>
            <p:cNvPr name="Freeform 203" id="2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04" id="204"/>
          <p:cNvGrpSpPr/>
          <p:nvPr/>
        </p:nvGrpSpPr>
        <p:grpSpPr>
          <a:xfrm rot="0">
            <a:off x="8945499" y="3559997"/>
            <a:ext cx="1698498" cy="395002"/>
            <a:chOff x="0" y="0"/>
            <a:chExt cx="2264664" cy="526669"/>
          </a:xfrm>
        </p:grpSpPr>
        <p:sp>
          <p:nvSpPr>
            <p:cNvPr name="Freeform 205" id="2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06" id="20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207" id="207"/>
          <p:cNvGrpSpPr/>
          <p:nvPr/>
        </p:nvGrpSpPr>
        <p:grpSpPr>
          <a:xfrm rot="0">
            <a:off x="10643997" y="3559997"/>
            <a:ext cx="1698498" cy="395002"/>
            <a:chOff x="0" y="0"/>
            <a:chExt cx="2264664" cy="526669"/>
          </a:xfrm>
        </p:grpSpPr>
        <p:sp>
          <p:nvSpPr>
            <p:cNvPr name="Freeform 208" id="2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9" id="209"/>
          <p:cNvGrpSpPr/>
          <p:nvPr/>
        </p:nvGrpSpPr>
        <p:grpSpPr>
          <a:xfrm rot="0">
            <a:off x="10643997" y="3559997"/>
            <a:ext cx="1698498" cy="395002"/>
            <a:chOff x="0" y="0"/>
            <a:chExt cx="2264664" cy="526669"/>
          </a:xfrm>
        </p:grpSpPr>
        <p:sp>
          <p:nvSpPr>
            <p:cNvPr name="Freeform 210" id="2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11" id="211"/>
          <p:cNvGrpSpPr/>
          <p:nvPr/>
        </p:nvGrpSpPr>
        <p:grpSpPr>
          <a:xfrm rot="0">
            <a:off x="10643997" y="3559997"/>
            <a:ext cx="1698498" cy="395002"/>
            <a:chOff x="0" y="0"/>
            <a:chExt cx="2264664" cy="526669"/>
          </a:xfrm>
        </p:grpSpPr>
        <p:sp>
          <p:nvSpPr>
            <p:cNvPr name="Freeform 212" id="2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13" id="213"/>
          <p:cNvGrpSpPr/>
          <p:nvPr/>
        </p:nvGrpSpPr>
        <p:grpSpPr>
          <a:xfrm rot="0">
            <a:off x="10643997" y="3559997"/>
            <a:ext cx="1698498" cy="395002"/>
            <a:chOff x="0" y="0"/>
            <a:chExt cx="2264664" cy="526669"/>
          </a:xfrm>
        </p:grpSpPr>
        <p:sp>
          <p:nvSpPr>
            <p:cNvPr name="Freeform 214" id="2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15" id="21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216" id="216"/>
          <p:cNvGrpSpPr/>
          <p:nvPr/>
        </p:nvGrpSpPr>
        <p:grpSpPr>
          <a:xfrm rot="0">
            <a:off x="12342505" y="3559997"/>
            <a:ext cx="1698498" cy="395002"/>
            <a:chOff x="0" y="0"/>
            <a:chExt cx="2264664" cy="526669"/>
          </a:xfrm>
        </p:grpSpPr>
        <p:sp>
          <p:nvSpPr>
            <p:cNvPr name="Freeform 217" id="2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18" id="218"/>
          <p:cNvGrpSpPr/>
          <p:nvPr/>
        </p:nvGrpSpPr>
        <p:grpSpPr>
          <a:xfrm rot="0">
            <a:off x="12342505" y="3559997"/>
            <a:ext cx="1698498" cy="395002"/>
            <a:chOff x="0" y="0"/>
            <a:chExt cx="2264664" cy="526669"/>
          </a:xfrm>
        </p:grpSpPr>
        <p:sp>
          <p:nvSpPr>
            <p:cNvPr name="Freeform 219" id="2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0" id="220"/>
          <p:cNvGrpSpPr/>
          <p:nvPr/>
        </p:nvGrpSpPr>
        <p:grpSpPr>
          <a:xfrm rot="0">
            <a:off x="12342505" y="3559997"/>
            <a:ext cx="1698498" cy="395002"/>
            <a:chOff x="0" y="0"/>
            <a:chExt cx="2264664" cy="526669"/>
          </a:xfrm>
        </p:grpSpPr>
        <p:sp>
          <p:nvSpPr>
            <p:cNvPr name="Freeform 221" id="2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22" id="222"/>
          <p:cNvGrpSpPr/>
          <p:nvPr/>
        </p:nvGrpSpPr>
        <p:grpSpPr>
          <a:xfrm rot="0">
            <a:off x="12342505" y="3559997"/>
            <a:ext cx="1698498" cy="395002"/>
            <a:chOff x="0" y="0"/>
            <a:chExt cx="2264664" cy="526669"/>
          </a:xfrm>
        </p:grpSpPr>
        <p:sp>
          <p:nvSpPr>
            <p:cNvPr name="Freeform 223" id="2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24" id="22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225" id="225"/>
          <p:cNvGrpSpPr/>
          <p:nvPr/>
        </p:nvGrpSpPr>
        <p:grpSpPr>
          <a:xfrm rot="0">
            <a:off x="14041003" y="3559997"/>
            <a:ext cx="1698498" cy="395002"/>
            <a:chOff x="0" y="0"/>
            <a:chExt cx="2264664" cy="526669"/>
          </a:xfrm>
        </p:grpSpPr>
        <p:sp>
          <p:nvSpPr>
            <p:cNvPr name="Freeform 226" id="2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27" id="227"/>
          <p:cNvGrpSpPr/>
          <p:nvPr/>
        </p:nvGrpSpPr>
        <p:grpSpPr>
          <a:xfrm rot="0">
            <a:off x="14041003" y="3559997"/>
            <a:ext cx="1698498" cy="395002"/>
            <a:chOff x="0" y="0"/>
            <a:chExt cx="2264664" cy="526669"/>
          </a:xfrm>
        </p:grpSpPr>
        <p:sp>
          <p:nvSpPr>
            <p:cNvPr name="Freeform 228" id="2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9" id="229"/>
          <p:cNvGrpSpPr/>
          <p:nvPr/>
        </p:nvGrpSpPr>
        <p:grpSpPr>
          <a:xfrm rot="0">
            <a:off x="14041003" y="3559997"/>
            <a:ext cx="1698498" cy="395002"/>
            <a:chOff x="0" y="0"/>
            <a:chExt cx="2264664" cy="526669"/>
          </a:xfrm>
        </p:grpSpPr>
        <p:sp>
          <p:nvSpPr>
            <p:cNvPr name="Freeform 230" id="2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31" id="231"/>
          <p:cNvGrpSpPr/>
          <p:nvPr/>
        </p:nvGrpSpPr>
        <p:grpSpPr>
          <a:xfrm rot="0">
            <a:off x="14041003" y="3559997"/>
            <a:ext cx="1698498" cy="395002"/>
            <a:chOff x="0" y="0"/>
            <a:chExt cx="2264664" cy="526669"/>
          </a:xfrm>
        </p:grpSpPr>
        <p:sp>
          <p:nvSpPr>
            <p:cNvPr name="Freeform 232" id="2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33" id="23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234" id="234"/>
          <p:cNvGrpSpPr/>
          <p:nvPr/>
        </p:nvGrpSpPr>
        <p:grpSpPr>
          <a:xfrm rot="0">
            <a:off x="15739501" y="3559997"/>
            <a:ext cx="1698498" cy="395002"/>
            <a:chOff x="0" y="0"/>
            <a:chExt cx="2264664" cy="526669"/>
          </a:xfrm>
        </p:grpSpPr>
        <p:sp>
          <p:nvSpPr>
            <p:cNvPr name="Freeform 235" id="2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36" id="236"/>
          <p:cNvGrpSpPr/>
          <p:nvPr/>
        </p:nvGrpSpPr>
        <p:grpSpPr>
          <a:xfrm rot="0">
            <a:off x="15739501" y="3559997"/>
            <a:ext cx="1698498" cy="395002"/>
            <a:chOff x="0" y="0"/>
            <a:chExt cx="2264664" cy="526669"/>
          </a:xfrm>
        </p:grpSpPr>
        <p:sp>
          <p:nvSpPr>
            <p:cNvPr name="Freeform 237" id="2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38" id="238"/>
          <p:cNvGrpSpPr/>
          <p:nvPr/>
        </p:nvGrpSpPr>
        <p:grpSpPr>
          <a:xfrm rot="0">
            <a:off x="15739501" y="3559997"/>
            <a:ext cx="1698498" cy="395002"/>
            <a:chOff x="0" y="0"/>
            <a:chExt cx="2264664" cy="526669"/>
          </a:xfrm>
        </p:grpSpPr>
        <p:sp>
          <p:nvSpPr>
            <p:cNvPr name="Freeform 239" id="2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40" id="240"/>
          <p:cNvGrpSpPr/>
          <p:nvPr/>
        </p:nvGrpSpPr>
        <p:grpSpPr>
          <a:xfrm rot="0">
            <a:off x="15739501" y="3559997"/>
            <a:ext cx="1698498" cy="395002"/>
            <a:chOff x="0" y="0"/>
            <a:chExt cx="2264664" cy="526669"/>
          </a:xfrm>
        </p:grpSpPr>
        <p:sp>
          <p:nvSpPr>
            <p:cNvPr name="Freeform 241" id="2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42" id="24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243" id="243"/>
          <p:cNvGrpSpPr/>
          <p:nvPr/>
        </p:nvGrpSpPr>
        <p:grpSpPr>
          <a:xfrm rot="0">
            <a:off x="850001" y="3945998"/>
            <a:ext cx="16587978" cy="8954"/>
            <a:chOff x="0" y="0"/>
            <a:chExt cx="22117304" cy="11938"/>
          </a:xfrm>
        </p:grpSpPr>
        <p:sp>
          <p:nvSpPr>
            <p:cNvPr name="Freeform 244" id="244"/>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245" id="245"/>
          <p:cNvGrpSpPr/>
          <p:nvPr/>
        </p:nvGrpSpPr>
        <p:grpSpPr>
          <a:xfrm rot="0">
            <a:off x="1070000" y="3954999"/>
            <a:ext cx="2699956" cy="395002"/>
            <a:chOff x="0" y="0"/>
            <a:chExt cx="3599942" cy="526669"/>
          </a:xfrm>
        </p:grpSpPr>
        <p:sp>
          <p:nvSpPr>
            <p:cNvPr name="Freeform 246" id="24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247" id="247"/>
          <p:cNvGrpSpPr/>
          <p:nvPr/>
        </p:nvGrpSpPr>
        <p:grpSpPr>
          <a:xfrm rot="0">
            <a:off x="1070000" y="3954999"/>
            <a:ext cx="2699956" cy="395002"/>
            <a:chOff x="0" y="0"/>
            <a:chExt cx="3599942" cy="526669"/>
          </a:xfrm>
        </p:grpSpPr>
        <p:sp>
          <p:nvSpPr>
            <p:cNvPr name="Freeform 248" id="24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249" id="249"/>
          <p:cNvGrpSpPr/>
          <p:nvPr/>
        </p:nvGrpSpPr>
        <p:grpSpPr>
          <a:xfrm rot="0">
            <a:off x="1070000" y="3954999"/>
            <a:ext cx="2700004" cy="395002"/>
            <a:chOff x="0" y="0"/>
            <a:chExt cx="3600005" cy="526669"/>
          </a:xfrm>
        </p:grpSpPr>
        <p:sp>
          <p:nvSpPr>
            <p:cNvPr name="Freeform 250" id="25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251" id="251"/>
          <p:cNvGrpSpPr/>
          <p:nvPr/>
        </p:nvGrpSpPr>
        <p:grpSpPr>
          <a:xfrm rot="0">
            <a:off x="1070000" y="3954999"/>
            <a:ext cx="2700004" cy="395002"/>
            <a:chOff x="0" y="0"/>
            <a:chExt cx="3600005" cy="526669"/>
          </a:xfrm>
        </p:grpSpPr>
        <p:sp>
          <p:nvSpPr>
            <p:cNvPr name="Freeform 252" id="252"/>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253" id="253"/>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254" id="254"/>
          <p:cNvGrpSpPr/>
          <p:nvPr/>
        </p:nvGrpSpPr>
        <p:grpSpPr>
          <a:xfrm rot="0">
            <a:off x="3850005" y="3954999"/>
            <a:ext cx="1698498" cy="395002"/>
            <a:chOff x="0" y="0"/>
            <a:chExt cx="2264664" cy="526669"/>
          </a:xfrm>
        </p:grpSpPr>
        <p:sp>
          <p:nvSpPr>
            <p:cNvPr name="Freeform 255" id="2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56" id="256"/>
          <p:cNvGrpSpPr/>
          <p:nvPr/>
        </p:nvGrpSpPr>
        <p:grpSpPr>
          <a:xfrm rot="0">
            <a:off x="3850005" y="3954999"/>
            <a:ext cx="1698498" cy="395002"/>
            <a:chOff x="0" y="0"/>
            <a:chExt cx="2264664" cy="526669"/>
          </a:xfrm>
        </p:grpSpPr>
        <p:sp>
          <p:nvSpPr>
            <p:cNvPr name="Freeform 257" id="2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58" id="258"/>
          <p:cNvGrpSpPr/>
          <p:nvPr/>
        </p:nvGrpSpPr>
        <p:grpSpPr>
          <a:xfrm rot="0">
            <a:off x="3850005" y="3954999"/>
            <a:ext cx="1698498" cy="395002"/>
            <a:chOff x="0" y="0"/>
            <a:chExt cx="2264664" cy="526669"/>
          </a:xfrm>
        </p:grpSpPr>
        <p:sp>
          <p:nvSpPr>
            <p:cNvPr name="Freeform 259" id="2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0" id="260"/>
          <p:cNvGrpSpPr/>
          <p:nvPr/>
        </p:nvGrpSpPr>
        <p:grpSpPr>
          <a:xfrm rot="0">
            <a:off x="3850005" y="3954999"/>
            <a:ext cx="1698498" cy="395002"/>
            <a:chOff x="0" y="0"/>
            <a:chExt cx="2264664" cy="526669"/>
          </a:xfrm>
        </p:grpSpPr>
        <p:sp>
          <p:nvSpPr>
            <p:cNvPr name="Freeform 261" id="2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62" id="26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a:t>
              </a:r>
            </a:p>
          </p:txBody>
        </p:sp>
      </p:grpSp>
      <p:grpSp>
        <p:nvGrpSpPr>
          <p:cNvPr name="Group 263" id="263"/>
          <p:cNvGrpSpPr/>
          <p:nvPr/>
        </p:nvGrpSpPr>
        <p:grpSpPr>
          <a:xfrm rot="0">
            <a:off x="5548503" y="3954999"/>
            <a:ext cx="1698498" cy="395002"/>
            <a:chOff x="0" y="0"/>
            <a:chExt cx="2264664" cy="526669"/>
          </a:xfrm>
        </p:grpSpPr>
        <p:sp>
          <p:nvSpPr>
            <p:cNvPr name="Freeform 264" id="2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65" id="265"/>
          <p:cNvGrpSpPr/>
          <p:nvPr/>
        </p:nvGrpSpPr>
        <p:grpSpPr>
          <a:xfrm rot="0">
            <a:off x="5548503" y="3954999"/>
            <a:ext cx="1698498" cy="395002"/>
            <a:chOff x="0" y="0"/>
            <a:chExt cx="2264664" cy="526669"/>
          </a:xfrm>
        </p:grpSpPr>
        <p:sp>
          <p:nvSpPr>
            <p:cNvPr name="Freeform 266" id="2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67" id="267"/>
          <p:cNvGrpSpPr/>
          <p:nvPr/>
        </p:nvGrpSpPr>
        <p:grpSpPr>
          <a:xfrm rot="0">
            <a:off x="5548503" y="3954999"/>
            <a:ext cx="1698498" cy="395002"/>
            <a:chOff x="0" y="0"/>
            <a:chExt cx="2264664" cy="526669"/>
          </a:xfrm>
        </p:grpSpPr>
        <p:sp>
          <p:nvSpPr>
            <p:cNvPr name="Freeform 268" id="2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9" id="269"/>
          <p:cNvGrpSpPr/>
          <p:nvPr/>
        </p:nvGrpSpPr>
        <p:grpSpPr>
          <a:xfrm rot="0">
            <a:off x="5548503" y="3954999"/>
            <a:ext cx="1698498" cy="395002"/>
            <a:chOff x="0" y="0"/>
            <a:chExt cx="2264664" cy="526669"/>
          </a:xfrm>
        </p:grpSpPr>
        <p:sp>
          <p:nvSpPr>
            <p:cNvPr name="Freeform 270" id="2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71" id="27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+0</a:t>
              </a:r>
            </a:p>
          </p:txBody>
        </p:sp>
      </p:grpSp>
      <p:grpSp>
        <p:nvGrpSpPr>
          <p:cNvPr name="Group 272" id="272"/>
          <p:cNvGrpSpPr/>
          <p:nvPr/>
        </p:nvGrpSpPr>
        <p:grpSpPr>
          <a:xfrm rot="0">
            <a:off x="7247001" y="3954999"/>
            <a:ext cx="1698498" cy="395002"/>
            <a:chOff x="0" y="0"/>
            <a:chExt cx="2264664" cy="526669"/>
          </a:xfrm>
        </p:grpSpPr>
        <p:sp>
          <p:nvSpPr>
            <p:cNvPr name="Freeform 273" id="2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74" id="274"/>
          <p:cNvGrpSpPr/>
          <p:nvPr/>
        </p:nvGrpSpPr>
        <p:grpSpPr>
          <a:xfrm rot="0">
            <a:off x="7247001" y="3954999"/>
            <a:ext cx="1698498" cy="395002"/>
            <a:chOff x="0" y="0"/>
            <a:chExt cx="2264664" cy="526669"/>
          </a:xfrm>
        </p:grpSpPr>
        <p:sp>
          <p:nvSpPr>
            <p:cNvPr name="Freeform 275" id="2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76" id="276"/>
          <p:cNvGrpSpPr/>
          <p:nvPr/>
        </p:nvGrpSpPr>
        <p:grpSpPr>
          <a:xfrm rot="0">
            <a:off x="7247001" y="3954999"/>
            <a:ext cx="1698498" cy="395002"/>
            <a:chOff x="0" y="0"/>
            <a:chExt cx="2264664" cy="526669"/>
          </a:xfrm>
        </p:grpSpPr>
        <p:sp>
          <p:nvSpPr>
            <p:cNvPr name="Freeform 277" id="2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78" id="278"/>
          <p:cNvGrpSpPr/>
          <p:nvPr/>
        </p:nvGrpSpPr>
        <p:grpSpPr>
          <a:xfrm rot="0">
            <a:off x="7247001" y="3954999"/>
            <a:ext cx="1698498" cy="395002"/>
            <a:chOff x="0" y="0"/>
            <a:chExt cx="2264664" cy="526669"/>
          </a:xfrm>
        </p:grpSpPr>
        <p:sp>
          <p:nvSpPr>
            <p:cNvPr name="Freeform 279" id="2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0" id="28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+5</a:t>
              </a:r>
            </a:p>
          </p:txBody>
        </p:sp>
      </p:grpSp>
      <p:grpSp>
        <p:nvGrpSpPr>
          <p:cNvPr name="Group 281" id="281"/>
          <p:cNvGrpSpPr/>
          <p:nvPr/>
        </p:nvGrpSpPr>
        <p:grpSpPr>
          <a:xfrm rot="0">
            <a:off x="8945499" y="3954999"/>
            <a:ext cx="1698498" cy="395002"/>
            <a:chOff x="0" y="0"/>
            <a:chExt cx="2264664" cy="526669"/>
          </a:xfrm>
        </p:grpSpPr>
        <p:sp>
          <p:nvSpPr>
            <p:cNvPr name="Freeform 282" id="2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83" id="283"/>
          <p:cNvGrpSpPr/>
          <p:nvPr/>
        </p:nvGrpSpPr>
        <p:grpSpPr>
          <a:xfrm rot="0">
            <a:off x="8945499" y="3954999"/>
            <a:ext cx="1698498" cy="395002"/>
            <a:chOff x="0" y="0"/>
            <a:chExt cx="2264664" cy="526669"/>
          </a:xfrm>
        </p:grpSpPr>
        <p:sp>
          <p:nvSpPr>
            <p:cNvPr name="Freeform 284" id="2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85" id="285"/>
          <p:cNvGrpSpPr/>
          <p:nvPr/>
        </p:nvGrpSpPr>
        <p:grpSpPr>
          <a:xfrm rot="0">
            <a:off x="8945499" y="3954999"/>
            <a:ext cx="1698498" cy="395002"/>
            <a:chOff x="0" y="0"/>
            <a:chExt cx="2264664" cy="526669"/>
          </a:xfrm>
        </p:grpSpPr>
        <p:sp>
          <p:nvSpPr>
            <p:cNvPr name="Freeform 286" id="2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87" id="287"/>
          <p:cNvGrpSpPr/>
          <p:nvPr/>
        </p:nvGrpSpPr>
        <p:grpSpPr>
          <a:xfrm rot="0">
            <a:off x="8945499" y="3954999"/>
            <a:ext cx="1698498" cy="395002"/>
            <a:chOff x="0" y="0"/>
            <a:chExt cx="2264664" cy="526669"/>
          </a:xfrm>
        </p:grpSpPr>
        <p:sp>
          <p:nvSpPr>
            <p:cNvPr name="Freeform 288" id="2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9" id="28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+14</a:t>
              </a:r>
            </a:p>
          </p:txBody>
        </p:sp>
      </p:grpSp>
      <p:grpSp>
        <p:nvGrpSpPr>
          <p:cNvPr name="Group 290" id="290"/>
          <p:cNvGrpSpPr/>
          <p:nvPr/>
        </p:nvGrpSpPr>
        <p:grpSpPr>
          <a:xfrm rot="0">
            <a:off x="10643997" y="3954999"/>
            <a:ext cx="1698498" cy="395002"/>
            <a:chOff x="0" y="0"/>
            <a:chExt cx="2264664" cy="526669"/>
          </a:xfrm>
        </p:grpSpPr>
        <p:sp>
          <p:nvSpPr>
            <p:cNvPr name="Freeform 291" id="2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92" id="292"/>
          <p:cNvGrpSpPr/>
          <p:nvPr/>
        </p:nvGrpSpPr>
        <p:grpSpPr>
          <a:xfrm rot="0">
            <a:off x="10643997" y="3954999"/>
            <a:ext cx="1698498" cy="395002"/>
            <a:chOff x="0" y="0"/>
            <a:chExt cx="2264664" cy="526669"/>
          </a:xfrm>
        </p:grpSpPr>
        <p:sp>
          <p:nvSpPr>
            <p:cNvPr name="Freeform 293" id="2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94" id="294"/>
          <p:cNvGrpSpPr/>
          <p:nvPr/>
        </p:nvGrpSpPr>
        <p:grpSpPr>
          <a:xfrm rot="0">
            <a:off x="10643997" y="3954999"/>
            <a:ext cx="1698498" cy="395002"/>
            <a:chOff x="0" y="0"/>
            <a:chExt cx="2264664" cy="526669"/>
          </a:xfrm>
        </p:grpSpPr>
        <p:sp>
          <p:nvSpPr>
            <p:cNvPr name="Freeform 295" id="2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96" id="296"/>
          <p:cNvGrpSpPr/>
          <p:nvPr/>
        </p:nvGrpSpPr>
        <p:grpSpPr>
          <a:xfrm rot="0">
            <a:off x="10643997" y="3954999"/>
            <a:ext cx="1698498" cy="395002"/>
            <a:chOff x="0" y="0"/>
            <a:chExt cx="2264664" cy="526669"/>
          </a:xfrm>
        </p:grpSpPr>
        <p:sp>
          <p:nvSpPr>
            <p:cNvPr name="Freeform 297" id="2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98" id="29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+22</a:t>
              </a:r>
            </a:p>
          </p:txBody>
        </p:sp>
      </p:grpSp>
      <p:grpSp>
        <p:nvGrpSpPr>
          <p:cNvPr name="Group 299" id="299"/>
          <p:cNvGrpSpPr/>
          <p:nvPr/>
        </p:nvGrpSpPr>
        <p:grpSpPr>
          <a:xfrm rot="0">
            <a:off x="850001" y="4341000"/>
            <a:ext cx="16587978" cy="8954"/>
            <a:chOff x="0" y="0"/>
            <a:chExt cx="22117304" cy="11938"/>
          </a:xfrm>
        </p:grpSpPr>
        <p:sp>
          <p:nvSpPr>
            <p:cNvPr name="Freeform 300" id="300"/>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01" id="301"/>
          <p:cNvGrpSpPr/>
          <p:nvPr/>
        </p:nvGrpSpPr>
        <p:grpSpPr>
          <a:xfrm rot="0">
            <a:off x="850001" y="4350001"/>
            <a:ext cx="16587978" cy="395002"/>
            <a:chOff x="0" y="0"/>
            <a:chExt cx="22117304" cy="526669"/>
          </a:xfrm>
        </p:grpSpPr>
        <p:sp>
          <p:nvSpPr>
            <p:cNvPr name="Freeform 302" id="302"/>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303" id="303"/>
          <p:cNvGrpSpPr/>
          <p:nvPr/>
        </p:nvGrpSpPr>
        <p:grpSpPr>
          <a:xfrm rot="0">
            <a:off x="1070000" y="4350001"/>
            <a:ext cx="16587978" cy="395002"/>
            <a:chOff x="0" y="0"/>
            <a:chExt cx="22117304" cy="526669"/>
          </a:xfrm>
        </p:grpSpPr>
        <p:sp>
          <p:nvSpPr>
            <p:cNvPr name="Freeform 304" id="304"/>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305" id="305"/>
          <p:cNvGrpSpPr/>
          <p:nvPr/>
        </p:nvGrpSpPr>
        <p:grpSpPr>
          <a:xfrm rot="0">
            <a:off x="1070000" y="4342857"/>
            <a:ext cx="16587978" cy="402146"/>
            <a:chOff x="0" y="0"/>
            <a:chExt cx="22117304" cy="536194"/>
          </a:xfrm>
        </p:grpSpPr>
        <p:sp>
          <p:nvSpPr>
            <p:cNvPr name="Freeform 306" id="306"/>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307" id="307"/>
          <p:cNvGrpSpPr/>
          <p:nvPr/>
        </p:nvGrpSpPr>
        <p:grpSpPr>
          <a:xfrm rot="0">
            <a:off x="1070000" y="4335713"/>
            <a:ext cx="16587997" cy="409289"/>
            <a:chOff x="0" y="0"/>
            <a:chExt cx="22117329" cy="545719"/>
          </a:xfrm>
        </p:grpSpPr>
        <p:sp>
          <p:nvSpPr>
            <p:cNvPr name="Freeform 308" id="308"/>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309" id="309"/>
          <p:cNvGrpSpPr/>
          <p:nvPr/>
        </p:nvGrpSpPr>
        <p:grpSpPr>
          <a:xfrm rot="0">
            <a:off x="1070000" y="4328570"/>
            <a:ext cx="16587997" cy="416433"/>
            <a:chOff x="0" y="0"/>
            <a:chExt cx="22117329" cy="555244"/>
          </a:xfrm>
        </p:grpSpPr>
        <p:sp>
          <p:nvSpPr>
            <p:cNvPr name="Freeform 310" id="310"/>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311" id="311"/>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  NUMBER OF TRADES</a:t>
              </a:r>
            </a:p>
          </p:txBody>
        </p:sp>
      </p:grpSp>
      <p:grpSp>
        <p:nvGrpSpPr>
          <p:cNvPr name="Group 312" id="312"/>
          <p:cNvGrpSpPr/>
          <p:nvPr/>
        </p:nvGrpSpPr>
        <p:grpSpPr>
          <a:xfrm rot="0">
            <a:off x="1070000" y="4745003"/>
            <a:ext cx="2699956" cy="395002"/>
            <a:chOff x="0" y="0"/>
            <a:chExt cx="3599942" cy="526669"/>
          </a:xfrm>
        </p:grpSpPr>
        <p:sp>
          <p:nvSpPr>
            <p:cNvPr name="Freeform 313" id="31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14" id="314"/>
          <p:cNvGrpSpPr/>
          <p:nvPr/>
        </p:nvGrpSpPr>
        <p:grpSpPr>
          <a:xfrm rot="0">
            <a:off x="1070000" y="4745003"/>
            <a:ext cx="2699956" cy="395002"/>
            <a:chOff x="0" y="0"/>
            <a:chExt cx="3599942" cy="526669"/>
          </a:xfrm>
        </p:grpSpPr>
        <p:sp>
          <p:nvSpPr>
            <p:cNvPr name="Freeform 315" id="31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16" id="316"/>
          <p:cNvGrpSpPr/>
          <p:nvPr/>
        </p:nvGrpSpPr>
        <p:grpSpPr>
          <a:xfrm rot="0">
            <a:off x="1070000" y="4745003"/>
            <a:ext cx="2700004" cy="395002"/>
            <a:chOff x="0" y="0"/>
            <a:chExt cx="3600005" cy="526669"/>
          </a:xfrm>
        </p:grpSpPr>
        <p:sp>
          <p:nvSpPr>
            <p:cNvPr name="Freeform 317" id="31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18" id="318"/>
          <p:cNvGrpSpPr/>
          <p:nvPr/>
        </p:nvGrpSpPr>
        <p:grpSpPr>
          <a:xfrm rot="0">
            <a:off x="1070000" y="4745003"/>
            <a:ext cx="2700004" cy="395002"/>
            <a:chOff x="0" y="0"/>
            <a:chExt cx="3600005" cy="526669"/>
          </a:xfrm>
        </p:grpSpPr>
        <p:sp>
          <p:nvSpPr>
            <p:cNvPr name="Freeform 319" id="319"/>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20" id="320"/>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321" id="321"/>
          <p:cNvGrpSpPr/>
          <p:nvPr/>
        </p:nvGrpSpPr>
        <p:grpSpPr>
          <a:xfrm rot="0">
            <a:off x="3850005" y="4745003"/>
            <a:ext cx="1698498" cy="395002"/>
            <a:chOff x="0" y="0"/>
            <a:chExt cx="2264664" cy="526669"/>
          </a:xfrm>
        </p:grpSpPr>
        <p:sp>
          <p:nvSpPr>
            <p:cNvPr name="Freeform 322" id="3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23" id="323"/>
          <p:cNvGrpSpPr/>
          <p:nvPr/>
        </p:nvGrpSpPr>
        <p:grpSpPr>
          <a:xfrm rot="0">
            <a:off x="3850005" y="4745003"/>
            <a:ext cx="1698498" cy="395002"/>
            <a:chOff x="0" y="0"/>
            <a:chExt cx="2264664" cy="526669"/>
          </a:xfrm>
        </p:grpSpPr>
        <p:sp>
          <p:nvSpPr>
            <p:cNvPr name="Freeform 324" id="3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25" id="325"/>
          <p:cNvGrpSpPr/>
          <p:nvPr/>
        </p:nvGrpSpPr>
        <p:grpSpPr>
          <a:xfrm rot="0">
            <a:off x="3850005" y="4745003"/>
            <a:ext cx="1698498" cy="395002"/>
            <a:chOff x="0" y="0"/>
            <a:chExt cx="2264664" cy="526669"/>
          </a:xfrm>
        </p:grpSpPr>
        <p:sp>
          <p:nvSpPr>
            <p:cNvPr name="Freeform 326" id="3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27" id="327"/>
          <p:cNvGrpSpPr/>
          <p:nvPr/>
        </p:nvGrpSpPr>
        <p:grpSpPr>
          <a:xfrm rot="0">
            <a:off x="3850005" y="4745003"/>
            <a:ext cx="1698498" cy="395002"/>
            <a:chOff x="0" y="0"/>
            <a:chExt cx="2264664" cy="526669"/>
          </a:xfrm>
        </p:grpSpPr>
        <p:sp>
          <p:nvSpPr>
            <p:cNvPr name="Freeform 328" id="3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29" id="32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a:t>
              </a:r>
            </a:p>
          </p:txBody>
        </p:sp>
      </p:grpSp>
      <p:grpSp>
        <p:nvGrpSpPr>
          <p:cNvPr name="Group 330" id="330"/>
          <p:cNvGrpSpPr/>
          <p:nvPr/>
        </p:nvGrpSpPr>
        <p:grpSpPr>
          <a:xfrm rot="0">
            <a:off x="5548503" y="4745003"/>
            <a:ext cx="1698498" cy="395002"/>
            <a:chOff x="0" y="0"/>
            <a:chExt cx="2264664" cy="526669"/>
          </a:xfrm>
        </p:grpSpPr>
        <p:sp>
          <p:nvSpPr>
            <p:cNvPr name="Freeform 331" id="3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32" id="332"/>
          <p:cNvGrpSpPr/>
          <p:nvPr/>
        </p:nvGrpSpPr>
        <p:grpSpPr>
          <a:xfrm rot="0">
            <a:off x="5548503" y="4745003"/>
            <a:ext cx="1698498" cy="395002"/>
            <a:chOff x="0" y="0"/>
            <a:chExt cx="2264664" cy="526669"/>
          </a:xfrm>
        </p:grpSpPr>
        <p:sp>
          <p:nvSpPr>
            <p:cNvPr name="Freeform 333" id="3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34" id="334"/>
          <p:cNvGrpSpPr/>
          <p:nvPr/>
        </p:nvGrpSpPr>
        <p:grpSpPr>
          <a:xfrm rot="0">
            <a:off x="5548503" y="4745003"/>
            <a:ext cx="1698498" cy="395002"/>
            <a:chOff x="0" y="0"/>
            <a:chExt cx="2264664" cy="526669"/>
          </a:xfrm>
        </p:grpSpPr>
        <p:sp>
          <p:nvSpPr>
            <p:cNvPr name="Freeform 335" id="3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36" id="336"/>
          <p:cNvGrpSpPr/>
          <p:nvPr/>
        </p:nvGrpSpPr>
        <p:grpSpPr>
          <a:xfrm rot="0">
            <a:off x="5548503" y="4745003"/>
            <a:ext cx="1698498" cy="395002"/>
            <a:chOff x="0" y="0"/>
            <a:chExt cx="2264664" cy="526669"/>
          </a:xfrm>
        </p:grpSpPr>
        <p:sp>
          <p:nvSpPr>
            <p:cNvPr name="Freeform 337" id="3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38" id="33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17</a:t>
              </a:r>
            </a:p>
          </p:txBody>
        </p:sp>
      </p:grpSp>
      <p:grpSp>
        <p:nvGrpSpPr>
          <p:cNvPr name="Group 339" id="339"/>
          <p:cNvGrpSpPr/>
          <p:nvPr/>
        </p:nvGrpSpPr>
        <p:grpSpPr>
          <a:xfrm rot="0">
            <a:off x="7247001" y="4745003"/>
            <a:ext cx="1698498" cy="395002"/>
            <a:chOff x="0" y="0"/>
            <a:chExt cx="2264664" cy="526669"/>
          </a:xfrm>
        </p:grpSpPr>
        <p:sp>
          <p:nvSpPr>
            <p:cNvPr name="Freeform 340" id="3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41" id="341"/>
          <p:cNvGrpSpPr/>
          <p:nvPr/>
        </p:nvGrpSpPr>
        <p:grpSpPr>
          <a:xfrm rot="0">
            <a:off x="7247001" y="4745003"/>
            <a:ext cx="1698498" cy="395002"/>
            <a:chOff x="0" y="0"/>
            <a:chExt cx="2264664" cy="526669"/>
          </a:xfrm>
        </p:grpSpPr>
        <p:sp>
          <p:nvSpPr>
            <p:cNvPr name="Freeform 342" id="3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43" id="343"/>
          <p:cNvGrpSpPr/>
          <p:nvPr/>
        </p:nvGrpSpPr>
        <p:grpSpPr>
          <a:xfrm rot="0">
            <a:off x="7247001" y="4745003"/>
            <a:ext cx="1698498" cy="395002"/>
            <a:chOff x="0" y="0"/>
            <a:chExt cx="2264664" cy="526669"/>
          </a:xfrm>
        </p:grpSpPr>
        <p:sp>
          <p:nvSpPr>
            <p:cNvPr name="Freeform 344" id="3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45" id="345"/>
          <p:cNvGrpSpPr/>
          <p:nvPr/>
        </p:nvGrpSpPr>
        <p:grpSpPr>
          <a:xfrm rot="0">
            <a:off x="7247001" y="4745003"/>
            <a:ext cx="1698498" cy="395002"/>
            <a:chOff x="0" y="0"/>
            <a:chExt cx="2264664" cy="526669"/>
          </a:xfrm>
        </p:grpSpPr>
        <p:sp>
          <p:nvSpPr>
            <p:cNvPr name="Freeform 346" id="3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47" id="34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a:t>
              </a:r>
            </a:p>
          </p:txBody>
        </p:sp>
      </p:grpSp>
      <p:grpSp>
        <p:nvGrpSpPr>
          <p:cNvPr name="Group 348" id="348"/>
          <p:cNvGrpSpPr/>
          <p:nvPr/>
        </p:nvGrpSpPr>
        <p:grpSpPr>
          <a:xfrm rot="0">
            <a:off x="8945499" y="4745003"/>
            <a:ext cx="1698498" cy="395002"/>
            <a:chOff x="0" y="0"/>
            <a:chExt cx="2264664" cy="526669"/>
          </a:xfrm>
        </p:grpSpPr>
        <p:sp>
          <p:nvSpPr>
            <p:cNvPr name="Freeform 349" id="3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0" id="350"/>
          <p:cNvGrpSpPr/>
          <p:nvPr/>
        </p:nvGrpSpPr>
        <p:grpSpPr>
          <a:xfrm rot="0">
            <a:off x="8945499" y="4745003"/>
            <a:ext cx="1698498" cy="395002"/>
            <a:chOff x="0" y="0"/>
            <a:chExt cx="2264664" cy="526669"/>
          </a:xfrm>
        </p:grpSpPr>
        <p:sp>
          <p:nvSpPr>
            <p:cNvPr name="Freeform 351" id="3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52" id="352"/>
          <p:cNvGrpSpPr/>
          <p:nvPr/>
        </p:nvGrpSpPr>
        <p:grpSpPr>
          <a:xfrm rot="0">
            <a:off x="8945499" y="4745003"/>
            <a:ext cx="1698498" cy="395002"/>
            <a:chOff x="0" y="0"/>
            <a:chExt cx="2264664" cy="526669"/>
          </a:xfrm>
        </p:grpSpPr>
        <p:sp>
          <p:nvSpPr>
            <p:cNvPr name="Freeform 353" id="3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54" id="354"/>
          <p:cNvGrpSpPr/>
          <p:nvPr/>
        </p:nvGrpSpPr>
        <p:grpSpPr>
          <a:xfrm rot="0">
            <a:off x="8945499" y="4745003"/>
            <a:ext cx="1698498" cy="395002"/>
            <a:chOff x="0" y="0"/>
            <a:chExt cx="2264664" cy="526669"/>
          </a:xfrm>
        </p:grpSpPr>
        <p:sp>
          <p:nvSpPr>
            <p:cNvPr name="Freeform 355" id="3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56" id="35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16</a:t>
              </a:r>
            </a:p>
          </p:txBody>
        </p:sp>
      </p:grpSp>
      <p:grpSp>
        <p:nvGrpSpPr>
          <p:cNvPr name="Group 357" id="357"/>
          <p:cNvGrpSpPr/>
          <p:nvPr/>
        </p:nvGrpSpPr>
        <p:grpSpPr>
          <a:xfrm rot="0">
            <a:off x="10643997" y="4745003"/>
            <a:ext cx="1698498" cy="395002"/>
            <a:chOff x="0" y="0"/>
            <a:chExt cx="2264664" cy="526669"/>
          </a:xfrm>
        </p:grpSpPr>
        <p:sp>
          <p:nvSpPr>
            <p:cNvPr name="Freeform 358" id="3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9" id="359"/>
          <p:cNvGrpSpPr/>
          <p:nvPr/>
        </p:nvGrpSpPr>
        <p:grpSpPr>
          <a:xfrm rot="0">
            <a:off x="10643997" y="4745003"/>
            <a:ext cx="1698498" cy="395002"/>
            <a:chOff x="0" y="0"/>
            <a:chExt cx="2264664" cy="526669"/>
          </a:xfrm>
        </p:grpSpPr>
        <p:sp>
          <p:nvSpPr>
            <p:cNvPr name="Freeform 360" id="36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61" id="361"/>
          <p:cNvGrpSpPr/>
          <p:nvPr/>
        </p:nvGrpSpPr>
        <p:grpSpPr>
          <a:xfrm rot="0">
            <a:off x="10643997" y="4745003"/>
            <a:ext cx="1698498" cy="395002"/>
            <a:chOff x="0" y="0"/>
            <a:chExt cx="2264664" cy="526669"/>
          </a:xfrm>
        </p:grpSpPr>
        <p:sp>
          <p:nvSpPr>
            <p:cNvPr name="Freeform 362" id="3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63" id="363"/>
          <p:cNvGrpSpPr/>
          <p:nvPr/>
        </p:nvGrpSpPr>
        <p:grpSpPr>
          <a:xfrm rot="0">
            <a:off x="10643997" y="4745003"/>
            <a:ext cx="1698498" cy="395002"/>
            <a:chOff x="0" y="0"/>
            <a:chExt cx="2264664" cy="526669"/>
          </a:xfrm>
        </p:grpSpPr>
        <p:sp>
          <p:nvSpPr>
            <p:cNvPr name="Freeform 364" id="3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65" id="36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9</a:t>
              </a:r>
            </a:p>
          </p:txBody>
        </p:sp>
      </p:grpSp>
      <p:grpSp>
        <p:nvGrpSpPr>
          <p:cNvPr name="Group 366" id="366"/>
          <p:cNvGrpSpPr/>
          <p:nvPr/>
        </p:nvGrpSpPr>
        <p:grpSpPr>
          <a:xfrm rot="0">
            <a:off x="850001" y="5131003"/>
            <a:ext cx="16587978" cy="8954"/>
            <a:chOff x="0" y="0"/>
            <a:chExt cx="22117304" cy="11938"/>
          </a:xfrm>
        </p:grpSpPr>
        <p:sp>
          <p:nvSpPr>
            <p:cNvPr name="Freeform 367" id="367"/>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68" id="368"/>
          <p:cNvGrpSpPr/>
          <p:nvPr/>
        </p:nvGrpSpPr>
        <p:grpSpPr>
          <a:xfrm rot="0">
            <a:off x="1070000" y="5140004"/>
            <a:ext cx="2699956" cy="395002"/>
            <a:chOff x="0" y="0"/>
            <a:chExt cx="3599942" cy="526669"/>
          </a:xfrm>
        </p:grpSpPr>
        <p:sp>
          <p:nvSpPr>
            <p:cNvPr name="Freeform 369" id="36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70" id="370"/>
          <p:cNvGrpSpPr/>
          <p:nvPr/>
        </p:nvGrpSpPr>
        <p:grpSpPr>
          <a:xfrm rot="0">
            <a:off x="1070000" y="5140004"/>
            <a:ext cx="2699956" cy="395002"/>
            <a:chOff x="0" y="0"/>
            <a:chExt cx="3599942" cy="526669"/>
          </a:xfrm>
        </p:grpSpPr>
        <p:sp>
          <p:nvSpPr>
            <p:cNvPr name="Freeform 371" id="37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72" id="372"/>
          <p:cNvGrpSpPr/>
          <p:nvPr/>
        </p:nvGrpSpPr>
        <p:grpSpPr>
          <a:xfrm rot="0">
            <a:off x="1070000" y="5140004"/>
            <a:ext cx="2700004" cy="395002"/>
            <a:chOff x="0" y="0"/>
            <a:chExt cx="3600005" cy="526669"/>
          </a:xfrm>
        </p:grpSpPr>
        <p:sp>
          <p:nvSpPr>
            <p:cNvPr name="Freeform 373" id="37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74" id="374"/>
          <p:cNvGrpSpPr/>
          <p:nvPr/>
        </p:nvGrpSpPr>
        <p:grpSpPr>
          <a:xfrm rot="0">
            <a:off x="1070000" y="5140004"/>
            <a:ext cx="2700004" cy="395002"/>
            <a:chOff x="0" y="0"/>
            <a:chExt cx="3600005" cy="526669"/>
          </a:xfrm>
        </p:grpSpPr>
        <p:sp>
          <p:nvSpPr>
            <p:cNvPr name="Freeform 375" id="375"/>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76" id="376"/>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377" id="377"/>
          <p:cNvGrpSpPr/>
          <p:nvPr/>
        </p:nvGrpSpPr>
        <p:grpSpPr>
          <a:xfrm rot="0">
            <a:off x="3850005" y="5140004"/>
            <a:ext cx="1698498" cy="395002"/>
            <a:chOff x="0" y="0"/>
            <a:chExt cx="2264664" cy="526669"/>
          </a:xfrm>
        </p:grpSpPr>
        <p:sp>
          <p:nvSpPr>
            <p:cNvPr name="Freeform 378" id="3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79" id="379"/>
          <p:cNvGrpSpPr/>
          <p:nvPr/>
        </p:nvGrpSpPr>
        <p:grpSpPr>
          <a:xfrm rot="0">
            <a:off x="3850005" y="5140004"/>
            <a:ext cx="1698498" cy="395002"/>
            <a:chOff x="0" y="0"/>
            <a:chExt cx="2264664" cy="526669"/>
          </a:xfrm>
        </p:grpSpPr>
        <p:sp>
          <p:nvSpPr>
            <p:cNvPr name="Freeform 380" id="3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81" id="381"/>
          <p:cNvGrpSpPr/>
          <p:nvPr/>
        </p:nvGrpSpPr>
        <p:grpSpPr>
          <a:xfrm rot="0">
            <a:off x="3850005" y="5140004"/>
            <a:ext cx="1698498" cy="395002"/>
            <a:chOff x="0" y="0"/>
            <a:chExt cx="2264664" cy="526669"/>
          </a:xfrm>
        </p:grpSpPr>
        <p:sp>
          <p:nvSpPr>
            <p:cNvPr name="Freeform 382" id="3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83" id="383"/>
          <p:cNvGrpSpPr/>
          <p:nvPr/>
        </p:nvGrpSpPr>
        <p:grpSpPr>
          <a:xfrm rot="0">
            <a:off x="3850005" y="5140004"/>
            <a:ext cx="1698498" cy="395002"/>
            <a:chOff x="0" y="0"/>
            <a:chExt cx="2264664" cy="526669"/>
          </a:xfrm>
        </p:grpSpPr>
        <p:sp>
          <p:nvSpPr>
            <p:cNvPr name="Freeform 384" id="3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85" id="38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386" id="386"/>
          <p:cNvGrpSpPr/>
          <p:nvPr/>
        </p:nvGrpSpPr>
        <p:grpSpPr>
          <a:xfrm rot="0">
            <a:off x="5548503" y="5140004"/>
            <a:ext cx="1698498" cy="395002"/>
            <a:chOff x="0" y="0"/>
            <a:chExt cx="2264664" cy="526669"/>
          </a:xfrm>
        </p:grpSpPr>
        <p:sp>
          <p:nvSpPr>
            <p:cNvPr name="Freeform 387" id="3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88" id="388"/>
          <p:cNvGrpSpPr/>
          <p:nvPr/>
        </p:nvGrpSpPr>
        <p:grpSpPr>
          <a:xfrm rot="0">
            <a:off x="5548503" y="5140004"/>
            <a:ext cx="1698498" cy="395002"/>
            <a:chOff x="0" y="0"/>
            <a:chExt cx="2264664" cy="526669"/>
          </a:xfrm>
        </p:grpSpPr>
        <p:sp>
          <p:nvSpPr>
            <p:cNvPr name="Freeform 389" id="3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0" id="390"/>
          <p:cNvGrpSpPr/>
          <p:nvPr/>
        </p:nvGrpSpPr>
        <p:grpSpPr>
          <a:xfrm rot="0">
            <a:off x="5548503" y="5140004"/>
            <a:ext cx="1698498" cy="395002"/>
            <a:chOff x="0" y="0"/>
            <a:chExt cx="2264664" cy="526669"/>
          </a:xfrm>
        </p:grpSpPr>
        <p:sp>
          <p:nvSpPr>
            <p:cNvPr name="Freeform 391" id="3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92" id="392"/>
          <p:cNvGrpSpPr/>
          <p:nvPr/>
        </p:nvGrpSpPr>
        <p:grpSpPr>
          <a:xfrm rot="0">
            <a:off x="5548503" y="5140004"/>
            <a:ext cx="1698498" cy="395002"/>
            <a:chOff x="0" y="0"/>
            <a:chExt cx="2264664" cy="526669"/>
          </a:xfrm>
        </p:grpSpPr>
        <p:sp>
          <p:nvSpPr>
            <p:cNvPr name="Freeform 393" id="3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94" id="39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395" id="395"/>
          <p:cNvGrpSpPr/>
          <p:nvPr/>
        </p:nvGrpSpPr>
        <p:grpSpPr>
          <a:xfrm rot="0">
            <a:off x="7247001" y="5140004"/>
            <a:ext cx="1698498" cy="395002"/>
            <a:chOff x="0" y="0"/>
            <a:chExt cx="2264664" cy="526669"/>
          </a:xfrm>
        </p:grpSpPr>
        <p:sp>
          <p:nvSpPr>
            <p:cNvPr name="Freeform 396" id="3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97" id="397"/>
          <p:cNvGrpSpPr/>
          <p:nvPr/>
        </p:nvGrpSpPr>
        <p:grpSpPr>
          <a:xfrm rot="0">
            <a:off x="7247001" y="5140004"/>
            <a:ext cx="1698498" cy="395002"/>
            <a:chOff x="0" y="0"/>
            <a:chExt cx="2264664" cy="526669"/>
          </a:xfrm>
        </p:grpSpPr>
        <p:sp>
          <p:nvSpPr>
            <p:cNvPr name="Freeform 398" id="3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9" id="399"/>
          <p:cNvGrpSpPr/>
          <p:nvPr/>
        </p:nvGrpSpPr>
        <p:grpSpPr>
          <a:xfrm rot="0">
            <a:off x="7247001" y="5140004"/>
            <a:ext cx="1698498" cy="395002"/>
            <a:chOff x="0" y="0"/>
            <a:chExt cx="2264664" cy="526669"/>
          </a:xfrm>
        </p:grpSpPr>
        <p:sp>
          <p:nvSpPr>
            <p:cNvPr name="Freeform 400" id="4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01" id="401"/>
          <p:cNvGrpSpPr/>
          <p:nvPr/>
        </p:nvGrpSpPr>
        <p:grpSpPr>
          <a:xfrm rot="0">
            <a:off x="7247001" y="5140004"/>
            <a:ext cx="1698498" cy="395002"/>
            <a:chOff x="0" y="0"/>
            <a:chExt cx="2264664" cy="526669"/>
          </a:xfrm>
        </p:grpSpPr>
        <p:sp>
          <p:nvSpPr>
            <p:cNvPr name="Freeform 402" id="4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03" id="40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404" id="404"/>
          <p:cNvGrpSpPr/>
          <p:nvPr/>
        </p:nvGrpSpPr>
        <p:grpSpPr>
          <a:xfrm rot="0">
            <a:off x="8945499" y="5140004"/>
            <a:ext cx="1698498" cy="395002"/>
            <a:chOff x="0" y="0"/>
            <a:chExt cx="2264664" cy="526669"/>
          </a:xfrm>
        </p:grpSpPr>
        <p:sp>
          <p:nvSpPr>
            <p:cNvPr name="Freeform 405" id="4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06" id="406"/>
          <p:cNvGrpSpPr/>
          <p:nvPr/>
        </p:nvGrpSpPr>
        <p:grpSpPr>
          <a:xfrm rot="0">
            <a:off x="8945499" y="5140004"/>
            <a:ext cx="1698498" cy="395002"/>
            <a:chOff x="0" y="0"/>
            <a:chExt cx="2264664" cy="526669"/>
          </a:xfrm>
        </p:grpSpPr>
        <p:sp>
          <p:nvSpPr>
            <p:cNvPr name="Freeform 407" id="4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08" id="408"/>
          <p:cNvGrpSpPr/>
          <p:nvPr/>
        </p:nvGrpSpPr>
        <p:grpSpPr>
          <a:xfrm rot="0">
            <a:off x="8945499" y="5140004"/>
            <a:ext cx="1698498" cy="395002"/>
            <a:chOff x="0" y="0"/>
            <a:chExt cx="2264664" cy="526669"/>
          </a:xfrm>
        </p:grpSpPr>
        <p:sp>
          <p:nvSpPr>
            <p:cNvPr name="Freeform 409" id="4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0" id="410"/>
          <p:cNvGrpSpPr/>
          <p:nvPr/>
        </p:nvGrpSpPr>
        <p:grpSpPr>
          <a:xfrm rot="0">
            <a:off x="8945499" y="5140004"/>
            <a:ext cx="1698498" cy="395002"/>
            <a:chOff x="0" y="0"/>
            <a:chExt cx="2264664" cy="526669"/>
          </a:xfrm>
        </p:grpSpPr>
        <p:sp>
          <p:nvSpPr>
            <p:cNvPr name="Freeform 411" id="4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12" id="41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413" id="413"/>
          <p:cNvGrpSpPr/>
          <p:nvPr/>
        </p:nvGrpSpPr>
        <p:grpSpPr>
          <a:xfrm rot="0">
            <a:off x="10643997" y="5140004"/>
            <a:ext cx="1698498" cy="395002"/>
            <a:chOff x="0" y="0"/>
            <a:chExt cx="2264664" cy="526669"/>
          </a:xfrm>
        </p:grpSpPr>
        <p:sp>
          <p:nvSpPr>
            <p:cNvPr name="Freeform 414" id="4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15" id="415"/>
          <p:cNvGrpSpPr/>
          <p:nvPr/>
        </p:nvGrpSpPr>
        <p:grpSpPr>
          <a:xfrm rot="0">
            <a:off x="10643997" y="5140004"/>
            <a:ext cx="1698498" cy="395002"/>
            <a:chOff x="0" y="0"/>
            <a:chExt cx="2264664" cy="526669"/>
          </a:xfrm>
        </p:grpSpPr>
        <p:sp>
          <p:nvSpPr>
            <p:cNvPr name="Freeform 416" id="4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17" id="417"/>
          <p:cNvGrpSpPr/>
          <p:nvPr/>
        </p:nvGrpSpPr>
        <p:grpSpPr>
          <a:xfrm rot="0">
            <a:off x="10643997" y="5140004"/>
            <a:ext cx="1698498" cy="395002"/>
            <a:chOff x="0" y="0"/>
            <a:chExt cx="2264664" cy="526669"/>
          </a:xfrm>
        </p:grpSpPr>
        <p:sp>
          <p:nvSpPr>
            <p:cNvPr name="Freeform 418" id="4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9" id="419"/>
          <p:cNvGrpSpPr/>
          <p:nvPr/>
        </p:nvGrpSpPr>
        <p:grpSpPr>
          <a:xfrm rot="0">
            <a:off x="10643997" y="5140004"/>
            <a:ext cx="1698498" cy="395002"/>
            <a:chOff x="0" y="0"/>
            <a:chExt cx="2264664" cy="526669"/>
          </a:xfrm>
        </p:grpSpPr>
        <p:sp>
          <p:nvSpPr>
            <p:cNvPr name="Freeform 420" id="4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21" id="42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422" id="422"/>
          <p:cNvGrpSpPr/>
          <p:nvPr/>
        </p:nvGrpSpPr>
        <p:grpSpPr>
          <a:xfrm rot="0">
            <a:off x="12342505" y="5140004"/>
            <a:ext cx="1698498" cy="395002"/>
            <a:chOff x="0" y="0"/>
            <a:chExt cx="2264664" cy="526669"/>
          </a:xfrm>
        </p:grpSpPr>
        <p:sp>
          <p:nvSpPr>
            <p:cNvPr name="Freeform 423" id="4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24" id="424"/>
          <p:cNvGrpSpPr/>
          <p:nvPr/>
        </p:nvGrpSpPr>
        <p:grpSpPr>
          <a:xfrm rot="0">
            <a:off x="12342505" y="5140004"/>
            <a:ext cx="1698498" cy="395002"/>
            <a:chOff x="0" y="0"/>
            <a:chExt cx="2264664" cy="526669"/>
          </a:xfrm>
        </p:grpSpPr>
        <p:sp>
          <p:nvSpPr>
            <p:cNvPr name="Freeform 425" id="4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26" id="426"/>
          <p:cNvGrpSpPr/>
          <p:nvPr/>
        </p:nvGrpSpPr>
        <p:grpSpPr>
          <a:xfrm rot="0">
            <a:off x="12342505" y="5140004"/>
            <a:ext cx="1698498" cy="395002"/>
            <a:chOff x="0" y="0"/>
            <a:chExt cx="2264664" cy="526669"/>
          </a:xfrm>
        </p:grpSpPr>
        <p:sp>
          <p:nvSpPr>
            <p:cNvPr name="Freeform 427" id="4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28" id="428"/>
          <p:cNvGrpSpPr/>
          <p:nvPr/>
        </p:nvGrpSpPr>
        <p:grpSpPr>
          <a:xfrm rot="0">
            <a:off x="12342505" y="5140004"/>
            <a:ext cx="1698498" cy="395002"/>
            <a:chOff x="0" y="0"/>
            <a:chExt cx="2264664" cy="526669"/>
          </a:xfrm>
        </p:grpSpPr>
        <p:sp>
          <p:nvSpPr>
            <p:cNvPr name="Freeform 429" id="4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0" id="43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431" id="431"/>
          <p:cNvGrpSpPr/>
          <p:nvPr/>
        </p:nvGrpSpPr>
        <p:grpSpPr>
          <a:xfrm rot="0">
            <a:off x="14041003" y="5140004"/>
            <a:ext cx="1698498" cy="395002"/>
            <a:chOff x="0" y="0"/>
            <a:chExt cx="2264664" cy="526669"/>
          </a:xfrm>
        </p:grpSpPr>
        <p:sp>
          <p:nvSpPr>
            <p:cNvPr name="Freeform 432" id="4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33" id="433"/>
          <p:cNvGrpSpPr/>
          <p:nvPr/>
        </p:nvGrpSpPr>
        <p:grpSpPr>
          <a:xfrm rot="0">
            <a:off x="14041003" y="5140004"/>
            <a:ext cx="1698498" cy="395002"/>
            <a:chOff x="0" y="0"/>
            <a:chExt cx="2264664" cy="526669"/>
          </a:xfrm>
        </p:grpSpPr>
        <p:sp>
          <p:nvSpPr>
            <p:cNvPr name="Freeform 434" id="4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35" id="435"/>
          <p:cNvGrpSpPr/>
          <p:nvPr/>
        </p:nvGrpSpPr>
        <p:grpSpPr>
          <a:xfrm rot="0">
            <a:off x="14041003" y="5140004"/>
            <a:ext cx="1698498" cy="395002"/>
            <a:chOff x="0" y="0"/>
            <a:chExt cx="2264664" cy="526669"/>
          </a:xfrm>
        </p:grpSpPr>
        <p:sp>
          <p:nvSpPr>
            <p:cNvPr name="Freeform 436" id="4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37" id="437"/>
          <p:cNvGrpSpPr/>
          <p:nvPr/>
        </p:nvGrpSpPr>
        <p:grpSpPr>
          <a:xfrm rot="0">
            <a:off x="14041003" y="5140004"/>
            <a:ext cx="1698498" cy="395002"/>
            <a:chOff x="0" y="0"/>
            <a:chExt cx="2264664" cy="526669"/>
          </a:xfrm>
        </p:grpSpPr>
        <p:sp>
          <p:nvSpPr>
            <p:cNvPr name="Freeform 438" id="4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9" id="43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440" id="440"/>
          <p:cNvGrpSpPr/>
          <p:nvPr/>
        </p:nvGrpSpPr>
        <p:grpSpPr>
          <a:xfrm rot="0">
            <a:off x="15739501" y="5140004"/>
            <a:ext cx="1698498" cy="395002"/>
            <a:chOff x="0" y="0"/>
            <a:chExt cx="2264664" cy="526669"/>
          </a:xfrm>
        </p:grpSpPr>
        <p:sp>
          <p:nvSpPr>
            <p:cNvPr name="Freeform 441" id="4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42" id="442"/>
          <p:cNvGrpSpPr/>
          <p:nvPr/>
        </p:nvGrpSpPr>
        <p:grpSpPr>
          <a:xfrm rot="0">
            <a:off x="15739501" y="5140004"/>
            <a:ext cx="1698498" cy="395002"/>
            <a:chOff x="0" y="0"/>
            <a:chExt cx="2264664" cy="526669"/>
          </a:xfrm>
        </p:grpSpPr>
        <p:sp>
          <p:nvSpPr>
            <p:cNvPr name="Freeform 443" id="4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44" id="444"/>
          <p:cNvGrpSpPr/>
          <p:nvPr/>
        </p:nvGrpSpPr>
        <p:grpSpPr>
          <a:xfrm rot="0">
            <a:off x="15739501" y="5140004"/>
            <a:ext cx="1698498" cy="395002"/>
            <a:chOff x="0" y="0"/>
            <a:chExt cx="2264664" cy="526669"/>
          </a:xfrm>
        </p:grpSpPr>
        <p:sp>
          <p:nvSpPr>
            <p:cNvPr name="Freeform 445" id="4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46" id="446"/>
          <p:cNvGrpSpPr/>
          <p:nvPr/>
        </p:nvGrpSpPr>
        <p:grpSpPr>
          <a:xfrm rot="0">
            <a:off x="15739501" y="5140004"/>
            <a:ext cx="1698498" cy="395002"/>
            <a:chOff x="0" y="0"/>
            <a:chExt cx="2264664" cy="526669"/>
          </a:xfrm>
        </p:grpSpPr>
        <p:sp>
          <p:nvSpPr>
            <p:cNvPr name="Freeform 447" id="4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48" id="44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449" id="449"/>
          <p:cNvGrpSpPr/>
          <p:nvPr/>
        </p:nvGrpSpPr>
        <p:grpSpPr>
          <a:xfrm rot="0">
            <a:off x="850001" y="5525995"/>
            <a:ext cx="16587978" cy="8954"/>
            <a:chOff x="0" y="0"/>
            <a:chExt cx="22117304" cy="11938"/>
          </a:xfrm>
        </p:grpSpPr>
        <p:sp>
          <p:nvSpPr>
            <p:cNvPr name="Freeform 450" id="450"/>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451" id="451"/>
          <p:cNvGrpSpPr/>
          <p:nvPr/>
        </p:nvGrpSpPr>
        <p:grpSpPr>
          <a:xfrm rot="0">
            <a:off x="1070000" y="5534997"/>
            <a:ext cx="2699956" cy="395002"/>
            <a:chOff x="0" y="0"/>
            <a:chExt cx="3599942" cy="526669"/>
          </a:xfrm>
        </p:grpSpPr>
        <p:sp>
          <p:nvSpPr>
            <p:cNvPr name="Freeform 452" id="45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453" id="453"/>
          <p:cNvGrpSpPr/>
          <p:nvPr/>
        </p:nvGrpSpPr>
        <p:grpSpPr>
          <a:xfrm rot="0">
            <a:off x="1070000" y="5534997"/>
            <a:ext cx="2699956" cy="395002"/>
            <a:chOff x="0" y="0"/>
            <a:chExt cx="3599942" cy="526669"/>
          </a:xfrm>
        </p:grpSpPr>
        <p:sp>
          <p:nvSpPr>
            <p:cNvPr name="Freeform 454" id="45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455" id="455"/>
          <p:cNvGrpSpPr/>
          <p:nvPr/>
        </p:nvGrpSpPr>
        <p:grpSpPr>
          <a:xfrm rot="0">
            <a:off x="1070000" y="5534997"/>
            <a:ext cx="2700004" cy="395002"/>
            <a:chOff x="0" y="0"/>
            <a:chExt cx="3600005" cy="526669"/>
          </a:xfrm>
        </p:grpSpPr>
        <p:sp>
          <p:nvSpPr>
            <p:cNvPr name="Freeform 456" id="45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457" id="457"/>
          <p:cNvGrpSpPr/>
          <p:nvPr/>
        </p:nvGrpSpPr>
        <p:grpSpPr>
          <a:xfrm rot="0">
            <a:off x="1070000" y="5534997"/>
            <a:ext cx="2700004" cy="395002"/>
            <a:chOff x="0" y="0"/>
            <a:chExt cx="3600005" cy="526669"/>
          </a:xfrm>
        </p:grpSpPr>
        <p:sp>
          <p:nvSpPr>
            <p:cNvPr name="Freeform 458" id="458"/>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459" id="459"/>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460" id="460"/>
          <p:cNvGrpSpPr/>
          <p:nvPr/>
        </p:nvGrpSpPr>
        <p:grpSpPr>
          <a:xfrm rot="0">
            <a:off x="3850005" y="5534997"/>
            <a:ext cx="1698498" cy="395002"/>
            <a:chOff x="0" y="0"/>
            <a:chExt cx="2264664" cy="526669"/>
          </a:xfrm>
        </p:grpSpPr>
        <p:sp>
          <p:nvSpPr>
            <p:cNvPr name="Freeform 461" id="4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62" id="462"/>
          <p:cNvGrpSpPr/>
          <p:nvPr/>
        </p:nvGrpSpPr>
        <p:grpSpPr>
          <a:xfrm rot="0">
            <a:off x="3850005" y="5534997"/>
            <a:ext cx="1698498" cy="395002"/>
            <a:chOff x="0" y="0"/>
            <a:chExt cx="2264664" cy="526669"/>
          </a:xfrm>
        </p:grpSpPr>
        <p:sp>
          <p:nvSpPr>
            <p:cNvPr name="Freeform 463" id="46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64" id="464"/>
          <p:cNvGrpSpPr/>
          <p:nvPr/>
        </p:nvGrpSpPr>
        <p:grpSpPr>
          <a:xfrm rot="0">
            <a:off x="3850005" y="5534997"/>
            <a:ext cx="1698498" cy="395002"/>
            <a:chOff x="0" y="0"/>
            <a:chExt cx="2264664" cy="526669"/>
          </a:xfrm>
        </p:grpSpPr>
        <p:sp>
          <p:nvSpPr>
            <p:cNvPr name="Freeform 465" id="4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66" id="466"/>
          <p:cNvGrpSpPr/>
          <p:nvPr/>
        </p:nvGrpSpPr>
        <p:grpSpPr>
          <a:xfrm rot="0">
            <a:off x="3850005" y="5534997"/>
            <a:ext cx="1698498" cy="395002"/>
            <a:chOff x="0" y="0"/>
            <a:chExt cx="2264664" cy="526669"/>
          </a:xfrm>
        </p:grpSpPr>
        <p:sp>
          <p:nvSpPr>
            <p:cNvPr name="Freeform 467" id="4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68" id="46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-12</a:t>
              </a:r>
            </a:p>
          </p:txBody>
        </p:sp>
      </p:grpSp>
      <p:grpSp>
        <p:nvGrpSpPr>
          <p:cNvPr name="Group 469" id="469"/>
          <p:cNvGrpSpPr/>
          <p:nvPr/>
        </p:nvGrpSpPr>
        <p:grpSpPr>
          <a:xfrm rot="0">
            <a:off x="5548503" y="5534997"/>
            <a:ext cx="1698498" cy="395002"/>
            <a:chOff x="0" y="0"/>
            <a:chExt cx="2264664" cy="526669"/>
          </a:xfrm>
        </p:grpSpPr>
        <p:sp>
          <p:nvSpPr>
            <p:cNvPr name="Freeform 470" id="4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71" id="471"/>
          <p:cNvGrpSpPr/>
          <p:nvPr/>
        </p:nvGrpSpPr>
        <p:grpSpPr>
          <a:xfrm rot="0">
            <a:off x="5548503" y="5534997"/>
            <a:ext cx="1698498" cy="395002"/>
            <a:chOff x="0" y="0"/>
            <a:chExt cx="2264664" cy="526669"/>
          </a:xfrm>
        </p:grpSpPr>
        <p:sp>
          <p:nvSpPr>
            <p:cNvPr name="Freeform 472" id="4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73" id="473"/>
          <p:cNvGrpSpPr/>
          <p:nvPr/>
        </p:nvGrpSpPr>
        <p:grpSpPr>
          <a:xfrm rot="0">
            <a:off x="5548503" y="5534997"/>
            <a:ext cx="1698498" cy="395002"/>
            <a:chOff x="0" y="0"/>
            <a:chExt cx="2264664" cy="526669"/>
          </a:xfrm>
        </p:grpSpPr>
        <p:sp>
          <p:nvSpPr>
            <p:cNvPr name="Freeform 474" id="4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75" id="475"/>
          <p:cNvGrpSpPr/>
          <p:nvPr/>
        </p:nvGrpSpPr>
        <p:grpSpPr>
          <a:xfrm rot="0">
            <a:off x="5548503" y="5534997"/>
            <a:ext cx="1698498" cy="395002"/>
            <a:chOff x="0" y="0"/>
            <a:chExt cx="2264664" cy="526669"/>
          </a:xfrm>
        </p:grpSpPr>
        <p:sp>
          <p:nvSpPr>
            <p:cNvPr name="Freeform 476" id="4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77" id="47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-7</a:t>
              </a:r>
            </a:p>
          </p:txBody>
        </p:sp>
      </p:grpSp>
      <p:grpSp>
        <p:nvGrpSpPr>
          <p:cNvPr name="Group 478" id="478"/>
          <p:cNvGrpSpPr/>
          <p:nvPr/>
        </p:nvGrpSpPr>
        <p:grpSpPr>
          <a:xfrm rot="0">
            <a:off x="7247001" y="5534997"/>
            <a:ext cx="1698498" cy="395002"/>
            <a:chOff x="0" y="0"/>
            <a:chExt cx="2264664" cy="526669"/>
          </a:xfrm>
        </p:grpSpPr>
        <p:sp>
          <p:nvSpPr>
            <p:cNvPr name="Freeform 479" id="4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0" id="480"/>
          <p:cNvGrpSpPr/>
          <p:nvPr/>
        </p:nvGrpSpPr>
        <p:grpSpPr>
          <a:xfrm rot="0">
            <a:off x="7247001" y="5534997"/>
            <a:ext cx="1698498" cy="395002"/>
            <a:chOff x="0" y="0"/>
            <a:chExt cx="2264664" cy="526669"/>
          </a:xfrm>
        </p:grpSpPr>
        <p:sp>
          <p:nvSpPr>
            <p:cNvPr name="Freeform 481" id="4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82" id="482"/>
          <p:cNvGrpSpPr/>
          <p:nvPr/>
        </p:nvGrpSpPr>
        <p:grpSpPr>
          <a:xfrm rot="0">
            <a:off x="7247001" y="5534997"/>
            <a:ext cx="1698498" cy="395002"/>
            <a:chOff x="0" y="0"/>
            <a:chExt cx="2264664" cy="526669"/>
          </a:xfrm>
        </p:grpSpPr>
        <p:sp>
          <p:nvSpPr>
            <p:cNvPr name="Freeform 483" id="4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84" id="484"/>
          <p:cNvGrpSpPr/>
          <p:nvPr/>
        </p:nvGrpSpPr>
        <p:grpSpPr>
          <a:xfrm rot="0">
            <a:off x="7247001" y="5534997"/>
            <a:ext cx="1698498" cy="395002"/>
            <a:chOff x="0" y="0"/>
            <a:chExt cx="2264664" cy="526669"/>
          </a:xfrm>
        </p:grpSpPr>
        <p:sp>
          <p:nvSpPr>
            <p:cNvPr name="Freeform 485" id="4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86" id="48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-23</a:t>
              </a:r>
            </a:p>
          </p:txBody>
        </p:sp>
      </p:grpSp>
      <p:grpSp>
        <p:nvGrpSpPr>
          <p:cNvPr name="Group 487" id="487"/>
          <p:cNvGrpSpPr/>
          <p:nvPr/>
        </p:nvGrpSpPr>
        <p:grpSpPr>
          <a:xfrm rot="0">
            <a:off x="8945499" y="5534997"/>
            <a:ext cx="1698498" cy="395002"/>
            <a:chOff x="0" y="0"/>
            <a:chExt cx="2264664" cy="526669"/>
          </a:xfrm>
        </p:grpSpPr>
        <p:sp>
          <p:nvSpPr>
            <p:cNvPr name="Freeform 488" id="4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9" id="489"/>
          <p:cNvGrpSpPr/>
          <p:nvPr/>
        </p:nvGrpSpPr>
        <p:grpSpPr>
          <a:xfrm rot="0">
            <a:off x="8945499" y="5534997"/>
            <a:ext cx="1698498" cy="395002"/>
            <a:chOff x="0" y="0"/>
            <a:chExt cx="2264664" cy="526669"/>
          </a:xfrm>
        </p:grpSpPr>
        <p:sp>
          <p:nvSpPr>
            <p:cNvPr name="Freeform 490" id="4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91" id="491"/>
          <p:cNvGrpSpPr/>
          <p:nvPr/>
        </p:nvGrpSpPr>
        <p:grpSpPr>
          <a:xfrm rot="0">
            <a:off x="8945499" y="5534997"/>
            <a:ext cx="1698498" cy="395002"/>
            <a:chOff x="0" y="0"/>
            <a:chExt cx="2264664" cy="526669"/>
          </a:xfrm>
        </p:grpSpPr>
        <p:sp>
          <p:nvSpPr>
            <p:cNvPr name="Freeform 492" id="4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93" id="493"/>
          <p:cNvGrpSpPr/>
          <p:nvPr/>
        </p:nvGrpSpPr>
        <p:grpSpPr>
          <a:xfrm rot="0">
            <a:off x="8945499" y="5534997"/>
            <a:ext cx="1698498" cy="395002"/>
            <a:chOff x="0" y="0"/>
            <a:chExt cx="2264664" cy="526669"/>
          </a:xfrm>
        </p:grpSpPr>
        <p:sp>
          <p:nvSpPr>
            <p:cNvPr name="Freeform 494" id="4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95" id="495"/>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-17</a:t>
              </a:r>
            </a:p>
          </p:txBody>
        </p:sp>
      </p:grpSp>
      <p:grpSp>
        <p:nvGrpSpPr>
          <p:cNvPr name="Group 496" id="496"/>
          <p:cNvGrpSpPr/>
          <p:nvPr/>
        </p:nvGrpSpPr>
        <p:grpSpPr>
          <a:xfrm rot="0">
            <a:off x="10643997" y="5534997"/>
            <a:ext cx="1698498" cy="395002"/>
            <a:chOff x="0" y="0"/>
            <a:chExt cx="2264664" cy="526669"/>
          </a:xfrm>
        </p:grpSpPr>
        <p:sp>
          <p:nvSpPr>
            <p:cNvPr name="Freeform 497" id="4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98" id="498"/>
          <p:cNvGrpSpPr/>
          <p:nvPr/>
        </p:nvGrpSpPr>
        <p:grpSpPr>
          <a:xfrm rot="0">
            <a:off x="10643997" y="5534997"/>
            <a:ext cx="1698498" cy="395002"/>
            <a:chOff x="0" y="0"/>
            <a:chExt cx="2264664" cy="526669"/>
          </a:xfrm>
        </p:grpSpPr>
        <p:sp>
          <p:nvSpPr>
            <p:cNvPr name="Freeform 499" id="4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00" id="500"/>
          <p:cNvGrpSpPr/>
          <p:nvPr/>
        </p:nvGrpSpPr>
        <p:grpSpPr>
          <a:xfrm rot="0">
            <a:off x="10643997" y="5534997"/>
            <a:ext cx="1698498" cy="395002"/>
            <a:chOff x="0" y="0"/>
            <a:chExt cx="2264664" cy="526669"/>
          </a:xfrm>
        </p:grpSpPr>
        <p:sp>
          <p:nvSpPr>
            <p:cNvPr name="Freeform 501" id="5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02" id="502"/>
          <p:cNvGrpSpPr/>
          <p:nvPr/>
        </p:nvGrpSpPr>
        <p:grpSpPr>
          <a:xfrm rot="0">
            <a:off x="10643997" y="5534997"/>
            <a:ext cx="1698498" cy="395002"/>
            <a:chOff x="0" y="0"/>
            <a:chExt cx="2264664" cy="526669"/>
          </a:xfrm>
        </p:grpSpPr>
        <p:sp>
          <p:nvSpPr>
            <p:cNvPr name="Freeform 503" id="5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04" id="504"/>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-30</a:t>
              </a:r>
            </a:p>
          </p:txBody>
        </p:sp>
      </p:grpSp>
      <p:grpSp>
        <p:nvGrpSpPr>
          <p:cNvPr name="Group 505" id="505"/>
          <p:cNvGrpSpPr/>
          <p:nvPr/>
        </p:nvGrpSpPr>
        <p:grpSpPr>
          <a:xfrm rot="0">
            <a:off x="850001" y="5920997"/>
            <a:ext cx="16587978" cy="8954"/>
            <a:chOff x="0" y="0"/>
            <a:chExt cx="22117304" cy="11938"/>
          </a:xfrm>
        </p:grpSpPr>
        <p:sp>
          <p:nvSpPr>
            <p:cNvPr name="Freeform 506" id="506"/>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07" id="507"/>
          <p:cNvGrpSpPr/>
          <p:nvPr/>
        </p:nvGrpSpPr>
        <p:grpSpPr>
          <a:xfrm rot="0">
            <a:off x="850001" y="5929998"/>
            <a:ext cx="16587978" cy="395002"/>
            <a:chOff x="0" y="0"/>
            <a:chExt cx="22117304" cy="526669"/>
          </a:xfrm>
        </p:grpSpPr>
        <p:sp>
          <p:nvSpPr>
            <p:cNvPr name="Freeform 508" id="508"/>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509" id="509"/>
          <p:cNvGrpSpPr/>
          <p:nvPr/>
        </p:nvGrpSpPr>
        <p:grpSpPr>
          <a:xfrm rot="0">
            <a:off x="1070000" y="5929998"/>
            <a:ext cx="16587978" cy="395002"/>
            <a:chOff x="0" y="0"/>
            <a:chExt cx="22117304" cy="526669"/>
          </a:xfrm>
        </p:grpSpPr>
        <p:sp>
          <p:nvSpPr>
            <p:cNvPr name="Freeform 510" id="510"/>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511" id="511"/>
          <p:cNvGrpSpPr/>
          <p:nvPr/>
        </p:nvGrpSpPr>
        <p:grpSpPr>
          <a:xfrm rot="0">
            <a:off x="1070000" y="5922855"/>
            <a:ext cx="16587978" cy="402146"/>
            <a:chOff x="0" y="0"/>
            <a:chExt cx="22117304" cy="536194"/>
          </a:xfrm>
        </p:grpSpPr>
        <p:sp>
          <p:nvSpPr>
            <p:cNvPr name="Freeform 512" id="512"/>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513" id="513"/>
          <p:cNvGrpSpPr/>
          <p:nvPr/>
        </p:nvGrpSpPr>
        <p:grpSpPr>
          <a:xfrm rot="0">
            <a:off x="1070000" y="5915711"/>
            <a:ext cx="16587997" cy="409289"/>
            <a:chOff x="0" y="0"/>
            <a:chExt cx="22117329" cy="545719"/>
          </a:xfrm>
        </p:grpSpPr>
        <p:sp>
          <p:nvSpPr>
            <p:cNvPr name="Freeform 514" id="514"/>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515" id="515"/>
          <p:cNvGrpSpPr/>
          <p:nvPr/>
        </p:nvGrpSpPr>
        <p:grpSpPr>
          <a:xfrm rot="0">
            <a:off x="1070000" y="5908567"/>
            <a:ext cx="16587997" cy="416433"/>
            <a:chOff x="0" y="0"/>
            <a:chExt cx="22117329" cy="555244"/>
          </a:xfrm>
        </p:grpSpPr>
        <p:sp>
          <p:nvSpPr>
            <p:cNvPr name="Freeform 516" id="516"/>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517" id="517"/>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III.  AVERAGE DEPOSIT PER CLIENT</a:t>
              </a:r>
            </a:p>
          </p:txBody>
        </p:sp>
      </p:grpSp>
      <p:grpSp>
        <p:nvGrpSpPr>
          <p:cNvPr name="Group 518" id="518"/>
          <p:cNvGrpSpPr/>
          <p:nvPr/>
        </p:nvGrpSpPr>
        <p:grpSpPr>
          <a:xfrm rot="0">
            <a:off x="1070000" y="6325000"/>
            <a:ext cx="2699956" cy="395002"/>
            <a:chOff x="0" y="0"/>
            <a:chExt cx="3599942" cy="526669"/>
          </a:xfrm>
        </p:grpSpPr>
        <p:sp>
          <p:nvSpPr>
            <p:cNvPr name="Freeform 519" id="51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20" id="520"/>
          <p:cNvGrpSpPr/>
          <p:nvPr/>
        </p:nvGrpSpPr>
        <p:grpSpPr>
          <a:xfrm rot="0">
            <a:off x="1070000" y="6325000"/>
            <a:ext cx="2699956" cy="395002"/>
            <a:chOff x="0" y="0"/>
            <a:chExt cx="3599942" cy="526669"/>
          </a:xfrm>
        </p:grpSpPr>
        <p:sp>
          <p:nvSpPr>
            <p:cNvPr name="Freeform 521" id="52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22" id="522"/>
          <p:cNvGrpSpPr/>
          <p:nvPr/>
        </p:nvGrpSpPr>
        <p:grpSpPr>
          <a:xfrm rot="0">
            <a:off x="1070000" y="6325000"/>
            <a:ext cx="2700004" cy="395002"/>
            <a:chOff x="0" y="0"/>
            <a:chExt cx="3600005" cy="526669"/>
          </a:xfrm>
        </p:grpSpPr>
        <p:sp>
          <p:nvSpPr>
            <p:cNvPr name="Freeform 523" id="52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24" id="524"/>
          <p:cNvGrpSpPr/>
          <p:nvPr/>
        </p:nvGrpSpPr>
        <p:grpSpPr>
          <a:xfrm rot="0">
            <a:off x="1070000" y="6325000"/>
            <a:ext cx="2700004" cy="395002"/>
            <a:chOff x="0" y="0"/>
            <a:chExt cx="3600005" cy="526669"/>
          </a:xfrm>
        </p:grpSpPr>
        <p:sp>
          <p:nvSpPr>
            <p:cNvPr name="Freeform 525" id="525"/>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26" id="526"/>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Actual / Current</a:t>
              </a:r>
            </a:p>
          </p:txBody>
        </p:sp>
      </p:grpSp>
      <p:grpSp>
        <p:nvGrpSpPr>
          <p:cNvPr name="Group 527" id="527"/>
          <p:cNvGrpSpPr/>
          <p:nvPr/>
        </p:nvGrpSpPr>
        <p:grpSpPr>
          <a:xfrm rot="0">
            <a:off x="3850005" y="6325000"/>
            <a:ext cx="1698498" cy="395002"/>
            <a:chOff x="0" y="0"/>
            <a:chExt cx="2264664" cy="526669"/>
          </a:xfrm>
        </p:grpSpPr>
        <p:sp>
          <p:nvSpPr>
            <p:cNvPr name="Freeform 528" id="5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29" id="529"/>
          <p:cNvGrpSpPr/>
          <p:nvPr/>
        </p:nvGrpSpPr>
        <p:grpSpPr>
          <a:xfrm rot="0">
            <a:off x="3850005" y="6325000"/>
            <a:ext cx="1698498" cy="395002"/>
            <a:chOff x="0" y="0"/>
            <a:chExt cx="2264664" cy="526669"/>
          </a:xfrm>
        </p:grpSpPr>
        <p:sp>
          <p:nvSpPr>
            <p:cNvPr name="Freeform 530" id="5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31" id="531"/>
          <p:cNvGrpSpPr/>
          <p:nvPr/>
        </p:nvGrpSpPr>
        <p:grpSpPr>
          <a:xfrm rot="0">
            <a:off x="3850005" y="6325000"/>
            <a:ext cx="1698498" cy="395002"/>
            <a:chOff x="0" y="0"/>
            <a:chExt cx="2264664" cy="526669"/>
          </a:xfrm>
        </p:grpSpPr>
        <p:sp>
          <p:nvSpPr>
            <p:cNvPr name="Freeform 532" id="5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33" id="533"/>
          <p:cNvGrpSpPr/>
          <p:nvPr/>
        </p:nvGrpSpPr>
        <p:grpSpPr>
          <a:xfrm rot="0">
            <a:off x="3850005" y="6325000"/>
            <a:ext cx="1698498" cy="395002"/>
            <a:chOff x="0" y="0"/>
            <a:chExt cx="2264664" cy="526669"/>
          </a:xfrm>
        </p:grpSpPr>
        <p:sp>
          <p:nvSpPr>
            <p:cNvPr name="Freeform 534" id="5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35" id="53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$364.82</a:t>
              </a:r>
            </a:p>
          </p:txBody>
        </p:sp>
      </p:grpSp>
      <p:grpSp>
        <p:nvGrpSpPr>
          <p:cNvPr name="Group 536" id="536"/>
          <p:cNvGrpSpPr/>
          <p:nvPr/>
        </p:nvGrpSpPr>
        <p:grpSpPr>
          <a:xfrm rot="0">
            <a:off x="5548503" y="6325000"/>
            <a:ext cx="1698498" cy="395002"/>
            <a:chOff x="0" y="0"/>
            <a:chExt cx="2264664" cy="526669"/>
          </a:xfrm>
        </p:grpSpPr>
        <p:sp>
          <p:nvSpPr>
            <p:cNvPr name="Freeform 537" id="5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38" id="538"/>
          <p:cNvGrpSpPr/>
          <p:nvPr/>
        </p:nvGrpSpPr>
        <p:grpSpPr>
          <a:xfrm rot="0">
            <a:off x="5548503" y="6325000"/>
            <a:ext cx="1698498" cy="395002"/>
            <a:chOff x="0" y="0"/>
            <a:chExt cx="2264664" cy="526669"/>
          </a:xfrm>
        </p:grpSpPr>
        <p:sp>
          <p:nvSpPr>
            <p:cNvPr name="Freeform 539" id="5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0" id="540"/>
          <p:cNvGrpSpPr/>
          <p:nvPr/>
        </p:nvGrpSpPr>
        <p:grpSpPr>
          <a:xfrm rot="0">
            <a:off x="5548503" y="6325000"/>
            <a:ext cx="1698498" cy="395002"/>
            <a:chOff x="0" y="0"/>
            <a:chExt cx="2264664" cy="526669"/>
          </a:xfrm>
        </p:grpSpPr>
        <p:sp>
          <p:nvSpPr>
            <p:cNvPr name="Freeform 541" id="5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42" id="542"/>
          <p:cNvGrpSpPr/>
          <p:nvPr/>
        </p:nvGrpSpPr>
        <p:grpSpPr>
          <a:xfrm rot="0">
            <a:off x="5548503" y="6325000"/>
            <a:ext cx="1698498" cy="395002"/>
            <a:chOff x="0" y="0"/>
            <a:chExt cx="2264664" cy="526669"/>
          </a:xfrm>
        </p:grpSpPr>
        <p:sp>
          <p:nvSpPr>
            <p:cNvPr name="Freeform 543" id="5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44" id="54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$329.46</a:t>
              </a:r>
            </a:p>
          </p:txBody>
        </p:sp>
      </p:grpSp>
      <p:grpSp>
        <p:nvGrpSpPr>
          <p:cNvPr name="Group 545" id="545"/>
          <p:cNvGrpSpPr/>
          <p:nvPr/>
        </p:nvGrpSpPr>
        <p:grpSpPr>
          <a:xfrm rot="0">
            <a:off x="7247001" y="6325000"/>
            <a:ext cx="1698498" cy="395002"/>
            <a:chOff x="0" y="0"/>
            <a:chExt cx="2264664" cy="526669"/>
          </a:xfrm>
        </p:grpSpPr>
        <p:sp>
          <p:nvSpPr>
            <p:cNvPr name="Freeform 546" id="5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47" id="547"/>
          <p:cNvGrpSpPr/>
          <p:nvPr/>
        </p:nvGrpSpPr>
        <p:grpSpPr>
          <a:xfrm rot="0">
            <a:off x="7247001" y="6325000"/>
            <a:ext cx="1698498" cy="395002"/>
            <a:chOff x="0" y="0"/>
            <a:chExt cx="2264664" cy="526669"/>
          </a:xfrm>
        </p:grpSpPr>
        <p:sp>
          <p:nvSpPr>
            <p:cNvPr name="Freeform 548" id="5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9" id="549"/>
          <p:cNvGrpSpPr/>
          <p:nvPr/>
        </p:nvGrpSpPr>
        <p:grpSpPr>
          <a:xfrm rot="0">
            <a:off x="7247001" y="6325000"/>
            <a:ext cx="1698498" cy="395002"/>
            <a:chOff x="0" y="0"/>
            <a:chExt cx="2264664" cy="526669"/>
          </a:xfrm>
        </p:grpSpPr>
        <p:sp>
          <p:nvSpPr>
            <p:cNvPr name="Freeform 550" id="5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51" id="551"/>
          <p:cNvGrpSpPr/>
          <p:nvPr/>
        </p:nvGrpSpPr>
        <p:grpSpPr>
          <a:xfrm rot="0">
            <a:off x="7247001" y="6325000"/>
            <a:ext cx="1698498" cy="395002"/>
            <a:chOff x="0" y="0"/>
            <a:chExt cx="2264664" cy="526669"/>
          </a:xfrm>
        </p:grpSpPr>
        <p:sp>
          <p:nvSpPr>
            <p:cNvPr name="Freeform 552" id="5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53" id="55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$261.42</a:t>
              </a:r>
            </a:p>
          </p:txBody>
        </p:sp>
      </p:grpSp>
      <p:grpSp>
        <p:nvGrpSpPr>
          <p:cNvPr name="Group 554" id="554"/>
          <p:cNvGrpSpPr/>
          <p:nvPr/>
        </p:nvGrpSpPr>
        <p:grpSpPr>
          <a:xfrm rot="0">
            <a:off x="8945499" y="6325000"/>
            <a:ext cx="1698498" cy="395002"/>
            <a:chOff x="0" y="0"/>
            <a:chExt cx="2264664" cy="526669"/>
          </a:xfrm>
        </p:grpSpPr>
        <p:sp>
          <p:nvSpPr>
            <p:cNvPr name="Freeform 555" id="5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56" id="556"/>
          <p:cNvGrpSpPr/>
          <p:nvPr/>
        </p:nvGrpSpPr>
        <p:grpSpPr>
          <a:xfrm rot="0">
            <a:off x="8945499" y="6325000"/>
            <a:ext cx="1698498" cy="395002"/>
            <a:chOff x="0" y="0"/>
            <a:chExt cx="2264664" cy="526669"/>
          </a:xfrm>
        </p:grpSpPr>
        <p:sp>
          <p:nvSpPr>
            <p:cNvPr name="Freeform 557" id="5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58" id="558"/>
          <p:cNvGrpSpPr/>
          <p:nvPr/>
        </p:nvGrpSpPr>
        <p:grpSpPr>
          <a:xfrm rot="0">
            <a:off x="8945499" y="6325000"/>
            <a:ext cx="1698498" cy="395002"/>
            <a:chOff x="0" y="0"/>
            <a:chExt cx="2264664" cy="526669"/>
          </a:xfrm>
        </p:grpSpPr>
        <p:sp>
          <p:nvSpPr>
            <p:cNvPr name="Freeform 559" id="5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0" id="560"/>
          <p:cNvGrpSpPr/>
          <p:nvPr/>
        </p:nvGrpSpPr>
        <p:grpSpPr>
          <a:xfrm rot="0">
            <a:off x="8945499" y="6325000"/>
            <a:ext cx="1698498" cy="395002"/>
            <a:chOff x="0" y="0"/>
            <a:chExt cx="2264664" cy="526669"/>
          </a:xfrm>
        </p:grpSpPr>
        <p:sp>
          <p:nvSpPr>
            <p:cNvPr name="Freeform 561" id="5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62" id="56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$212.84</a:t>
              </a:r>
            </a:p>
          </p:txBody>
        </p:sp>
      </p:grpSp>
      <p:grpSp>
        <p:nvGrpSpPr>
          <p:cNvPr name="Group 563" id="563"/>
          <p:cNvGrpSpPr/>
          <p:nvPr/>
        </p:nvGrpSpPr>
        <p:grpSpPr>
          <a:xfrm rot="0">
            <a:off x="10643997" y="6325000"/>
            <a:ext cx="1698498" cy="395002"/>
            <a:chOff x="0" y="0"/>
            <a:chExt cx="2264664" cy="526669"/>
          </a:xfrm>
        </p:grpSpPr>
        <p:sp>
          <p:nvSpPr>
            <p:cNvPr name="Freeform 564" id="5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65" id="565"/>
          <p:cNvGrpSpPr/>
          <p:nvPr/>
        </p:nvGrpSpPr>
        <p:grpSpPr>
          <a:xfrm rot="0">
            <a:off x="10643997" y="6325000"/>
            <a:ext cx="1698498" cy="395002"/>
            <a:chOff x="0" y="0"/>
            <a:chExt cx="2264664" cy="526669"/>
          </a:xfrm>
        </p:grpSpPr>
        <p:sp>
          <p:nvSpPr>
            <p:cNvPr name="Freeform 566" id="5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67" id="567"/>
          <p:cNvGrpSpPr/>
          <p:nvPr/>
        </p:nvGrpSpPr>
        <p:grpSpPr>
          <a:xfrm rot="0">
            <a:off x="10643997" y="6325000"/>
            <a:ext cx="1698498" cy="395002"/>
            <a:chOff x="0" y="0"/>
            <a:chExt cx="2264664" cy="526669"/>
          </a:xfrm>
        </p:grpSpPr>
        <p:sp>
          <p:nvSpPr>
            <p:cNvPr name="Freeform 568" id="5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9" id="569"/>
          <p:cNvGrpSpPr/>
          <p:nvPr/>
        </p:nvGrpSpPr>
        <p:grpSpPr>
          <a:xfrm rot="0">
            <a:off x="10643997" y="6325000"/>
            <a:ext cx="1698498" cy="395002"/>
            <a:chOff x="0" y="0"/>
            <a:chExt cx="2264664" cy="526669"/>
          </a:xfrm>
        </p:grpSpPr>
        <p:sp>
          <p:nvSpPr>
            <p:cNvPr name="Freeform 570" id="5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71" id="57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$200.10</a:t>
              </a:r>
            </a:p>
          </p:txBody>
        </p:sp>
      </p:grpSp>
      <p:grpSp>
        <p:nvGrpSpPr>
          <p:cNvPr name="Group 572" id="572"/>
          <p:cNvGrpSpPr/>
          <p:nvPr/>
        </p:nvGrpSpPr>
        <p:grpSpPr>
          <a:xfrm rot="0">
            <a:off x="850001" y="6711001"/>
            <a:ext cx="16587978" cy="8954"/>
            <a:chOff x="0" y="0"/>
            <a:chExt cx="22117304" cy="11938"/>
          </a:xfrm>
        </p:grpSpPr>
        <p:sp>
          <p:nvSpPr>
            <p:cNvPr name="Freeform 573" id="573"/>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74" id="574"/>
          <p:cNvGrpSpPr/>
          <p:nvPr/>
        </p:nvGrpSpPr>
        <p:grpSpPr>
          <a:xfrm rot="0">
            <a:off x="1070000" y="6720002"/>
            <a:ext cx="2699956" cy="395002"/>
            <a:chOff x="0" y="0"/>
            <a:chExt cx="3599942" cy="526669"/>
          </a:xfrm>
        </p:grpSpPr>
        <p:sp>
          <p:nvSpPr>
            <p:cNvPr name="Freeform 575" id="57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76" id="576"/>
          <p:cNvGrpSpPr/>
          <p:nvPr/>
        </p:nvGrpSpPr>
        <p:grpSpPr>
          <a:xfrm rot="0">
            <a:off x="1070000" y="6720002"/>
            <a:ext cx="2699956" cy="395002"/>
            <a:chOff x="0" y="0"/>
            <a:chExt cx="3599942" cy="526669"/>
          </a:xfrm>
        </p:grpSpPr>
        <p:sp>
          <p:nvSpPr>
            <p:cNvPr name="Freeform 577" id="57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78" id="578"/>
          <p:cNvGrpSpPr/>
          <p:nvPr/>
        </p:nvGrpSpPr>
        <p:grpSpPr>
          <a:xfrm rot="0">
            <a:off x="1070000" y="6720002"/>
            <a:ext cx="2700004" cy="395002"/>
            <a:chOff x="0" y="0"/>
            <a:chExt cx="3600005" cy="526669"/>
          </a:xfrm>
        </p:grpSpPr>
        <p:sp>
          <p:nvSpPr>
            <p:cNvPr name="Freeform 579" id="57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80" id="580"/>
          <p:cNvGrpSpPr/>
          <p:nvPr/>
        </p:nvGrpSpPr>
        <p:grpSpPr>
          <a:xfrm rot="0">
            <a:off x="1070000" y="6720002"/>
            <a:ext cx="2700004" cy="395002"/>
            <a:chOff x="0" y="0"/>
            <a:chExt cx="3600005" cy="526669"/>
          </a:xfrm>
        </p:grpSpPr>
        <p:sp>
          <p:nvSpPr>
            <p:cNvPr name="Freeform 581" id="581"/>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82" id="582"/>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583" id="583"/>
          <p:cNvGrpSpPr/>
          <p:nvPr/>
        </p:nvGrpSpPr>
        <p:grpSpPr>
          <a:xfrm rot="0">
            <a:off x="3850005" y="6720002"/>
            <a:ext cx="1698498" cy="395002"/>
            <a:chOff x="0" y="0"/>
            <a:chExt cx="2264664" cy="526669"/>
          </a:xfrm>
        </p:grpSpPr>
        <p:sp>
          <p:nvSpPr>
            <p:cNvPr name="Freeform 584" id="5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85" id="585"/>
          <p:cNvGrpSpPr/>
          <p:nvPr/>
        </p:nvGrpSpPr>
        <p:grpSpPr>
          <a:xfrm rot="0">
            <a:off x="3850005" y="6720002"/>
            <a:ext cx="1698498" cy="395002"/>
            <a:chOff x="0" y="0"/>
            <a:chExt cx="2264664" cy="526669"/>
          </a:xfrm>
        </p:grpSpPr>
        <p:sp>
          <p:nvSpPr>
            <p:cNvPr name="Freeform 586" id="5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87" id="587"/>
          <p:cNvGrpSpPr/>
          <p:nvPr/>
        </p:nvGrpSpPr>
        <p:grpSpPr>
          <a:xfrm rot="0">
            <a:off x="3850005" y="6720002"/>
            <a:ext cx="1698498" cy="395002"/>
            <a:chOff x="0" y="0"/>
            <a:chExt cx="2264664" cy="526669"/>
          </a:xfrm>
        </p:grpSpPr>
        <p:sp>
          <p:nvSpPr>
            <p:cNvPr name="Freeform 588" id="5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89" id="589"/>
          <p:cNvGrpSpPr/>
          <p:nvPr/>
        </p:nvGrpSpPr>
        <p:grpSpPr>
          <a:xfrm rot="0">
            <a:off x="3850005" y="6720002"/>
            <a:ext cx="1698498" cy="395002"/>
            <a:chOff x="0" y="0"/>
            <a:chExt cx="2264664" cy="526669"/>
          </a:xfrm>
        </p:grpSpPr>
        <p:sp>
          <p:nvSpPr>
            <p:cNvPr name="Freeform 590" id="5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91" id="59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$5,000</a:t>
              </a:r>
            </a:p>
          </p:txBody>
        </p:sp>
      </p:grpSp>
      <p:grpSp>
        <p:nvGrpSpPr>
          <p:cNvPr name="Group 592" id="592"/>
          <p:cNvGrpSpPr/>
          <p:nvPr/>
        </p:nvGrpSpPr>
        <p:grpSpPr>
          <a:xfrm rot="0">
            <a:off x="5548503" y="6720002"/>
            <a:ext cx="1698498" cy="395002"/>
            <a:chOff x="0" y="0"/>
            <a:chExt cx="2264664" cy="526669"/>
          </a:xfrm>
        </p:grpSpPr>
        <p:sp>
          <p:nvSpPr>
            <p:cNvPr name="Freeform 593" id="5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94" id="594"/>
          <p:cNvGrpSpPr/>
          <p:nvPr/>
        </p:nvGrpSpPr>
        <p:grpSpPr>
          <a:xfrm rot="0">
            <a:off x="5548503" y="6720002"/>
            <a:ext cx="1698498" cy="395002"/>
            <a:chOff x="0" y="0"/>
            <a:chExt cx="2264664" cy="526669"/>
          </a:xfrm>
        </p:grpSpPr>
        <p:sp>
          <p:nvSpPr>
            <p:cNvPr name="Freeform 595" id="5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96" id="596"/>
          <p:cNvGrpSpPr/>
          <p:nvPr/>
        </p:nvGrpSpPr>
        <p:grpSpPr>
          <a:xfrm rot="0">
            <a:off x="5548503" y="6720002"/>
            <a:ext cx="1698498" cy="395002"/>
            <a:chOff x="0" y="0"/>
            <a:chExt cx="2264664" cy="526669"/>
          </a:xfrm>
        </p:grpSpPr>
        <p:sp>
          <p:nvSpPr>
            <p:cNvPr name="Freeform 597" id="5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98" id="598"/>
          <p:cNvGrpSpPr/>
          <p:nvPr/>
        </p:nvGrpSpPr>
        <p:grpSpPr>
          <a:xfrm rot="0">
            <a:off x="5548503" y="6720002"/>
            <a:ext cx="1698498" cy="395002"/>
            <a:chOff x="0" y="0"/>
            <a:chExt cx="2264664" cy="526669"/>
          </a:xfrm>
        </p:grpSpPr>
        <p:sp>
          <p:nvSpPr>
            <p:cNvPr name="Freeform 599" id="5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0" id="60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$5,250</a:t>
              </a:r>
            </a:p>
          </p:txBody>
        </p:sp>
      </p:grpSp>
      <p:grpSp>
        <p:nvGrpSpPr>
          <p:cNvPr name="Group 601" id="601"/>
          <p:cNvGrpSpPr/>
          <p:nvPr/>
        </p:nvGrpSpPr>
        <p:grpSpPr>
          <a:xfrm rot="0">
            <a:off x="7247001" y="6720002"/>
            <a:ext cx="1698498" cy="395002"/>
            <a:chOff x="0" y="0"/>
            <a:chExt cx="2264664" cy="526669"/>
          </a:xfrm>
        </p:grpSpPr>
        <p:sp>
          <p:nvSpPr>
            <p:cNvPr name="Freeform 602" id="6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03" id="603"/>
          <p:cNvGrpSpPr/>
          <p:nvPr/>
        </p:nvGrpSpPr>
        <p:grpSpPr>
          <a:xfrm rot="0">
            <a:off x="7247001" y="6720002"/>
            <a:ext cx="1698498" cy="395002"/>
            <a:chOff x="0" y="0"/>
            <a:chExt cx="2264664" cy="526669"/>
          </a:xfrm>
        </p:grpSpPr>
        <p:sp>
          <p:nvSpPr>
            <p:cNvPr name="Freeform 604" id="6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05" id="605"/>
          <p:cNvGrpSpPr/>
          <p:nvPr/>
        </p:nvGrpSpPr>
        <p:grpSpPr>
          <a:xfrm rot="0">
            <a:off x="7247001" y="6720002"/>
            <a:ext cx="1698498" cy="395002"/>
            <a:chOff x="0" y="0"/>
            <a:chExt cx="2264664" cy="526669"/>
          </a:xfrm>
        </p:grpSpPr>
        <p:sp>
          <p:nvSpPr>
            <p:cNvPr name="Freeform 606" id="6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07" id="607"/>
          <p:cNvGrpSpPr/>
          <p:nvPr/>
        </p:nvGrpSpPr>
        <p:grpSpPr>
          <a:xfrm rot="0">
            <a:off x="7247001" y="6720002"/>
            <a:ext cx="1698498" cy="395002"/>
            <a:chOff x="0" y="0"/>
            <a:chExt cx="2264664" cy="526669"/>
          </a:xfrm>
        </p:grpSpPr>
        <p:sp>
          <p:nvSpPr>
            <p:cNvPr name="Freeform 608" id="6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9" id="60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$5,513</a:t>
              </a:r>
            </a:p>
          </p:txBody>
        </p:sp>
      </p:grpSp>
      <p:grpSp>
        <p:nvGrpSpPr>
          <p:cNvPr name="Group 610" id="610"/>
          <p:cNvGrpSpPr/>
          <p:nvPr/>
        </p:nvGrpSpPr>
        <p:grpSpPr>
          <a:xfrm rot="0">
            <a:off x="8945499" y="6720002"/>
            <a:ext cx="1698498" cy="395002"/>
            <a:chOff x="0" y="0"/>
            <a:chExt cx="2264664" cy="526669"/>
          </a:xfrm>
        </p:grpSpPr>
        <p:sp>
          <p:nvSpPr>
            <p:cNvPr name="Freeform 611" id="6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12" id="612"/>
          <p:cNvGrpSpPr/>
          <p:nvPr/>
        </p:nvGrpSpPr>
        <p:grpSpPr>
          <a:xfrm rot="0">
            <a:off x="8945499" y="6720002"/>
            <a:ext cx="1698498" cy="395002"/>
            <a:chOff x="0" y="0"/>
            <a:chExt cx="2264664" cy="526669"/>
          </a:xfrm>
        </p:grpSpPr>
        <p:sp>
          <p:nvSpPr>
            <p:cNvPr name="Freeform 613" id="6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14" id="614"/>
          <p:cNvGrpSpPr/>
          <p:nvPr/>
        </p:nvGrpSpPr>
        <p:grpSpPr>
          <a:xfrm rot="0">
            <a:off x="8945499" y="6720002"/>
            <a:ext cx="1698498" cy="395002"/>
            <a:chOff x="0" y="0"/>
            <a:chExt cx="2264664" cy="526669"/>
          </a:xfrm>
        </p:grpSpPr>
        <p:sp>
          <p:nvSpPr>
            <p:cNvPr name="Freeform 615" id="6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16" id="616"/>
          <p:cNvGrpSpPr/>
          <p:nvPr/>
        </p:nvGrpSpPr>
        <p:grpSpPr>
          <a:xfrm rot="0">
            <a:off x="8945499" y="6720002"/>
            <a:ext cx="1698498" cy="395002"/>
            <a:chOff x="0" y="0"/>
            <a:chExt cx="2264664" cy="526669"/>
          </a:xfrm>
        </p:grpSpPr>
        <p:sp>
          <p:nvSpPr>
            <p:cNvPr name="Freeform 617" id="6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18" id="61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$5,788</a:t>
              </a:r>
            </a:p>
          </p:txBody>
        </p:sp>
      </p:grpSp>
      <p:grpSp>
        <p:nvGrpSpPr>
          <p:cNvPr name="Group 619" id="619"/>
          <p:cNvGrpSpPr/>
          <p:nvPr/>
        </p:nvGrpSpPr>
        <p:grpSpPr>
          <a:xfrm rot="0">
            <a:off x="10643997" y="6720002"/>
            <a:ext cx="1698498" cy="395002"/>
            <a:chOff x="0" y="0"/>
            <a:chExt cx="2264664" cy="526669"/>
          </a:xfrm>
        </p:grpSpPr>
        <p:sp>
          <p:nvSpPr>
            <p:cNvPr name="Freeform 620" id="6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21" id="621"/>
          <p:cNvGrpSpPr/>
          <p:nvPr/>
        </p:nvGrpSpPr>
        <p:grpSpPr>
          <a:xfrm rot="0">
            <a:off x="10643997" y="6720002"/>
            <a:ext cx="1698498" cy="395002"/>
            <a:chOff x="0" y="0"/>
            <a:chExt cx="2264664" cy="526669"/>
          </a:xfrm>
        </p:grpSpPr>
        <p:sp>
          <p:nvSpPr>
            <p:cNvPr name="Freeform 622" id="6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23" id="623"/>
          <p:cNvGrpSpPr/>
          <p:nvPr/>
        </p:nvGrpSpPr>
        <p:grpSpPr>
          <a:xfrm rot="0">
            <a:off x="10643997" y="6720002"/>
            <a:ext cx="1698498" cy="395002"/>
            <a:chOff x="0" y="0"/>
            <a:chExt cx="2264664" cy="526669"/>
          </a:xfrm>
        </p:grpSpPr>
        <p:sp>
          <p:nvSpPr>
            <p:cNvPr name="Freeform 624" id="6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25" id="625"/>
          <p:cNvGrpSpPr/>
          <p:nvPr/>
        </p:nvGrpSpPr>
        <p:grpSpPr>
          <a:xfrm rot="0">
            <a:off x="10643997" y="6720002"/>
            <a:ext cx="1698498" cy="395002"/>
            <a:chOff x="0" y="0"/>
            <a:chExt cx="2264664" cy="526669"/>
          </a:xfrm>
        </p:grpSpPr>
        <p:sp>
          <p:nvSpPr>
            <p:cNvPr name="Freeform 626" id="6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27" id="62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$6,078</a:t>
              </a:r>
            </a:p>
          </p:txBody>
        </p:sp>
      </p:grpSp>
      <p:grpSp>
        <p:nvGrpSpPr>
          <p:cNvPr name="Group 628" id="628"/>
          <p:cNvGrpSpPr/>
          <p:nvPr/>
        </p:nvGrpSpPr>
        <p:grpSpPr>
          <a:xfrm rot="0">
            <a:off x="12342505" y="6720002"/>
            <a:ext cx="1698498" cy="395002"/>
            <a:chOff x="0" y="0"/>
            <a:chExt cx="2264664" cy="526669"/>
          </a:xfrm>
        </p:grpSpPr>
        <p:sp>
          <p:nvSpPr>
            <p:cNvPr name="Freeform 629" id="6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0" id="630"/>
          <p:cNvGrpSpPr/>
          <p:nvPr/>
        </p:nvGrpSpPr>
        <p:grpSpPr>
          <a:xfrm rot="0">
            <a:off x="12342505" y="6720002"/>
            <a:ext cx="1698498" cy="395002"/>
            <a:chOff x="0" y="0"/>
            <a:chExt cx="2264664" cy="526669"/>
          </a:xfrm>
        </p:grpSpPr>
        <p:sp>
          <p:nvSpPr>
            <p:cNvPr name="Freeform 631" id="6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32" id="632"/>
          <p:cNvGrpSpPr/>
          <p:nvPr/>
        </p:nvGrpSpPr>
        <p:grpSpPr>
          <a:xfrm rot="0">
            <a:off x="12342505" y="6720002"/>
            <a:ext cx="1698498" cy="395002"/>
            <a:chOff x="0" y="0"/>
            <a:chExt cx="2264664" cy="526669"/>
          </a:xfrm>
        </p:grpSpPr>
        <p:sp>
          <p:nvSpPr>
            <p:cNvPr name="Freeform 633" id="6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34" id="634"/>
          <p:cNvGrpSpPr/>
          <p:nvPr/>
        </p:nvGrpSpPr>
        <p:grpSpPr>
          <a:xfrm rot="0">
            <a:off x="12342505" y="6720002"/>
            <a:ext cx="1698498" cy="395002"/>
            <a:chOff x="0" y="0"/>
            <a:chExt cx="2264664" cy="526669"/>
          </a:xfrm>
        </p:grpSpPr>
        <p:sp>
          <p:nvSpPr>
            <p:cNvPr name="Freeform 635" id="6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36" id="63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$6,381</a:t>
              </a:r>
            </a:p>
          </p:txBody>
        </p:sp>
      </p:grpSp>
      <p:grpSp>
        <p:nvGrpSpPr>
          <p:cNvPr name="Group 637" id="637"/>
          <p:cNvGrpSpPr/>
          <p:nvPr/>
        </p:nvGrpSpPr>
        <p:grpSpPr>
          <a:xfrm rot="0">
            <a:off x="14041003" y="6720002"/>
            <a:ext cx="1698498" cy="395002"/>
            <a:chOff x="0" y="0"/>
            <a:chExt cx="2264664" cy="526669"/>
          </a:xfrm>
        </p:grpSpPr>
        <p:sp>
          <p:nvSpPr>
            <p:cNvPr name="Freeform 638" id="6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9" id="639"/>
          <p:cNvGrpSpPr/>
          <p:nvPr/>
        </p:nvGrpSpPr>
        <p:grpSpPr>
          <a:xfrm rot="0">
            <a:off x="14041003" y="6720002"/>
            <a:ext cx="1698498" cy="395002"/>
            <a:chOff x="0" y="0"/>
            <a:chExt cx="2264664" cy="526669"/>
          </a:xfrm>
        </p:grpSpPr>
        <p:sp>
          <p:nvSpPr>
            <p:cNvPr name="Freeform 640" id="6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41" id="641"/>
          <p:cNvGrpSpPr/>
          <p:nvPr/>
        </p:nvGrpSpPr>
        <p:grpSpPr>
          <a:xfrm rot="0">
            <a:off x="14041003" y="6720002"/>
            <a:ext cx="1698498" cy="395002"/>
            <a:chOff x="0" y="0"/>
            <a:chExt cx="2264664" cy="526669"/>
          </a:xfrm>
        </p:grpSpPr>
        <p:sp>
          <p:nvSpPr>
            <p:cNvPr name="Freeform 642" id="6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43" id="643"/>
          <p:cNvGrpSpPr/>
          <p:nvPr/>
        </p:nvGrpSpPr>
        <p:grpSpPr>
          <a:xfrm rot="0">
            <a:off x="14041003" y="6720002"/>
            <a:ext cx="1698498" cy="395002"/>
            <a:chOff x="0" y="0"/>
            <a:chExt cx="2264664" cy="526669"/>
          </a:xfrm>
        </p:grpSpPr>
        <p:sp>
          <p:nvSpPr>
            <p:cNvPr name="Freeform 644" id="6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45" id="64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$6,700</a:t>
              </a:r>
            </a:p>
          </p:txBody>
        </p:sp>
      </p:grpSp>
      <p:grpSp>
        <p:nvGrpSpPr>
          <p:cNvPr name="Group 646" id="646"/>
          <p:cNvGrpSpPr/>
          <p:nvPr/>
        </p:nvGrpSpPr>
        <p:grpSpPr>
          <a:xfrm rot="0">
            <a:off x="15739501" y="6720002"/>
            <a:ext cx="1698498" cy="395002"/>
            <a:chOff x="0" y="0"/>
            <a:chExt cx="2264664" cy="526669"/>
          </a:xfrm>
        </p:grpSpPr>
        <p:sp>
          <p:nvSpPr>
            <p:cNvPr name="Freeform 647" id="6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48" id="648"/>
          <p:cNvGrpSpPr/>
          <p:nvPr/>
        </p:nvGrpSpPr>
        <p:grpSpPr>
          <a:xfrm rot="0">
            <a:off x="15739501" y="6720002"/>
            <a:ext cx="1698498" cy="395002"/>
            <a:chOff x="0" y="0"/>
            <a:chExt cx="2264664" cy="526669"/>
          </a:xfrm>
        </p:grpSpPr>
        <p:sp>
          <p:nvSpPr>
            <p:cNvPr name="Freeform 649" id="6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50" id="650"/>
          <p:cNvGrpSpPr/>
          <p:nvPr/>
        </p:nvGrpSpPr>
        <p:grpSpPr>
          <a:xfrm rot="0">
            <a:off x="15739501" y="6720002"/>
            <a:ext cx="1698498" cy="395002"/>
            <a:chOff x="0" y="0"/>
            <a:chExt cx="2264664" cy="526669"/>
          </a:xfrm>
        </p:grpSpPr>
        <p:sp>
          <p:nvSpPr>
            <p:cNvPr name="Freeform 651" id="6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52" id="652"/>
          <p:cNvGrpSpPr/>
          <p:nvPr/>
        </p:nvGrpSpPr>
        <p:grpSpPr>
          <a:xfrm rot="0">
            <a:off x="15739501" y="6720002"/>
            <a:ext cx="1698498" cy="395002"/>
            <a:chOff x="0" y="0"/>
            <a:chExt cx="2264664" cy="526669"/>
          </a:xfrm>
        </p:grpSpPr>
        <p:sp>
          <p:nvSpPr>
            <p:cNvPr name="Freeform 653" id="6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54" id="65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$7,036</a:t>
              </a:r>
            </a:p>
          </p:txBody>
        </p:sp>
      </p:grpSp>
      <p:grpSp>
        <p:nvGrpSpPr>
          <p:cNvPr name="Group 655" id="655"/>
          <p:cNvGrpSpPr/>
          <p:nvPr/>
        </p:nvGrpSpPr>
        <p:grpSpPr>
          <a:xfrm rot="0">
            <a:off x="850001" y="7106002"/>
            <a:ext cx="16587978" cy="8954"/>
            <a:chOff x="0" y="0"/>
            <a:chExt cx="22117304" cy="11938"/>
          </a:xfrm>
        </p:grpSpPr>
        <p:sp>
          <p:nvSpPr>
            <p:cNvPr name="Freeform 656" id="656"/>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657" id="657"/>
          <p:cNvGrpSpPr/>
          <p:nvPr/>
        </p:nvGrpSpPr>
        <p:grpSpPr>
          <a:xfrm rot="0">
            <a:off x="1070000" y="7115004"/>
            <a:ext cx="2699956" cy="395002"/>
            <a:chOff x="0" y="0"/>
            <a:chExt cx="3599942" cy="526669"/>
          </a:xfrm>
        </p:grpSpPr>
        <p:sp>
          <p:nvSpPr>
            <p:cNvPr name="Freeform 658" id="65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659" id="659"/>
          <p:cNvGrpSpPr/>
          <p:nvPr/>
        </p:nvGrpSpPr>
        <p:grpSpPr>
          <a:xfrm rot="0">
            <a:off x="1070000" y="7115004"/>
            <a:ext cx="2699956" cy="395002"/>
            <a:chOff x="0" y="0"/>
            <a:chExt cx="3599942" cy="526669"/>
          </a:xfrm>
        </p:grpSpPr>
        <p:sp>
          <p:nvSpPr>
            <p:cNvPr name="Freeform 660" id="66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661" id="661"/>
          <p:cNvGrpSpPr/>
          <p:nvPr/>
        </p:nvGrpSpPr>
        <p:grpSpPr>
          <a:xfrm rot="0">
            <a:off x="1070000" y="7115004"/>
            <a:ext cx="2700004" cy="395002"/>
            <a:chOff x="0" y="0"/>
            <a:chExt cx="3600005" cy="526669"/>
          </a:xfrm>
        </p:grpSpPr>
        <p:sp>
          <p:nvSpPr>
            <p:cNvPr name="Freeform 662" id="66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663" id="663"/>
          <p:cNvGrpSpPr/>
          <p:nvPr/>
        </p:nvGrpSpPr>
        <p:grpSpPr>
          <a:xfrm rot="0">
            <a:off x="1070000" y="7115004"/>
            <a:ext cx="2700004" cy="395002"/>
            <a:chOff x="0" y="0"/>
            <a:chExt cx="3600005" cy="526669"/>
          </a:xfrm>
        </p:grpSpPr>
        <p:sp>
          <p:nvSpPr>
            <p:cNvPr name="Freeform 664" id="664"/>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665" id="665"/>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666" id="666"/>
          <p:cNvGrpSpPr/>
          <p:nvPr/>
        </p:nvGrpSpPr>
        <p:grpSpPr>
          <a:xfrm rot="0">
            <a:off x="3850005" y="7115004"/>
            <a:ext cx="1698498" cy="395002"/>
            <a:chOff x="0" y="0"/>
            <a:chExt cx="2264664" cy="526669"/>
          </a:xfrm>
        </p:grpSpPr>
        <p:sp>
          <p:nvSpPr>
            <p:cNvPr name="Freeform 667" id="6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68" id="668"/>
          <p:cNvGrpSpPr/>
          <p:nvPr/>
        </p:nvGrpSpPr>
        <p:grpSpPr>
          <a:xfrm rot="0">
            <a:off x="3850005" y="7115004"/>
            <a:ext cx="1698498" cy="395002"/>
            <a:chOff x="0" y="0"/>
            <a:chExt cx="2264664" cy="526669"/>
          </a:xfrm>
        </p:grpSpPr>
        <p:sp>
          <p:nvSpPr>
            <p:cNvPr name="Freeform 669" id="66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0" id="670"/>
          <p:cNvGrpSpPr/>
          <p:nvPr/>
        </p:nvGrpSpPr>
        <p:grpSpPr>
          <a:xfrm rot="0">
            <a:off x="3850005" y="7115004"/>
            <a:ext cx="1698498" cy="395002"/>
            <a:chOff x="0" y="0"/>
            <a:chExt cx="2264664" cy="526669"/>
          </a:xfrm>
        </p:grpSpPr>
        <p:sp>
          <p:nvSpPr>
            <p:cNvPr name="Freeform 671" id="6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72" id="672"/>
          <p:cNvGrpSpPr/>
          <p:nvPr/>
        </p:nvGrpSpPr>
        <p:grpSpPr>
          <a:xfrm rot="0">
            <a:off x="3850005" y="7115004"/>
            <a:ext cx="1698498" cy="395002"/>
            <a:chOff x="0" y="0"/>
            <a:chExt cx="2264664" cy="526669"/>
          </a:xfrm>
        </p:grpSpPr>
        <p:sp>
          <p:nvSpPr>
            <p:cNvPr name="Freeform 673" id="6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74" id="674"/>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-$4,635.18</a:t>
              </a:r>
            </a:p>
          </p:txBody>
        </p:sp>
      </p:grpSp>
      <p:grpSp>
        <p:nvGrpSpPr>
          <p:cNvPr name="Group 675" id="675"/>
          <p:cNvGrpSpPr/>
          <p:nvPr/>
        </p:nvGrpSpPr>
        <p:grpSpPr>
          <a:xfrm rot="0">
            <a:off x="5548503" y="7115004"/>
            <a:ext cx="1698498" cy="395002"/>
            <a:chOff x="0" y="0"/>
            <a:chExt cx="2264664" cy="526669"/>
          </a:xfrm>
        </p:grpSpPr>
        <p:sp>
          <p:nvSpPr>
            <p:cNvPr name="Freeform 676" id="6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77" id="677"/>
          <p:cNvGrpSpPr/>
          <p:nvPr/>
        </p:nvGrpSpPr>
        <p:grpSpPr>
          <a:xfrm rot="0">
            <a:off x="5548503" y="7115004"/>
            <a:ext cx="1698498" cy="395002"/>
            <a:chOff x="0" y="0"/>
            <a:chExt cx="2264664" cy="526669"/>
          </a:xfrm>
        </p:grpSpPr>
        <p:sp>
          <p:nvSpPr>
            <p:cNvPr name="Freeform 678" id="6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9" id="679"/>
          <p:cNvGrpSpPr/>
          <p:nvPr/>
        </p:nvGrpSpPr>
        <p:grpSpPr>
          <a:xfrm rot="0">
            <a:off x="5548503" y="7115004"/>
            <a:ext cx="1698498" cy="395002"/>
            <a:chOff x="0" y="0"/>
            <a:chExt cx="2264664" cy="526669"/>
          </a:xfrm>
        </p:grpSpPr>
        <p:sp>
          <p:nvSpPr>
            <p:cNvPr name="Freeform 680" id="6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81" id="681"/>
          <p:cNvGrpSpPr/>
          <p:nvPr/>
        </p:nvGrpSpPr>
        <p:grpSpPr>
          <a:xfrm rot="0">
            <a:off x="5548503" y="7115004"/>
            <a:ext cx="1698498" cy="395002"/>
            <a:chOff x="0" y="0"/>
            <a:chExt cx="2264664" cy="526669"/>
          </a:xfrm>
        </p:grpSpPr>
        <p:sp>
          <p:nvSpPr>
            <p:cNvPr name="Freeform 682" id="6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83" id="683"/>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-$4,920.54</a:t>
              </a:r>
            </a:p>
          </p:txBody>
        </p:sp>
      </p:grpSp>
      <p:grpSp>
        <p:nvGrpSpPr>
          <p:cNvPr name="Group 684" id="684"/>
          <p:cNvGrpSpPr/>
          <p:nvPr/>
        </p:nvGrpSpPr>
        <p:grpSpPr>
          <a:xfrm rot="0">
            <a:off x="7247001" y="7115004"/>
            <a:ext cx="1698498" cy="395002"/>
            <a:chOff x="0" y="0"/>
            <a:chExt cx="2264664" cy="526669"/>
          </a:xfrm>
        </p:grpSpPr>
        <p:sp>
          <p:nvSpPr>
            <p:cNvPr name="Freeform 685" id="6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86" id="686"/>
          <p:cNvGrpSpPr/>
          <p:nvPr/>
        </p:nvGrpSpPr>
        <p:grpSpPr>
          <a:xfrm rot="0">
            <a:off x="7247001" y="7115004"/>
            <a:ext cx="1698498" cy="395002"/>
            <a:chOff x="0" y="0"/>
            <a:chExt cx="2264664" cy="526669"/>
          </a:xfrm>
        </p:grpSpPr>
        <p:sp>
          <p:nvSpPr>
            <p:cNvPr name="Freeform 687" id="6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88" id="688"/>
          <p:cNvGrpSpPr/>
          <p:nvPr/>
        </p:nvGrpSpPr>
        <p:grpSpPr>
          <a:xfrm rot="0">
            <a:off x="7247001" y="7115004"/>
            <a:ext cx="1698498" cy="395002"/>
            <a:chOff x="0" y="0"/>
            <a:chExt cx="2264664" cy="526669"/>
          </a:xfrm>
        </p:grpSpPr>
        <p:sp>
          <p:nvSpPr>
            <p:cNvPr name="Freeform 689" id="6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0" id="690"/>
          <p:cNvGrpSpPr/>
          <p:nvPr/>
        </p:nvGrpSpPr>
        <p:grpSpPr>
          <a:xfrm rot="0">
            <a:off x="7247001" y="7115004"/>
            <a:ext cx="1698498" cy="395002"/>
            <a:chOff x="0" y="0"/>
            <a:chExt cx="2264664" cy="526669"/>
          </a:xfrm>
        </p:grpSpPr>
        <p:sp>
          <p:nvSpPr>
            <p:cNvPr name="Freeform 691" id="6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92" id="69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-$5,251.58</a:t>
              </a:r>
            </a:p>
          </p:txBody>
        </p:sp>
      </p:grpSp>
      <p:grpSp>
        <p:nvGrpSpPr>
          <p:cNvPr name="Group 693" id="693"/>
          <p:cNvGrpSpPr/>
          <p:nvPr/>
        </p:nvGrpSpPr>
        <p:grpSpPr>
          <a:xfrm rot="0">
            <a:off x="8945499" y="7115004"/>
            <a:ext cx="1698498" cy="395002"/>
            <a:chOff x="0" y="0"/>
            <a:chExt cx="2264664" cy="526669"/>
          </a:xfrm>
        </p:grpSpPr>
        <p:sp>
          <p:nvSpPr>
            <p:cNvPr name="Freeform 694" id="6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95" id="695"/>
          <p:cNvGrpSpPr/>
          <p:nvPr/>
        </p:nvGrpSpPr>
        <p:grpSpPr>
          <a:xfrm rot="0">
            <a:off x="8945499" y="7115004"/>
            <a:ext cx="1698498" cy="395002"/>
            <a:chOff x="0" y="0"/>
            <a:chExt cx="2264664" cy="526669"/>
          </a:xfrm>
        </p:grpSpPr>
        <p:sp>
          <p:nvSpPr>
            <p:cNvPr name="Freeform 696" id="6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97" id="697"/>
          <p:cNvGrpSpPr/>
          <p:nvPr/>
        </p:nvGrpSpPr>
        <p:grpSpPr>
          <a:xfrm rot="0">
            <a:off x="8945499" y="7115004"/>
            <a:ext cx="1698498" cy="395002"/>
            <a:chOff x="0" y="0"/>
            <a:chExt cx="2264664" cy="526669"/>
          </a:xfrm>
        </p:grpSpPr>
        <p:sp>
          <p:nvSpPr>
            <p:cNvPr name="Freeform 698" id="6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9" id="699"/>
          <p:cNvGrpSpPr/>
          <p:nvPr/>
        </p:nvGrpSpPr>
        <p:grpSpPr>
          <a:xfrm rot="0">
            <a:off x="8945499" y="7115004"/>
            <a:ext cx="1698498" cy="395002"/>
            <a:chOff x="0" y="0"/>
            <a:chExt cx="2264664" cy="526669"/>
          </a:xfrm>
        </p:grpSpPr>
        <p:sp>
          <p:nvSpPr>
            <p:cNvPr name="Freeform 700" id="7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01" id="70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-$5,575.16</a:t>
              </a:r>
            </a:p>
          </p:txBody>
        </p:sp>
      </p:grpSp>
      <p:grpSp>
        <p:nvGrpSpPr>
          <p:cNvPr name="Group 702" id="702"/>
          <p:cNvGrpSpPr/>
          <p:nvPr/>
        </p:nvGrpSpPr>
        <p:grpSpPr>
          <a:xfrm rot="0">
            <a:off x="10643997" y="7115004"/>
            <a:ext cx="1698498" cy="395002"/>
            <a:chOff x="0" y="0"/>
            <a:chExt cx="2264664" cy="526669"/>
          </a:xfrm>
        </p:grpSpPr>
        <p:sp>
          <p:nvSpPr>
            <p:cNvPr name="Freeform 703" id="7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04" id="704"/>
          <p:cNvGrpSpPr/>
          <p:nvPr/>
        </p:nvGrpSpPr>
        <p:grpSpPr>
          <a:xfrm rot="0">
            <a:off x="10643997" y="7115004"/>
            <a:ext cx="1698498" cy="395002"/>
            <a:chOff x="0" y="0"/>
            <a:chExt cx="2264664" cy="526669"/>
          </a:xfrm>
        </p:grpSpPr>
        <p:sp>
          <p:nvSpPr>
            <p:cNvPr name="Freeform 705" id="7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06" id="706"/>
          <p:cNvGrpSpPr/>
          <p:nvPr/>
        </p:nvGrpSpPr>
        <p:grpSpPr>
          <a:xfrm rot="0">
            <a:off x="10643997" y="7115004"/>
            <a:ext cx="1698498" cy="395002"/>
            <a:chOff x="0" y="0"/>
            <a:chExt cx="2264664" cy="526669"/>
          </a:xfrm>
        </p:grpSpPr>
        <p:sp>
          <p:nvSpPr>
            <p:cNvPr name="Freeform 707" id="7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08" id="708"/>
          <p:cNvGrpSpPr/>
          <p:nvPr/>
        </p:nvGrpSpPr>
        <p:grpSpPr>
          <a:xfrm rot="0">
            <a:off x="10643997" y="7115004"/>
            <a:ext cx="1698498" cy="395002"/>
            <a:chOff x="0" y="0"/>
            <a:chExt cx="2264664" cy="526669"/>
          </a:xfrm>
        </p:grpSpPr>
        <p:sp>
          <p:nvSpPr>
            <p:cNvPr name="Freeform 709" id="7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10" id="71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-$5,877.90</a:t>
              </a:r>
            </a:p>
          </p:txBody>
        </p:sp>
      </p:grpSp>
      <p:grpSp>
        <p:nvGrpSpPr>
          <p:cNvPr name="Group 711" id="711"/>
          <p:cNvGrpSpPr/>
          <p:nvPr/>
        </p:nvGrpSpPr>
        <p:grpSpPr>
          <a:xfrm rot="0">
            <a:off x="850001" y="7501004"/>
            <a:ext cx="16587978" cy="8954"/>
            <a:chOff x="0" y="0"/>
            <a:chExt cx="22117304" cy="11938"/>
          </a:xfrm>
        </p:grpSpPr>
        <p:sp>
          <p:nvSpPr>
            <p:cNvPr name="Freeform 712" id="712"/>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13" id="713"/>
          <p:cNvGrpSpPr/>
          <p:nvPr/>
        </p:nvGrpSpPr>
        <p:grpSpPr>
          <a:xfrm rot="0">
            <a:off x="850001" y="7509996"/>
            <a:ext cx="16587978" cy="395002"/>
            <a:chOff x="0" y="0"/>
            <a:chExt cx="22117304" cy="526669"/>
          </a:xfrm>
        </p:grpSpPr>
        <p:sp>
          <p:nvSpPr>
            <p:cNvPr name="Freeform 714" id="714"/>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715" id="715"/>
          <p:cNvGrpSpPr/>
          <p:nvPr/>
        </p:nvGrpSpPr>
        <p:grpSpPr>
          <a:xfrm rot="0">
            <a:off x="1070000" y="7509996"/>
            <a:ext cx="16587978" cy="395002"/>
            <a:chOff x="0" y="0"/>
            <a:chExt cx="22117304" cy="526669"/>
          </a:xfrm>
        </p:grpSpPr>
        <p:sp>
          <p:nvSpPr>
            <p:cNvPr name="Freeform 716" id="716"/>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717" id="717"/>
          <p:cNvGrpSpPr/>
          <p:nvPr/>
        </p:nvGrpSpPr>
        <p:grpSpPr>
          <a:xfrm rot="0">
            <a:off x="1070000" y="7502852"/>
            <a:ext cx="16587978" cy="402146"/>
            <a:chOff x="0" y="0"/>
            <a:chExt cx="22117304" cy="536194"/>
          </a:xfrm>
        </p:grpSpPr>
        <p:sp>
          <p:nvSpPr>
            <p:cNvPr name="Freeform 718" id="718"/>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719" id="719"/>
          <p:cNvGrpSpPr/>
          <p:nvPr/>
        </p:nvGrpSpPr>
        <p:grpSpPr>
          <a:xfrm rot="0">
            <a:off x="1070000" y="7495708"/>
            <a:ext cx="16587997" cy="409289"/>
            <a:chOff x="0" y="0"/>
            <a:chExt cx="22117329" cy="545719"/>
          </a:xfrm>
        </p:grpSpPr>
        <p:sp>
          <p:nvSpPr>
            <p:cNvPr name="Freeform 720" id="720"/>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721" id="721"/>
          <p:cNvGrpSpPr/>
          <p:nvPr/>
        </p:nvGrpSpPr>
        <p:grpSpPr>
          <a:xfrm rot="0">
            <a:off x="1070000" y="7488565"/>
            <a:ext cx="16587997" cy="416433"/>
            <a:chOff x="0" y="0"/>
            <a:chExt cx="22117329" cy="555244"/>
          </a:xfrm>
        </p:grpSpPr>
        <p:sp>
          <p:nvSpPr>
            <p:cNvPr name="Freeform 722" id="722"/>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723" id="723"/>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IV.  TOTAL DEPOSITS, CUMULATIVE</a:t>
              </a:r>
            </a:p>
          </p:txBody>
        </p:sp>
      </p:grpSp>
      <p:grpSp>
        <p:nvGrpSpPr>
          <p:cNvPr name="Group 724" id="724"/>
          <p:cNvGrpSpPr/>
          <p:nvPr/>
        </p:nvGrpSpPr>
        <p:grpSpPr>
          <a:xfrm rot="0">
            <a:off x="1070000" y="7904998"/>
            <a:ext cx="2699956" cy="395002"/>
            <a:chOff x="0" y="0"/>
            <a:chExt cx="3599942" cy="526669"/>
          </a:xfrm>
        </p:grpSpPr>
        <p:sp>
          <p:nvSpPr>
            <p:cNvPr name="Freeform 725" id="72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26" id="726"/>
          <p:cNvGrpSpPr/>
          <p:nvPr/>
        </p:nvGrpSpPr>
        <p:grpSpPr>
          <a:xfrm rot="0">
            <a:off x="1070000" y="7904998"/>
            <a:ext cx="2699956" cy="395002"/>
            <a:chOff x="0" y="0"/>
            <a:chExt cx="3599942" cy="526669"/>
          </a:xfrm>
        </p:grpSpPr>
        <p:sp>
          <p:nvSpPr>
            <p:cNvPr name="Freeform 727" id="72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28" id="728"/>
          <p:cNvGrpSpPr/>
          <p:nvPr/>
        </p:nvGrpSpPr>
        <p:grpSpPr>
          <a:xfrm rot="0">
            <a:off x="1070000" y="7904998"/>
            <a:ext cx="2700004" cy="395002"/>
            <a:chOff x="0" y="0"/>
            <a:chExt cx="3600005" cy="526669"/>
          </a:xfrm>
        </p:grpSpPr>
        <p:sp>
          <p:nvSpPr>
            <p:cNvPr name="Freeform 729" id="72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30" id="730"/>
          <p:cNvGrpSpPr/>
          <p:nvPr/>
        </p:nvGrpSpPr>
        <p:grpSpPr>
          <a:xfrm rot="0">
            <a:off x="1070000" y="7904998"/>
            <a:ext cx="2700004" cy="395002"/>
            <a:chOff x="0" y="0"/>
            <a:chExt cx="3600005" cy="526669"/>
          </a:xfrm>
        </p:grpSpPr>
        <p:sp>
          <p:nvSpPr>
            <p:cNvPr name="Freeform 731" id="731"/>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32" id="732"/>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733" id="733"/>
          <p:cNvGrpSpPr/>
          <p:nvPr/>
        </p:nvGrpSpPr>
        <p:grpSpPr>
          <a:xfrm rot="0">
            <a:off x="3850005" y="7904998"/>
            <a:ext cx="1698498" cy="395002"/>
            <a:chOff x="0" y="0"/>
            <a:chExt cx="2264664" cy="526669"/>
          </a:xfrm>
        </p:grpSpPr>
        <p:sp>
          <p:nvSpPr>
            <p:cNvPr name="Freeform 734" id="7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35" id="735"/>
          <p:cNvGrpSpPr/>
          <p:nvPr/>
        </p:nvGrpSpPr>
        <p:grpSpPr>
          <a:xfrm rot="0">
            <a:off x="3850005" y="7904998"/>
            <a:ext cx="1698498" cy="395002"/>
            <a:chOff x="0" y="0"/>
            <a:chExt cx="2264664" cy="526669"/>
          </a:xfrm>
        </p:grpSpPr>
        <p:sp>
          <p:nvSpPr>
            <p:cNvPr name="Freeform 736" id="7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37" id="737"/>
          <p:cNvGrpSpPr/>
          <p:nvPr/>
        </p:nvGrpSpPr>
        <p:grpSpPr>
          <a:xfrm rot="0">
            <a:off x="3850005" y="7904998"/>
            <a:ext cx="1698498" cy="395002"/>
            <a:chOff x="0" y="0"/>
            <a:chExt cx="2264664" cy="526669"/>
          </a:xfrm>
        </p:grpSpPr>
        <p:sp>
          <p:nvSpPr>
            <p:cNvPr name="Freeform 738" id="7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39" id="739"/>
          <p:cNvGrpSpPr/>
          <p:nvPr/>
        </p:nvGrpSpPr>
        <p:grpSpPr>
          <a:xfrm rot="0">
            <a:off x="3850005" y="7904998"/>
            <a:ext cx="1698498" cy="395002"/>
            <a:chOff x="0" y="0"/>
            <a:chExt cx="2264664" cy="526669"/>
          </a:xfrm>
        </p:grpSpPr>
        <p:sp>
          <p:nvSpPr>
            <p:cNvPr name="Freeform 740" id="7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41" id="74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$4,012.99</a:t>
              </a:r>
            </a:p>
          </p:txBody>
        </p:sp>
      </p:grpSp>
      <p:grpSp>
        <p:nvGrpSpPr>
          <p:cNvPr name="Group 742" id="742"/>
          <p:cNvGrpSpPr/>
          <p:nvPr/>
        </p:nvGrpSpPr>
        <p:grpSpPr>
          <a:xfrm rot="0">
            <a:off x="5548503" y="7904998"/>
            <a:ext cx="1698498" cy="395002"/>
            <a:chOff x="0" y="0"/>
            <a:chExt cx="2264664" cy="526669"/>
          </a:xfrm>
        </p:grpSpPr>
        <p:sp>
          <p:nvSpPr>
            <p:cNvPr name="Freeform 743" id="7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44" id="744"/>
          <p:cNvGrpSpPr/>
          <p:nvPr/>
        </p:nvGrpSpPr>
        <p:grpSpPr>
          <a:xfrm rot="0">
            <a:off x="5548503" y="7904998"/>
            <a:ext cx="1698498" cy="395002"/>
            <a:chOff x="0" y="0"/>
            <a:chExt cx="2264664" cy="526669"/>
          </a:xfrm>
        </p:grpSpPr>
        <p:sp>
          <p:nvSpPr>
            <p:cNvPr name="Freeform 745" id="7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46" id="746"/>
          <p:cNvGrpSpPr/>
          <p:nvPr/>
        </p:nvGrpSpPr>
        <p:grpSpPr>
          <a:xfrm rot="0">
            <a:off x="5548503" y="7904998"/>
            <a:ext cx="1698498" cy="395002"/>
            <a:chOff x="0" y="0"/>
            <a:chExt cx="2264664" cy="526669"/>
          </a:xfrm>
        </p:grpSpPr>
        <p:sp>
          <p:nvSpPr>
            <p:cNvPr name="Freeform 747" id="7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48" id="748"/>
          <p:cNvGrpSpPr/>
          <p:nvPr/>
        </p:nvGrpSpPr>
        <p:grpSpPr>
          <a:xfrm rot="0">
            <a:off x="5548503" y="7904998"/>
            <a:ext cx="1698498" cy="395002"/>
            <a:chOff x="0" y="0"/>
            <a:chExt cx="2264664" cy="526669"/>
          </a:xfrm>
        </p:grpSpPr>
        <p:sp>
          <p:nvSpPr>
            <p:cNvPr name="Freeform 749" id="7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0" id="75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$7,907.15</a:t>
              </a:r>
            </a:p>
          </p:txBody>
        </p:sp>
      </p:grpSp>
      <p:grpSp>
        <p:nvGrpSpPr>
          <p:cNvPr name="Group 751" id="751"/>
          <p:cNvGrpSpPr/>
          <p:nvPr/>
        </p:nvGrpSpPr>
        <p:grpSpPr>
          <a:xfrm rot="0">
            <a:off x="7247001" y="7904998"/>
            <a:ext cx="1698498" cy="395002"/>
            <a:chOff x="0" y="0"/>
            <a:chExt cx="2264664" cy="526669"/>
          </a:xfrm>
        </p:grpSpPr>
        <p:sp>
          <p:nvSpPr>
            <p:cNvPr name="Freeform 752" id="7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53" id="753"/>
          <p:cNvGrpSpPr/>
          <p:nvPr/>
        </p:nvGrpSpPr>
        <p:grpSpPr>
          <a:xfrm rot="0">
            <a:off x="7247001" y="7904998"/>
            <a:ext cx="1698498" cy="395002"/>
            <a:chOff x="0" y="0"/>
            <a:chExt cx="2264664" cy="526669"/>
          </a:xfrm>
        </p:grpSpPr>
        <p:sp>
          <p:nvSpPr>
            <p:cNvPr name="Freeform 754" id="7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55" id="755"/>
          <p:cNvGrpSpPr/>
          <p:nvPr/>
        </p:nvGrpSpPr>
        <p:grpSpPr>
          <a:xfrm rot="0">
            <a:off x="7247001" y="7904998"/>
            <a:ext cx="1698498" cy="395002"/>
            <a:chOff x="0" y="0"/>
            <a:chExt cx="2264664" cy="526669"/>
          </a:xfrm>
        </p:grpSpPr>
        <p:sp>
          <p:nvSpPr>
            <p:cNvPr name="Freeform 756" id="7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57" id="757"/>
          <p:cNvGrpSpPr/>
          <p:nvPr/>
        </p:nvGrpSpPr>
        <p:grpSpPr>
          <a:xfrm rot="0">
            <a:off x="7247001" y="7904998"/>
            <a:ext cx="1698498" cy="395002"/>
            <a:chOff x="0" y="0"/>
            <a:chExt cx="2264664" cy="526669"/>
          </a:xfrm>
        </p:grpSpPr>
        <p:sp>
          <p:nvSpPr>
            <p:cNvPr name="Freeform 758" id="7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9" id="75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$8,626.91</a:t>
              </a:r>
            </a:p>
          </p:txBody>
        </p:sp>
      </p:grpSp>
      <p:grpSp>
        <p:nvGrpSpPr>
          <p:cNvPr name="Group 760" id="760"/>
          <p:cNvGrpSpPr/>
          <p:nvPr/>
        </p:nvGrpSpPr>
        <p:grpSpPr>
          <a:xfrm rot="0">
            <a:off x="8945499" y="7904998"/>
            <a:ext cx="1698498" cy="395002"/>
            <a:chOff x="0" y="0"/>
            <a:chExt cx="2264664" cy="526669"/>
          </a:xfrm>
        </p:grpSpPr>
        <p:sp>
          <p:nvSpPr>
            <p:cNvPr name="Freeform 761" id="7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62" id="762"/>
          <p:cNvGrpSpPr/>
          <p:nvPr/>
        </p:nvGrpSpPr>
        <p:grpSpPr>
          <a:xfrm rot="0">
            <a:off x="8945499" y="7904998"/>
            <a:ext cx="1698498" cy="395002"/>
            <a:chOff x="0" y="0"/>
            <a:chExt cx="2264664" cy="526669"/>
          </a:xfrm>
        </p:grpSpPr>
        <p:sp>
          <p:nvSpPr>
            <p:cNvPr name="Freeform 763" id="76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64" id="764"/>
          <p:cNvGrpSpPr/>
          <p:nvPr/>
        </p:nvGrpSpPr>
        <p:grpSpPr>
          <a:xfrm rot="0">
            <a:off x="8945499" y="7904998"/>
            <a:ext cx="1698498" cy="395002"/>
            <a:chOff x="0" y="0"/>
            <a:chExt cx="2264664" cy="526669"/>
          </a:xfrm>
        </p:grpSpPr>
        <p:sp>
          <p:nvSpPr>
            <p:cNvPr name="Freeform 765" id="7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66" id="766"/>
          <p:cNvGrpSpPr/>
          <p:nvPr/>
        </p:nvGrpSpPr>
        <p:grpSpPr>
          <a:xfrm rot="0">
            <a:off x="8945499" y="7904998"/>
            <a:ext cx="1698498" cy="395002"/>
            <a:chOff x="0" y="0"/>
            <a:chExt cx="2264664" cy="526669"/>
          </a:xfrm>
        </p:grpSpPr>
        <p:sp>
          <p:nvSpPr>
            <p:cNvPr name="Freeform 767" id="7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68" id="76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$10,003.60</a:t>
              </a:r>
            </a:p>
          </p:txBody>
        </p:sp>
      </p:grpSp>
      <p:grpSp>
        <p:nvGrpSpPr>
          <p:cNvPr name="Group 769" id="769"/>
          <p:cNvGrpSpPr/>
          <p:nvPr/>
        </p:nvGrpSpPr>
        <p:grpSpPr>
          <a:xfrm rot="0">
            <a:off x="10643997" y="7904998"/>
            <a:ext cx="1698498" cy="395002"/>
            <a:chOff x="0" y="0"/>
            <a:chExt cx="2264664" cy="526669"/>
          </a:xfrm>
        </p:grpSpPr>
        <p:sp>
          <p:nvSpPr>
            <p:cNvPr name="Freeform 770" id="7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71" id="771"/>
          <p:cNvGrpSpPr/>
          <p:nvPr/>
        </p:nvGrpSpPr>
        <p:grpSpPr>
          <a:xfrm rot="0">
            <a:off x="10643997" y="7904998"/>
            <a:ext cx="1698498" cy="395002"/>
            <a:chOff x="0" y="0"/>
            <a:chExt cx="2264664" cy="526669"/>
          </a:xfrm>
        </p:grpSpPr>
        <p:sp>
          <p:nvSpPr>
            <p:cNvPr name="Freeform 772" id="7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73" id="773"/>
          <p:cNvGrpSpPr/>
          <p:nvPr/>
        </p:nvGrpSpPr>
        <p:grpSpPr>
          <a:xfrm rot="0">
            <a:off x="10643997" y="7904998"/>
            <a:ext cx="1698498" cy="395002"/>
            <a:chOff x="0" y="0"/>
            <a:chExt cx="2264664" cy="526669"/>
          </a:xfrm>
        </p:grpSpPr>
        <p:sp>
          <p:nvSpPr>
            <p:cNvPr name="Freeform 774" id="7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75" id="775"/>
          <p:cNvGrpSpPr/>
          <p:nvPr/>
        </p:nvGrpSpPr>
        <p:grpSpPr>
          <a:xfrm rot="0">
            <a:off x="10643997" y="7904998"/>
            <a:ext cx="1698498" cy="395002"/>
            <a:chOff x="0" y="0"/>
            <a:chExt cx="2264664" cy="526669"/>
          </a:xfrm>
        </p:grpSpPr>
        <p:sp>
          <p:nvSpPr>
            <p:cNvPr name="Freeform 776" id="7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77" id="77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$12,206.00</a:t>
              </a:r>
            </a:p>
          </p:txBody>
        </p:sp>
      </p:grpSp>
      <p:grpSp>
        <p:nvGrpSpPr>
          <p:cNvPr name="Group 778" id="778"/>
          <p:cNvGrpSpPr/>
          <p:nvPr/>
        </p:nvGrpSpPr>
        <p:grpSpPr>
          <a:xfrm rot="0">
            <a:off x="850001" y="8290998"/>
            <a:ext cx="16587978" cy="8954"/>
            <a:chOff x="0" y="0"/>
            <a:chExt cx="22117304" cy="11938"/>
          </a:xfrm>
        </p:grpSpPr>
        <p:sp>
          <p:nvSpPr>
            <p:cNvPr name="Freeform 779" id="779"/>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80" id="780"/>
          <p:cNvGrpSpPr/>
          <p:nvPr/>
        </p:nvGrpSpPr>
        <p:grpSpPr>
          <a:xfrm rot="0">
            <a:off x="1070000" y="8299999"/>
            <a:ext cx="2699956" cy="395002"/>
            <a:chOff x="0" y="0"/>
            <a:chExt cx="3599942" cy="526669"/>
          </a:xfrm>
        </p:grpSpPr>
        <p:sp>
          <p:nvSpPr>
            <p:cNvPr name="Freeform 781" id="78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82" id="782"/>
          <p:cNvGrpSpPr/>
          <p:nvPr/>
        </p:nvGrpSpPr>
        <p:grpSpPr>
          <a:xfrm rot="0">
            <a:off x="1070000" y="8299999"/>
            <a:ext cx="2699956" cy="395002"/>
            <a:chOff x="0" y="0"/>
            <a:chExt cx="3599942" cy="526669"/>
          </a:xfrm>
        </p:grpSpPr>
        <p:sp>
          <p:nvSpPr>
            <p:cNvPr name="Freeform 783" id="78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84" id="784"/>
          <p:cNvGrpSpPr/>
          <p:nvPr/>
        </p:nvGrpSpPr>
        <p:grpSpPr>
          <a:xfrm rot="0">
            <a:off x="1070000" y="8299999"/>
            <a:ext cx="2700004" cy="395002"/>
            <a:chOff x="0" y="0"/>
            <a:chExt cx="3600005" cy="526669"/>
          </a:xfrm>
        </p:grpSpPr>
        <p:sp>
          <p:nvSpPr>
            <p:cNvPr name="Freeform 785" id="78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86" id="786"/>
          <p:cNvGrpSpPr/>
          <p:nvPr/>
        </p:nvGrpSpPr>
        <p:grpSpPr>
          <a:xfrm rot="0">
            <a:off x="1070000" y="8299999"/>
            <a:ext cx="2700004" cy="395002"/>
            <a:chOff x="0" y="0"/>
            <a:chExt cx="3600005" cy="526669"/>
          </a:xfrm>
        </p:grpSpPr>
        <p:sp>
          <p:nvSpPr>
            <p:cNvPr name="Freeform 787" id="787"/>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88" id="788"/>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789" id="789"/>
          <p:cNvGrpSpPr/>
          <p:nvPr/>
        </p:nvGrpSpPr>
        <p:grpSpPr>
          <a:xfrm rot="0">
            <a:off x="3850005" y="8299999"/>
            <a:ext cx="1698498" cy="395002"/>
            <a:chOff x="0" y="0"/>
            <a:chExt cx="2264664" cy="526669"/>
          </a:xfrm>
        </p:grpSpPr>
        <p:sp>
          <p:nvSpPr>
            <p:cNvPr name="Freeform 790" id="7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91" id="791"/>
          <p:cNvGrpSpPr/>
          <p:nvPr/>
        </p:nvGrpSpPr>
        <p:grpSpPr>
          <a:xfrm rot="0">
            <a:off x="3850005" y="8299999"/>
            <a:ext cx="1698498" cy="395002"/>
            <a:chOff x="0" y="0"/>
            <a:chExt cx="2264664" cy="526669"/>
          </a:xfrm>
        </p:grpSpPr>
        <p:sp>
          <p:nvSpPr>
            <p:cNvPr name="Freeform 792" id="7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93" id="793"/>
          <p:cNvGrpSpPr/>
          <p:nvPr/>
        </p:nvGrpSpPr>
        <p:grpSpPr>
          <a:xfrm rot="0">
            <a:off x="3850005" y="8299999"/>
            <a:ext cx="1698498" cy="395002"/>
            <a:chOff x="0" y="0"/>
            <a:chExt cx="2264664" cy="526669"/>
          </a:xfrm>
        </p:grpSpPr>
        <p:sp>
          <p:nvSpPr>
            <p:cNvPr name="Freeform 794" id="7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95" id="795"/>
          <p:cNvGrpSpPr/>
          <p:nvPr/>
        </p:nvGrpSpPr>
        <p:grpSpPr>
          <a:xfrm rot="0">
            <a:off x="3850005" y="8299999"/>
            <a:ext cx="1698498" cy="395002"/>
            <a:chOff x="0" y="0"/>
            <a:chExt cx="2264664" cy="526669"/>
          </a:xfrm>
        </p:grpSpPr>
        <p:sp>
          <p:nvSpPr>
            <p:cNvPr name="Freeform 796" id="7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97" id="79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$100,000</a:t>
              </a:r>
            </a:p>
          </p:txBody>
        </p:sp>
      </p:grpSp>
      <p:grpSp>
        <p:nvGrpSpPr>
          <p:cNvPr name="Group 798" id="798"/>
          <p:cNvGrpSpPr/>
          <p:nvPr/>
        </p:nvGrpSpPr>
        <p:grpSpPr>
          <a:xfrm rot="0">
            <a:off x="5548503" y="8299999"/>
            <a:ext cx="1698498" cy="395002"/>
            <a:chOff x="0" y="0"/>
            <a:chExt cx="2264664" cy="526669"/>
          </a:xfrm>
        </p:grpSpPr>
        <p:sp>
          <p:nvSpPr>
            <p:cNvPr name="Freeform 799" id="7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0" id="800"/>
          <p:cNvGrpSpPr/>
          <p:nvPr/>
        </p:nvGrpSpPr>
        <p:grpSpPr>
          <a:xfrm rot="0">
            <a:off x="5548503" y="8299999"/>
            <a:ext cx="1698498" cy="395002"/>
            <a:chOff x="0" y="0"/>
            <a:chExt cx="2264664" cy="526669"/>
          </a:xfrm>
        </p:grpSpPr>
        <p:sp>
          <p:nvSpPr>
            <p:cNvPr name="Freeform 801" id="8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02" id="802"/>
          <p:cNvGrpSpPr/>
          <p:nvPr/>
        </p:nvGrpSpPr>
        <p:grpSpPr>
          <a:xfrm rot="0">
            <a:off x="5548503" y="8299999"/>
            <a:ext cx="1698498" cy="395002"/>
            <a:chOff x="0" y="0"/>
            <a:chExt cx="2264664" cy="526669"/>
          </a:xfrm>
        </p:grpSpPr>
        <p:sp>
          <p:nvSpPr>
            <p:cNvPr name="Freeform 803" id="8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04" id="804"/>
          <p:cNvGrpSpPr/>
          <p:nvPr/>
        </p:nvGrpSpPr>
        <p:grpSpPr>
          <a:xfrm rot="0">
            <a:off x="5548503" y="8299999"/>
            <a:ext cx="1698498" cy="395002"/>
            <a:chOff x="0" y="0"/>
            <a:chExt cx="2264664" cy="526669"/>
          </a:xfrm>
        </p:grpSpPr>
        <p:sp>
          <p:nvSpPr>
            <p:cNvPr name="Freeform 805" id="8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06" id="80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$123,900</a:t>
              </a:r>
            </a:p>
          </p:txBody>
        </p:sp>
      </p:grpSp>
      <p:grpSp>
        <p:nvGrpSpPr>
          <p:cNvPr name="Group 807" id="807"/>
          <p:cNvGrpSpPr/>
          <p:nvPr/>
        </p:nvGrpSpPr>
        <p:grpSpPr>
          <a:xfrm rot="0">
            <a:off x="7247001" y="8299999"/>
            <a:ext cx="1698498" cy="395002"/>
            <a:chOff x="0" y="0"/>
            <a:chExt cx="2264664" cy="526669"/>
          </a:xfrm>
        </p:grpSpPr>
        <p:sp>
          <p:nvSpPr>
            <p:cNvPr name="Freeform 808" id="8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9" id="809"/>
          <p:cNvGrpSpPr/>
          <p:nvPr/>
        </p:nvGrpSpPr>
        <p:grpSpPr>
          <a:xfrm rot="0">
            <a:off x="7247001" y="8299999"/>
            <a:ext cx="1698498" cy="395002"/>
            <a:chOff x="0" y="0"/>
            <a:chExt cx="2264664" cy="526669"/>
          </a:xfrm>
        </p:grpSpPr>
        <p:sp>
          <p:nvSpPr>
            <p:cNvPr name="Freeform 810" id="8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11" id="811"/>
          <p:cNvGrpSpPr/>
          <p:nvPr/>
        </p:nvGrpSpPr>
        <p:grpSpPr>
          <a:xfrm rot="0">
            <a:off x="7247001" y="8299999"/>
            <a:ext cx="1698498" cy="395002"/>
            <a:chOff x="0" y="0"/>
            <a:chExt cx="2264664" cy="526669"/>
          </a:xfrm>
        </p:grpSpPr>
        <p:sp>
          <p:nvSpPr>
            <p:cNvPr name="Freeform 812" id="8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13" id="813"/>
          <p:cNvGrpSpPr/>
          <p:nvPr/>
        </p:nvGrpSpPr>
        <p:grpSpPr>
          <a:xfrm rot="0">
            <a:off x="7247001" y="8299999"/>
            <a:ext cx="1698498" cy="395002"/>
            <a:chOff x="0" y="0"/>
            <a:chExt cx="2264664" cy="526669"/>
          </a:xfrm>
        </p:grpSpPr>
        <p:sp>
          <p:nvSpPr>
            <p:cNvPr name="Freeform 814" id="8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15" id="81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$153,512</a:t>
              </a:r>
            </a:p>
          </p:txBody>
        </p:sp>
      </p:grpSp>
      <p:grpSp>
        <p:nvGrpSpPr>
          <p:cNvPr name="Group 816" id="816"/>
          <p:cNvGrpSpPr/>
          <p:nvPr/>
        </p:nvGrpSpPr>
        <p:grpSpPr>
          <a:xfrm rot="0">
            <a:off x="8945499" y="8299999"/>
            <a:ext cx="1698498" cy="395002"/>
            <a:chOff x="0" y="0"/>
            <a:chExt cx="2264664" cy="526669"/>
          </a:xfrm>
        </p:grpSpPr>
        <p:sp>
          <p:nvSpPr>
            <p:cNvPr name="Freeform 817" id="8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18" id="818"/>
          <p:cNvGrpSpPr/>
          <p:nvPr/>
        </p:nvGrpSpPr>
        <p:grpSpPr>
          <a:xfrm rot="0">
            <a:off x="8945499" y="8299999"/>
            <a:ext cx="1698498" cy="395002"/>
            <a:chOff x="0" y="0"/>
            <a:chExt cx="2264664" cy="526669"/>
          </a:xfrm>
        </p:grpSpPr>
        <p:sp>
          <p:nvSpPr>
            <p:cNvPr name="Freeform 819" id="8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0" id="820"/>
          <p:cNvGrpSpPr/>
          <p:nvPr/>
        </p:nvGrpSpPr>
        <p:grpSpPr>
          <a:xfrm rot="0">
            <a:off x="8945499" y="8299999"/>
            <a:ext cx="1698498" cy="395002"/>
            <a:chOff x="0" y="0"/>
            <a:chExt cx="2264664" cy="526669"/>
          </a:xfrm>
        </p:grpSpPr>
        <p:sp>
          <p:nvSpPr>
            <p:cNvPr name="Freeform 821" id="8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22" id="822"/>
          <p:cNvGrpSpPr/>
          <p:nvPr/>
        </p:nvGrpSpPr>
        <p:grpSpPr>
          <a:xfrm rot="0">
            <a:off x="8945499" y="8299999"/>
            <a:ext cx="1698498" cy="395002"/>
            <a:chOff x="0" y="0"/>
            <a:chExt cx="2264664" cy="526669"/>
          </a:xfrm>
        </p:grpSpPr>
        <p:sp>
          <p:nvSpPr>
            <p:cNvPr name="Freeform 823" id="8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24" id="82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$190,201</a:t>
              </a:r>
            </a:p>
          </p:txBody>
        </p:sp>
      </p:grpSp>
      <p:grpSp>
        <p:nvGrpSpPr>
          <p:cNvPr name="Group 825" id="825"/>
          <p:cNvGrpSpPr/>
          <p:nvPr/>
        </p:nvGrpSpPr>
        <p:grpSpPr>
          <a:xfrm rot="0">
            <a:off x="10643997" y="8299999"/>
            <a:ext cx="1698498" cy="395002"/>
            <a:chOff x="0" y="0"/>
            <a:chExt cx="2264664" cy="526669"/>
          </a:xfrm>
        </p:grpSpPr>
        <p:sp>
          <p:nvSpPr>
            <p:cNvPr name="Freeform 826" id="8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27" id="827"/>
          <p:cNvGrpSpPr/>
          <p:nvPr/>
        </p:nvGrpSpPr>
        <p:grpSpPr>
          <a:xfrm rot="0">
            <a:off x="10643997" y="8299999"/>
            <a:ext cx="1698498" cy="395002"/>
            <a:chOff x="0" y="0"/>
            <a:chExt cx="2264664" cy="526669"/>
          </a:xfrm>
        </p:grpSpPr>
        <p:sp>
          <p:nvSpPr>
            <p:cNvPr name="Freeform 828" id="8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9" id="829"/>
          <p:cNvGrpSpPr/>
          <p:nvPr/>
        </p:nvGrpSpPr>
        <p:grpSpPr>
          <a:xfrm rot="0">
            <a:off x="10643997" y="8299999"/>
            <a:ext cx="1698498" cy="395002"/>
            <a:chOff x="0" y="0"/>
            <a:chExt cx="2264664" cy="526669"/>
          </a:xfrm>
        </p:grpSpPr>
        <p:sp>
          <p:nvSpPr>
            <p:cNvPr name="Freeform 830" id="8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31" id="831"/>
          <p:cNvGrpSpPr/>
          <p:nvPr/>
        </p:nvGrpSpPr>
        <p:grpSpPr>
          <a:xfrm rot="0">
            <a:off x="10643997" y="8299999"/>
            <a:ext cx="1698498" cy="395002"/>
            <a:chOff x="0" y="0"/>
            <a:chExt cx="2264664" cy="526669"/>
          </a:xfrm>
        </p:grpSpPr>
        <p:sp>
          <p:nvSpPr>
            <p:cNvPr name="Freeform 832" id="8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33" id="83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$235,660</a:t>
              </a:r>
            </a:p>
          </p:txBody>
        </p:sp>
      </p:grpSp>
      <p:grpSp>
        <p:nvGrpSpPr>
          <p:cNvPr name="Group 834" id="834"/>
          <p:cNvGrpSpPr/>
          <p:nvPr/>
        </p:nvGrpSpPr>
        <p:grpSpPr>
          <a:xfrm rot="0">
            <a:off x="12342505" y="8299999"/>
            <a:ext cx="1698498" cy="395002"/>
            <a:chOff x="0" y="0"/>
            <a:chExt cx="2264664" cy="526669"/>
          </a:xfrm>
        </p:grpSpPr>
        <p:sp>
          <p:nvSpPr>
            <p:cNvPr name="Freeform 835" id="8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36" id="836"/>
          <p:cNvGrpSpPr/>
          <p:nvPr/>
        </p:nvGrpSpPr>
        <p:grpSpPr>
          <a:xfrm rot="0">
            <a:off x="12342505" y="8299999"/>
            <a:ext cx="1698498" cy="395002"/>
            <a:chOff x="0" y="0"/>
            <a:chExt cx="2264664" cy="526669"/>
          </a:xfrm>
        </p:grpSpPr>
        <p:sp>
          <p:nvSpPr>
            <p:cNvPr name="Freeform 837" id="8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38" id="838"/>
          <p:cNvGrpSpPr/>
          <p:nvPr/>
        </p:nvGrpSpPr>
        <p:grpSpPr>
          <a:xfrm rot="0">
            <a:off x="12342505" y="8299999"/>
            <a:ext cx="1698498" cy="395002"/>
            <a:chOff x="0" y="0"/>
            <a:chExt cx="2264664" cy="526669"/>
          </a:xfrm>
        </p:grpSpPr>
        <p:sp>
          <p:nvSpPr>
            <p:cNvPr name="Freeform 839" id="8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0" id="840"/>
          <p:cNvGrpSpPr/>
          <p:nvPr/>
        </p:nvGrpSpPr>
        <p:grpSpPr>
          <a:xfrm rot="0">
            <a:off x="12342505" y="8299999"/>
            <a:ext cx="1698498" cy="395002"/>
            <a:chOff x="0" y="0"/>
            <a:chExt cx="2264664" cy="526669"/>
          </a:xfrm>
        </p:grpSpPr>
        <p:sp>
          <p:nvSpPr>
            <p:cNvPr name="Freeform 841" id="8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42" id="84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$291,982</a:t>
              </a:r>
            </a:p>
          </p:txBody>
        </p:sp>
      </p:grpSp>
      <p:grpSp>
        <p:nvGrpSpPr>
          <p:cNvPr name="Group 843" id="843"/>
          <p:cNvGrpSpPr/>
          <p:nvPr/>
        </p:nvGrpSpPr>
        <p:grpSpPr>
          <a:xfrm rot="0">
            <a:off x="14041003" y="8299999"/>
            <a:ext cx="1698498" cy="395002"/>
            <a:chOff x="0" y="0"/>
            <a:chExt cx="2264664" cy="526669"/>
          </a:xfrm>
        </p:grpSpPr>
        <p:sp>
          <p:nvSpPr>
            <p:cNvPr name="Freeform 844" id="8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45" id="845"/>
          <p:cNvGrpSpPr/>
          <p:nvPr/>
        </p:nvGrpSpPr>
        <p:grpSpPr>
          <a:xfrm rot="0">
            <a:off x="14041003" y="8299999"/>
            <a:ext cx="1698498" cy="395002"/>
            <a:chOff x="0" y="0"/>
            <a:chExt cx="2264664" cy="526669"/>
          </a:xfrm>
        </p:grpSpPr>
        <p:sp>
          <p:nvSpPr>
            <p:cNvPr name="Freeform 846" id="8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47" id="847"/>
          <p:cNvGrpSpPr/>
          <p:nvPr/>
        </p:nvGrpSpPr>
        <p:grpSpPr>
          <a:xfrm rot="0">
            <a:off x="14041003" y="8299999"/>
            <a:ext cx="1698498" cy="395002"/>
            <a:chOff x="0" y="0"/>
            <a:chExt cx="2264664" cy="526669"/>
          </a:xfrm>
        </p:grpSpPr>
        <p:sp>
          <p:nvSpPr>
            <p:cNvPr name="Freeform 848" id="8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9" id="849"/>
          <p:cNvGrpSpPr/>
          <p:nvPr/>
        </p:nvGrpSpPr>
        <p:grpSpPr>
          <a:xfrm rot="0">
            <a:off x="14041003" y="8299999"/>
            <a:ext cx="1698498" cy="395002"/>
            <a:chOff x="0" y="0"/>
            <a:chExt cx="2264664" cy="526669"/>
          </a:xfrm>
        </p:grpSpPr>
        <p:sp>
          <p:nvSpPr>
            <p:cNvPr name="Freeform 850" id="8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51" id="85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$361,766</a:t>
              </a:r>
            </a:p>
          </p:txBody>
        </p:sp>
      </p:grpSp>
      <p:grpSp>
        <p:nvGrpSpPr>
          <p:cNvPr name="Group 852" id="852"/>
          <p:cNvGrpSpPr/>
          <p:nvPr/>
        </p:nvGrpSpPr>
        <p:grpSpPr>
          <a:xfrm rot="0">
            <a:off x="15739501" y="8299999"/>
            <a:ext cx="1698498" cy="395002"/>
            <a:chOff x="0" y="0"/>
            <a:chExt cx="2264664" cy="526669"/>
          </a:xfrm>
        </p:grpSpPr>
        <p:sp>
          <p:nvSpPr>
            <p:cNvPr name="Freeform 853" id="8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54" id="854"/>
          <p:cNvGrpSpPr/>
          <p:nvPr/>
        </p:nvGrpSpPr>
        <p:grpSpPr>
          <a:xfrm rot="0">
            <a:off x="15739501" y="8299999"/>
            <a:ext cx="1698498" cy="395002"/>
            <a:chOff x="0" y="0"/>
            <a:chExt cx="2264664" cy="526669"/>
          </a:xfrm>
        </p:grpSpPr>
        <p:sp>
          <p:nvSpPr>
            <p:cNvPr name="Freeform 855" id="8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56" id="856"/>
          <p:cNvGrpSpPr/>
          <p:nvPr/>
        </p:nvGrpSpPr>
        <p:grpSpPr>
          <a:xfrm rot="0">
            <a:off x="15739501" y="8299999"/>
            <a:ext cx="1698498" cy="395002"/>
            <a:chOff x="0" y="0"/>
            <a:chExt cx="2264664" cy="526669"/>
          </a:xfrm>
        </p:grpSpPr>
        <p:sp>
          <p:nvSpPr>
            <p:cNvPr name="Freeform 857" id="8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58" id="858"/>
          <p:cNvGrpSpPr/>
          <p:nvPr/>
        </p:nvGrpSpPr>
        <p:grpSpPr>
          <a:xfrm rot="0">
            <a:off x="15739501" y="8299999"/>
            <a:ext cx="1698498" cy="395002"/>
            <a:chOff x="0" y="0"/>
            <a:chExt cx="2264664" cy="526669"/>
          </a:xfrm>
        </p:grpSpPr>
        <p:sp>
          <p:nvSpPr>
            <p:cNvPr name="Freeform 859" id="8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60" id="86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$448,228</a:t>
              </a:r>
            </a:p>
          </p:txBody>
        </p:sp>
      </p:grpSp>
      <p:grpSp>
        <p:nvGrpSpPr>
          <p:cNvPr name="Group 861" id="861"/>
          <p:cNvGrpSpPr/>
          <p:nvPr/>
        </p:nvGrpSpPr>
        <p:grpSpPr>
          <a:xfrm rot="0">
            <a:off x="850001" y="8686000"/>
            <a:ext cx="16587978" cy="8954"/>
            <a:chOff x="0" y="0"/>
            <a:chExt cx="22117304" cy="11938"/>
          </a:xfrm>
        </p:grpSpPr>
        <p:sp>
          <p:nvSpPr>
            <p:cNvPr name="Freeform 862" id="862"/>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863" id="863"/>
          <p:cNvGrpSpPr/>
          <p:nvPr/>
        </p:nvGrpSpPr>
        <p:grpSpPr>
          <a:xfrm rot="0">
            <a:off x="1070000" y="8695001"/>
            <a:ext cx="2699956" cy="395002"/>
            <a:chOff x="0" y="0"/>
            <a:chExt cx="3599942" cy="526669"/>
          </a:xfrm>
        </p:grpSpPr>
        <p:sp>
          <p:nvSpPr>
            <p:cNvPr name="Freeform 864" id="86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865" id="865"/>
          <p:cNvGrpSpPr/>
          <p:nvPr/>
        </p:nvGrpSpPr>
        <p:grpSpPr>
          <a:xfrm rot="0">
            <a:off x="1070000" y="8695001"/>
            <a:ext cx="2699956" cy="395002"/>
            <a:chOff x="0" y="0"/>
            <a:chExt cx="3599942" cy="526669"/>
          </a:xfrm>
        </p:grpSpPr>
        <p:sp>
          <p:nvSpPr>
            <p:cNvPr name="Freeform 866" id="86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867" id="867"/>
          <p:cNvGrpSpPr/>
          <p:nvPr/>
        </p:nvGrpSpPr>
        <p:grpSpPr>
          <a:xfrm rot="0">
            <a:off x="1070000" y="8695001"/>
            <a:ext cx="2700004" cy="395002"/>
            <a:chOff x="0" y="0"/>
            <a:chExt cx="3600005" cy="526669"/>
          </a:xfrm>
        </p:grpSpPr>
        <p:sp>
          <p:nvSpPr>
            <p:cNvPr name="Freeform 868" id="86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869" id="869"/>
          <p:cNvGrpSpPr/>
          <p:nvPr/>
        </p:nvGrpSpPr>
        <p:grpSpPr>
          <a:xfrm rot="0">
            <a:off x="1070000" y="8695001"/>
            <a:ext cx="2700004" cy="395002"/>
            <a:chOff x="0" y="0"/>
            <a:chExt cx="3600005" cy="526669"/>
          </a:xfrm>
        </p:grpSpPr>
        <p:sp>
          <p:nvSpPr>
            <p:cNvPr name="Freeform 870" id="870"/>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871" id="871"/>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872" id="872"/>
          <p:cNvGrpSpPr/>
          <p:nvPr/>
        </p:nvGrpSpPr>
        <p:grpSpPr>
          <a:xfrm rot="0">
            <a:off x="3850005" y="8695001"/>
            <a:ext cx="1698498" cy="395002"/>
            <a:chOff x="0" y="0"/>
            <a:chExt cx="2264664" cy="526669"/>
          </a:xfrm>
        </p:grpSpPr>
        <p:sp>
          <p:nvSpPr>
            <p:cNvPr name="Freeform 873" id="8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74" id="874"/>
          <p:cNvGrpSpPr/>
          <p:nvPr/>
        </p:nvGrpSpPr>
        <p:grpSpPr>
          <a:xfrm rot="0">
            <a:off x="3850005" y="8695001"/>
            <a:ext cx="1698498" cy="395002"/>
            <a:chOff x="0" y="0"/>
            <a:chExt cx="2264664" cy="526669"/>
          </a:xfrm>
        </p:grpSpPr>
        <p:sp>
          <p:nvSpPr>
            <p:cNvPr name="Freeform 875" id="8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76" id="876"/>
          <p:cNvGrpSpPr/>
          <p:nvPr/>
        </p:nvGrpSpPr>
        <p:grpSpPr>
          <a:xfrm rot="0">
            <a:off x="3850005" y="8695001"/>
            <a:ext cx="1698498" cy="395002"/>
            <a:chOff x="0" y="0"/>
            <a:chExt cx="2264664" cy="526669"/>
          </a:xfrm>
        </p:grpSpPr>
        <p:sp>
          <p:nvSpPr>
            <p:cNvPr name="Freeform 877" id="8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78" id="878"/>
          <p:cNvGrpSpPr/>
          <p:nvPr/>
        </p:nvGrpSpPr>
        <p:grpSpPr>
          <a:xfrm rot="0">
            <a:off x="3850005" y="8695001"/>
            <a:ext cx="1698498" cy="395002"/>
            <a:chOff x="0" y="0"/>
            <a:chExt cx="2264664" cy="526669"/>
          </a:xfrm>
        </p:grpSpPr>
        <p:sp>
          <p:nvSpPr>
            <p:cNvPr name="Freeform 879" id="8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0" id="88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-$95,987.01</a:t>
              </a:r>
            </a:p>
          </p:txBody>
        </p:sp>
      </p:grpSp>
      <p:grpSp>
        <p:nvGrpSpPr>
          <p:cNvPr name="Group 881" id="881"/>
          <p:cNvGrpSpPr/>
          <p:nvPr/>
        </p:nvGrpSpPr>
        <p:grpSpPr>
          <a:xfrm rot="0">
            <a:off x="5548503" y="8695001"/>
            <a:ext cx="1698498" cy="395002"/>
            <a:chOff x="0" y="0"/>
            <a:chExt cx="2264664" cy="526669"/>
          </a:xfrm>
        </p:grpSpPr>
        <p:sp>
          <p:nvSpPr>
            <p:cNvPr name="Freeform 882" id="8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83" id="883"/>
          <p:cNvGrpSpPr/>
          <p:nvPr/>
        </p:nvGrpSpPr>
        <p:grpSpPr>
          <a:xfrm rot="0">
            <a:off x="5548503" y="8695001"/>
            <a:ext cx="1698498" cy="395002"/>
            <a:chOff x="0" y="0"/>
            <a:chExt cx="2264664" cy="526669"/>
          </a:xfrm>
        </p:grpSpPr>
        <p:sp>
          <p:nvSpPr>
            <p:cNvPr name="Freeform 884" id="8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85" id="885"/>
          <p:cNvGrpSpPr/>
          <p:nvPr/>
        </p:nvGrpSpPr>
        <p:grpSpPr>
          <a:xfrm rot="0">
            <a:off x="5548503" y="8695001"/>
            <a:ext cx="1698498" cy="395002"/>
            <a:chOff x="0" y="0"/>
            <a:chExt cx="2264664" cy="526669"/>
          </a:xfrm>
        </p:grpSpPr>
        <p:sp>
          <p:nvSpPr>
            <p:cNvPr name="Freeform 886" id="8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87" id="887"/>
          <p:cNvGrpSpPr/>
          <p:nvPr/>
        </p:nvGrpSpPr>
        <p:grpSpPr>
          <a:xfrm rot="0">
            <a:off x="5548503" y="8695001"/>
            <a:ext cx="1698498" cy="395002"/>
            <a:chOff x="0" y="0"/>
            <a:chExt cx="2264664" cy="526669"/>
          </a:xfrm>
        </p:grpSpPr>
        <p:sp>
          <p:nvSpPr>
            <p:cNvPr name="Freeform 888" id="8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9" id="88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-$115,992.85</a:t>
              </a:r>
            </a:p>
          </p:txBody>
        </p:sp>
      </p:grpSp>
      <p:grpSp>
        <p:nvGrpSpPr>
          <p:cNvPr name="Group 890" id="890"/>
          <p:cNvGrpSpPr/>
          <p:nvPr/>
        </p:nvGrpSpPr>
        <p:grpSpPr>
          <a:xfrm rot="0">
            <a:off x="7247001" y="8695001"/>
            <a:ext cx="1698498" cy="395002"/>
            <a:chOff x="0" y="0"/>
            <a:chExt cx="2264664" cy="526669"/>
          </a:xfrm>
        </p:grpSpPr>
        <p:sp>
          <p:nvSpPr>
            <p:cNvPr name="Freeform 891" id="8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92" id="892"/>
          <p:cNvGrpSpPr/>
          <p:nvPr/>
        </p:nvGrpSpPr>
        <p:grpSpPr>
          <a:xfrm rot="0">
            <a:off x="7247001" y="8695001"/>
            <a:ext cx="1698498" cy="395002"/>
            <a:chOff x="0" y="0"/>
            <a:chExt cx="2264664" cy="526669"/>
          </a:xfrm>
        </p:grpSpPr>
        <p:sp>
          <p:nvSpPr>
            <p:cNvPr name="Freeform 893" id="8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94" id="894"/>
          <p:cNvGrpSpPr/>
          <p:nvPr/>
        </p:nvGrpSpPr>
        <p:grpSpPr>
          <a:xfrm rot="0">
            <a:off x="7247001" y="8695001"/>
            <a:ext cx="1698498" cy="395002"/>
            <a:chOff x="0" y="0"/>
            <a:chExt cx="2264664" cy="526669"/>
          </a:xfrm>
        </p:grpSpPr>
        <p:sp>
          <p:nvSpPr>
            <p:cNvPr name="Freeform 895" id="8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96" id="896"/>
          <p:cNvGrpSpPr/>
          <p:nvPr/>
        </p:nvGrpSpPr>
        <p:grpSpPr>
          <a:xfrm rot="0">
            <a:off x="7247001" y="8695001"/>
            <a:ext cx="1698498" cy="395002"/>
            <a:chOff x="0" y="0"/>
            <a:chExt cx="2264664" cy="526669"/>
          </a:xfrm>
        </p:grpSpPr>
        <p:sp>
          <p:nvSpPr>
            <p:cNvPr name="Freeform 897" id="8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98" id="89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-$144,885.19</a:t>
              </a:r>
            </a:p>
          </p:txBody>
        </p:sp>
      </p:grpSp>
      <p:grpSp>
        <p:nvGrpSpPr>
          <p:cNvPr name="Group 899" id="899"/>
          <p:cNvGrpSpPr/>
          <p:nvPr/>
        </p:nvGrpSpPr>
        <p:grpSpPr>
          <a:xfrm rot="0">
            <a:off x="8945499" y="8695001"/>
            <a:ext cx="1698498" cy="395002"/>
            <a:chOff x="0" y="0"/>
            <a:chExt cx="2264664" cy="526669"/>
          </a:xfrm>
        </p:grpSpPr>
        <p:sp>
          <p:nvSpPr>
            <p:cNvPr name="Freeform 900" id="9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01" id="901"/>
          <p:cNvGrpSpPr/>
          <p:nvPr/>
        </p:nvGrpSpPr>
        <p:grpSpPr>
          <a:xfrm rot="0">
            <a:off x="8945499" y="8695001"/>
            <a:ext cx="1698498" cy="395002"/>
            <a:chOff x="0" y="0"/>
            <a:chExt cx="2264664" cy="526669"/>
          </a:xfrm>
        </p:grpSpPr>
        <p:sp>
          <p:nvSpPr>
            <p:cNvPr name="Freeform 902" id="9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03" id="903"/>
          <p:cNvGrpSpPr/>
          <p:nvPr/>
        </p:nvGrpSpPr>
        <p:grpSpPr>
          <a:xfrm rot="0">
            <a:off x="8945499" y="8695001"/>
            <a:ext cx="1698498" cy="395002"/>
            <a:chOff x="0" y="0"/>
            <a:chExt cx="2264664" cy="526669"/>
          </a:xfrm>
        </p:grpSpPr>
        <p:sp>
          <p:nvSpPr>
            <p:cNvPr name="Freeform 904" id="9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05" id="905"/>
          <p:cNvGrpSpPr/>
          <p:nvPr/>
        </p:nvGrpSpPr>
        <p:grpSpPr>
          <a:xfrm rot="0">
            <a:off x="8945499" y="8695001"/>
            <a:ext cx="1698498" cy="395002"/>
            <a:chOff x="0" y="0"/>
            <a:chExt cx="2264664" cy="526669"/>
          </a:xfrm>
        </p:grpSpPr>
        <p:sp>
          <p:nvSpPr>
            <p:cNvPr name="Freeform 906" id="9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07" id="90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-$180,197.89</a:t>
              </a:r>
            </a:p>
          </p:txBody>
        </p:sp>
      </p:grpSp>
      <p:grpSp>
        <p:nvGrpSpPr>
          <p:cNvPr name="Group 908" id="908"/>
          <p:cNvGrpSpPr/>
          <p:nvPr/>
        </p:nvGrpSpPr>
        <p:grpSpPr>
          <a:xfrm rot="0">
            <a:off x="10643997" y="8695001"/>
            <a:ext cx="1698498" cy="395002"/>
            <a:chOff x="0" y="0"/>
            <a:chExt cx="2264664" cy="526669"/>
          </a:xfrm>
        </p:grpSpPr>
        <p:sp>
          <p:nvSpPr>
            <p:cNvPr name="Freeform 909" id="9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10" id="910"/>
          <p:cNvGrpSpPr/>
          <p:nvPr/>
        </p:nvGrpSpPr>
        <p:grpSpPr>
          <a:xfrm rot="0">
            <a:off x="10643997" y="8695001"/>
            <a:ext cx="1698498" cy="395002"/>
            <a:chOff x="0" y="0"/>
            <a:chExt cx="2264664" cy="526669"/>
          </a:xfrm>
        </p:grpSpPr>
        <p:sp>
          <p:nvSpPr>
            <p:cNvPr name="Freeform 911" id="9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12" id="912"/>
          <p:cNvGrpSpPr/>
          <p:nvPr/>
        </p:nvGrpSpPr>
        <p:grpSpPr>
          <a:xfrm rot="0">
            <a:off x="10643997" y="8695001"/>
            <a:ext cx="1698498" cy="395002"/>
            <a:chOff x="0" y="0"/>
            <a:chExt cx="2264664" cy="526669"/>
          </a:xfrm>
        </p:grpSpPr>
        <p:sp>
          <p:nvSpPr>
            <p:cNvPr name="Freeform 913" id="9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14" id="914"/>
          <p:cNvGrpSpPr/>
          <p:nvPr/>
        </p:nvGrpSpPr>
        <p:grpSpPr>
          <a:xfrm rot="0">
            <a:off x="10643997" y="8695001"/>
            <a:ext cx="1698498" cy="395002"/>
            <a:chOff x="0" y="0"/>
            <a:chExt cx="2264664" cy="526669"/>
          </a:xfrm>
        </p:grpSpPr>
        <p:sp>
          <p:nvSpPr>
            <p:cNvPr name="Freeform 915" id="9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16" id="91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-$223,454.00</a:t>
              </a:r>
            </a:p>
          </p:txBody>
        </p:sp>
      </p:grpSp>
      <p:grpSp>
        <p:nvGrpSpPr>
          <p:cNvPr name="Group 917" id="917"/>
          <p:cNvGrpSpPr/>
          <p:nvPr/>
        </p:nvGrpSpPr>
        <p:grpSpPr>
          <a:xfrm rot="0">
            <a:off x="850001" y="9081002"/>
            <a:ext cx="16587978" cy="8954"/>
            <a:chOff x="0" y="0"/>
            <a:chExt cx="22117304" cy="11938"/>
          </a:xfrm>
        </p:grpSpPr>
        <p:sp>
          <p:nvSpPr>
            <p:cNvPr name="Freeform 918" id="918"/>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919" id="919"/>
          <p:cNvGrpSpPr/>
          <p:nvPr/>
        </p:nvGrpSpPr>
        <p:grpSpPr>
          <a:xfrm rot="0">
            <a:off x="850001" y="9090003"/>
            <a:ext cx="16587978" cy="26003"/>
            <a:chOff x="0" y="0"/>
            <a:chExt cx="22117304" cy="34671"/>
          </a:xfrm>
        </p:grpSpPr>
        <p:sp>
          <p:nvSpPr>
            <p:cNvPr name="Freeform 920" id="920"/>
            <p:cNvSpPr/>
            <p:nvPr/>
          </p:nvSpPr>
          <p:spPr>
            <a:xfrm flipH="false" flipV="false" rot="0">
              <a:off x="0" y="0"/>
              <a:ext cx="22117304" cy="34671"/>
            </a:xfrm>
            <a:custGeom>
              <a:avLst/>
              <a:gdLst/>
              <a:ahLst/>
              <a:cxnLst/>
              <a:rect r="r" b="b" t="t" l="l"/>
              <a:pathLst>
                <a:path h="34671" w="22117304">
                  <a:moveTo>
                    <a:pt x="0" y="0"/>
                  </a:moveTo>
                  <a:lnTo>
                    <a:pt x="22117304" y="0"/>
                  </a:lnTo>
                  <a:lnTo>
                    <a:pt x="22117304" y="34671"/>
                  </a:lnTo>
                  <a:lnTo>
                    <a:pt x="0" y="34671"/>
                  </a:lnTo>
                  <a:close/>
                </a:path>
              </a:pathLst>
            </a:custGeom>
            <a:solidFill>
              <a:srgbClr val="132257"/>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IT 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IT Status at a Glance</a:t>
              </a:r>
            </a:p>
          </p:txBody>
        </p:sp>
      </p:grpSp>
      <p:sp>
        <p:nvSpPr>
          <p:cNvPr name="TextBox 9" id="9"/>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VENDORS, PLATFORM AND INTERNAL SYSTEMS  |  AS AT 01 OCTOBER 2026</a:t>
            </a:r>
          </a:p>
        </p:txBody>
      </p:sp>
      <p:graphicFrame>
        <p:nvGraphicFramePr>
          <p:cNvPr name="Table 10" id="10"/>
          <p:cNvGraphicFramePr>
            <a:graphicFrameLocks noGrp="true"/>
          </p:cNvGraphicFramePr>
          <p:nvPr/>
        </p:nvGraphicFramePr>
        <p:xfrm>
          <a:off x="630936" y="2029968"/>
          <a:ext cx="17005300" cy="7239000"/>
        </p:xfrm>
        <a:graphic>
          <a:graphicData uri="http://schemas.openxmlformats.org/drawingml/2006/table">
            <a:tbl>
              <a:tblPr/>
              <a:tblGrid>
                <a:gridCol w="3563849"/>
                <a:gridCol w="8617482"/>
                <a:gridCol w="2744341"/>
                <a:gridCol w="2079628"/>
              </a:tblGrid>
              <a:tr h="7239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Area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Update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Target / 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iGentech</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Invoice overrun resolved: billing cut from USD 10,750 to USD 5,625 (-48%).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billing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Duplicate KYC charges refunded (USD 9,605), plus a USD 50 production test credit given as compensation.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Google Play security update (current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Security API update Google requires for the current Android app. Not the Next App. 2 test rounds, 99.4% pass; live on Google Play.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29 Sep (deadline 01 Nov)</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Helpdesk</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Deployed ahead of the 20 Sep target. Improvement backlog in the appendix.</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17 Sep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KYC demo</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Enhanced KYC flow in the Shufti SDK demo app. Internal demo only; it will not go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QATestLab</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Reviewing the Next App and preparing test cases, ready for v1.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Testing from 08 Oct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Exante, Next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First version due 08 Oct. Full release plan to be shared next week. Sanity test date to be confirmed.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v1: 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WealthTech CRM (Frappe)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One customer base in a single system. Starts now that Helpdesk is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29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3C61B6"/>
                          </a:solidFill>
                          <a:latin typeface="Exo 2 Bold"/>
                          <a:ea typeface="Exo 2 Bold"/>
                          <a:cs typeface="Exo 2 Bold"/>
                          <a:sym typeface="Exo 2 Bold"/>
                        </a:rPr>
                        <a:t>PLANNED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Reporting Dashboard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Real-time reporting options under review to support the business case.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TBC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5A6A85"/>
                          </a:solidFill>
                          <a:latin typeface="Exo 2 Bold"/>
                          <a:ea typeface="Exo 2 Bold"/>
                          <a:cs typeface="Exo 2 Bold"/>
                          <a:sym typeface="Exo 2 Bold"/>
                        </a:rPr>
                        <a:t>EXPLORING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EF1F6"/>
                    </a:solidFill>
                  </a:tcPr>
                </a:tc>
              </a:tr>
            </a:tbl>
          </a:graphicData>
        </a:graphic>
      </p:graphicFrame>
      <p:sp>
        <p:nvSpPr>
          <p:cNvPr name="Freeform 11" id="11"/>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470535" y="648843"/>
            <a:ext cx="115062" cy="732282"/>
            <a:chOff x="0" y="0"/>
            <a:chExt cx="153416" cy="976376"/>
          </a:xfrm>
        </p:grpSpPr>
        <p:sp>
          <p:nvSpPr>
            <p:cNvPr name="Freeform 13" id="13"/>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4" id="14"/>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Next App: Exante and QATestLab</a:t>
              </a:r>
            </a:p>
          </p:txBody>
        </p:sp>
      </p:grpSp>
      <p:sp>
        <p:nvSpPr>
          <p:cNvPr name="TextBox 9" id="9"/>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PLATFORM  |  NEXT APP DELIVERY</a:t>
            </a:r>
          </a:p>
        </p:txBody>
      </p:sp>
      <p:grpSp>
        <p:nvGrpSpPr>
          <p:cNvPr name="Group 10" id="10"/>
          <p:cNvGrpSpPr/>
          <p:nvPr/>
        </p:nvGrpSpPr>
        <p:grpSpPr>
          <a:xfrm rot="0">
            <a:off x="2656332" y="2770632"/>
            <a:ext cx="12975336" cy="36576"/>
            <a:chOff x="0" y="0"/>
            <a:chExt cx="17300448" cy="48768"/>
          </a:xfrm>
        </p:grpSpPr>
        <p:sp>
          <p:nvSpPr>
            <p:cNvPr name="Freeform 11" id="11"/>
            <p:cNvSpPr/>
            <p:nvPr/>
          </p:nvSpPr>
          <p:spPr>
            <a:xfrm flipH="false" flipV="false" rot="0">
              <a:off x="0" y="0"/>
              <a:ext cx="17300448" cy="48768"/>
            </a:xfrm>
            <a:custGeom>
              <a:avLst/>
              <a:gdLst/>
              <a:ahLst/>
              <a:cxnLst/>
              <a:rect r="r" b="b" t="t" l="l"/>
              <a:pathLst>
                <a:path h="48768" w="17300448">
                  <a:moveTo>
                    <a:pt x="0" y="0"/>
                  </a:moveTo>
                  <a:lnTo>
                    <a:pt x="17300448" y="0"/>
                  </a:lnTo>
                  <a:lnTo>
                    <a:pt x="17300448" y="48768"/>
                  </a:lnTo>
                  <a:lnTo>
                    <a:pt x="0" y="48768"/>
                  </a:lnTo>
                  <a:close/>
                </a:path>
              </a:pathLst>
            </a:custGeom>
            <a:solidFill>
              <a:srgbClr val="E4E7F2"/>
            </a:solidFill>
          </p:spPr>
        </p:sp>
      </p:grpSp>
      <p:sp>
        <p:nvSpPr>
          <p:cNvPr name="TextBox 12" id="12"/>
          <p:cNvSpPr txBox="true"/>
          <p:nvPr/>
        </p:nvSpPr>
        <p:spPr>
          <a:xfrm rot="0">
            <a:off x="630936"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Now</a:t>
            </a:r>
          </a:p>
        </p:txBody>
      </p:sp>
      <p:grpSp>
        <p:nvGrpSpPr>
          <p:cNvPr name="Group 13" id="13"/>
          <p:cNvGrpSpPr/>
          <p:nvPr/>
        </p:nvGrpSpPr>
        <p:grpSpPr>
          <a:xfrm rot="0">
            <a:off x="2473452" y="2606040"/>
            <a:ext cx="365760" cy="365760"/>
            <a:chOff x="0" y="0"/>
            <a:chExt cx="487680" cy="487680"/>
          </a:xfrm>
        </p:grpSpPr>
        <p:sp>
          <p:nvSpPr>
            <p:cNvPr name="Freeform 14" id="1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3C61B6"/>
            </a:solidFill>
          </p:spPr>
        </p:sp>
      </p:grpSp>
      <p:grpSp>
        <p:nvGrpSpPr>
          <p:cNvPr name="Group 15" id="15"/>
          <p:cNvGrpSpPr/>
          <p:nvPr/>
        </p:nvGrpSpPr>
        <p:grpSpPr>
          <a:xfrm rot="0">
            <a:off x="626173" y="3241358"/>
            <a:ext cx="4060317" cy="2844165"/>
            <a:chOff x="0" y="0"/>
            <a:chExt cx="5413756" cy="3792220"/>
          </a:xfrm>
        </p:grpSpPr>
        <p:sp>
          <p:nvSpPr>
            <p:cNvPr name="Freeform 16" id="16"/>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17" id="17"/>
          <p:cNvGrpSpPr/>
          <p:nvPr/>
        </p:nvGrpSpPr>
        <p:grpSpPr>
          <a:xfrm rot="0">
            <a:off x="630936" y="3246120"/>
            <a:ext cx="4050792" cy="73152"/>
            <a:chOff x="0" y="0"/>
            <a:chExt cx="5401056" cy="97536"/>
          </a:xfrm>
        </p:grpSpPr>
        <p:sp>
          <p:nvSpPr>
            <p:cNvPr name="Freeform 18" id="18"/>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19" id="19"/>
          <p:cNvSpPr txBox="true"/>
          <p:nvPr/>
        </p:nvSpPr>
        <p:spPr>
          <a:xfrm rot="0">
            <a:off x="905256"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QATestLab engaged</a:t>
            </a:r>
          </a:p>
        </p:txBody>
      </p:sp>
      <p:sp>
        <p:nvSpPr>
          <p:cNvPr name="TextBox 20" id="20"/>
          <p:cNvSpPr txBox="true"/>
          <p:nvPr/>
        </p:nvSpPr>
        <p:spPr>
          <a:xfrm rot="0">
            <a:off x="905256"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Reviewing the Next App and writing test cases while Exante builds it.</a:t>
            </a:r>
          </a:p>
        </p:txBody>
      </p:sp>
      <p:sp>
        <p:nvSpPr>
          <p:cNvPr name="TextBox 21" id="21"/>
          <p:cNvSpPr txBox="true"/>
          <p:nvPr/>
        </p:nvSpPr>
        <p:spPr>
          <a:xfrm rot="0">
            <a:off x="4956048"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Next week</a:t>
            </a:r>
          </a:p>
        </p:txBody>
      </p:sp>
      <p:grpSp>
        <p:nvGrpSpPr>
          <p:cNvPr name="Group 22" id="22"/>
          <p:cNvGrpSpPr/>
          <p:nvPr/>
        </p:nvGrpSpPr>
        <p:grpSpPr>
          <a:xfrm rot="0">
            <a:off x="6782686" y="2590162"/>
            <a:ext cx="397507" cy="397507"/>
            <a:chOff x="0" y="0"/>
            <a:chExt cx="530009" cy="530009"/>
          </a:xfrm>
        </p:grpSpPr>
        <p:sp>
          <p:nvSpPr>
            <p:cNvPr name="Freeform 23" id="23"/>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24" id="24"/>
          <p:cNvGrpSpPr/>
          <p:nvPr/>
        </p:nvGrpSpPr>
        <p:grpSpPr>
          <a:xfrm rot="0">
            <a:off x="4951286" y="3241358"/>
            <a:ext cx="4060317" cy="2844165"/>
            <a:chOff x="0" y="0"/>
            <a:chExt cx="5413756" cy="3792220"/>
          </a:xfrm>
        </p:grpSpPr>
        <p:sp>
          <p:nvSpPr>
            <p:cNvPr name="Freeform 25" id="25"/>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26" id="26"/>
          <p:cNvGrpSpPr/>
          <p:nvPr/>
        </p:nvGrpSpPr>
        <p:grpSpPr>
          <a:xfrm rot="0">
            <a:off x="4956048" y="3246120"/>
            <a:ext cx="4050792" cy="73152"/>
            <a:chOff x="0" y="0"/>
            <a:chExt cx="5401056" cy="97536"/>
          </a:xfrm>
        </p:grpSpPr>
        <p:sp>
          <p:nvSpPr>
            <p:cNvPr name="Freeform 27" id="27"/>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28" id="28"/>
          <p:cNvSpPr txBox="true"/>
          <p:nvPr/>
        </p:nvSpPr>
        <p:spPr>
          <a:xfrm rot="0">
            <a:off x="5230368"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Release plan</a:t>
            </a:r>
          </a:p>
        </p:txBody>
      </p:sp>
      <p:sp>
        <p:nvSpPr>
          <p:cNvPr name="TextBox 29" id="29"/>
          <p:cNvSpPr txBox="true"/>
          <p:nvPr/>
        </p:nvSpPr>
        <p:spPr>
          <a:xfrm rot="0">
            <a:off x="5230368"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Full plan shared once QATestLab confirms its estimate.</a:t>
            </a:r>
          </a:p>
        </p:txBody>
      </p:sp>
      <p:sp>
        <p:nvSpPr>
          <p:cNvPr name="TextBox 30" id="30"/>
          <p:cNvSpPr txBox="true"/>
          <p:nvPr/>
        </p:nvSpPr>
        <p:spPr>
          <a:xfrm rot="0">
            <a:off x="9281160"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08 Oct 2026</a:t>
            </a:r>
          </a:p>
        </p:txBody>
      </p:sp>
      <p:grpSp>
        <p:nvGrpSpPr>
          <p:cNvPr name="Group 31" id="31"/>
          <p:cNvGrpSpPr/>
          <p:nvPr/>
        </p:nvGrpSpPr>
        <p:grpSpPr>
          <a:xfrm rot="0">
            <a:off x="11107798" y="2590162"/>
            <a:ext cx="397507" cy="397507"/>
            <a:chOff x="0" y="0"/>
            <a:chExt cx="530009" cy="530009"/>
          </a:xfrm>
        </p:grpSpPr>
        <p:sp>
          <p:nvSpPr>
            <p:cNvPr name="Freeform 32" id="32"/>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33" id="33"/>
          <p:cNvGrpSpPr/>
          <p:nvPr/>
        </p:nvGrpSpPr>
        <p:grpSpPr>
          <a:xfrm rot="0">
            <a:off x="9276398" y="3241358"/>
            <a:ext cx="4060317" cy="2844165"/>
            <a:chOff x="0" y="0"/>
            <a:chExt cx="5413756" cy="3792220"/>
          </a:xfrm>
        </p:grpSpPr>
        <p:sp>
          <p:nvSpPr>
            <p:cNvPr name="Freeform 34" id="34"/>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35" id="35"/>
          <p:cNvGrpSpPr/>
          <p:nvPr/>
        </p:nvGrpSpPr>
        <p:grpSpPr>
          <a:xfrm rot="0">
            <a:off x="9281160" y="3246120"/>
            <a:ext cx="4050792" cy="73152"/>
            <a:chOff x="0" y="0"/>
            <a:chExt cx="5401056" cy="97536"/>
          </a:xfrm>
        </p:grpSpPr>
        <p:sp>
          <p:nvSpPr>
            <p:cNvPr name="Freeform 36" id="36"/>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D4AF37"/>
            </a:solidFill>
          </p:spPr>
        </p:sp>
      </p:grpSp>
      <p:sp>
        <p:nvSpPr>
          <p:cNvPr name="TextBox 37" id="37"/>
          <p:cNvSpPr txBox="true"/>
          <p:nvPr/>
        </p:nvSpPr>
        <p:spPr>
          <a:xfrm rot="0">
            <a:off x="9555480"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Next App v1</a:t>
            </a:r>
          </a:p>
        </p:txBody>
      </p:sp>
      <p:sp>
        <p:nvSpPr>
          <p:cNvPr name="TextBox 38" id="38"/>
          <p:cNvSpPr txBox="true"/>
          <p:nvPr/>
        </p:nvSpPr>
        <p:spPr>
          <a:xfrm rot="0">
            <a:off x="9555480"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First version delivered by Exante.</a:t>
            </a:r>
          </a:p>
        </p:txBody>
      </p:sp>
      <p:sp>
        <p:nvSpPr>
          <p:cNvPr name="TextBox 39" id="39"/>
          <p:cNvSpPr txBox="true"/>
          <p:nvPr/>
        </p:nvSpPr>
        <p:spPr>
          <a:xfrm rot="0">
            <a:off x="13606272"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After 08 Oct</a:t>
            </a:r>
          </a:p>
        </p:txBody>
      </p:sp>
      <p:grpSp>
        <p:nvGrpSpPr>
          <p:cNvPr name="Group 40" id="40"/>
          <p:cNvGrpSpPr/>
          <p:nvPr/>
        </p:nvGrpSpPr>
        <p:grpSpPr>
          <a:xfrm rot="0">
            <a:off x="15432910" y="2590162"/>
            <a:ext cx="397507" cy="397507"/>
            <a:chOff x="0" y="0"/>
            <a:chExt cx="530009" cy="530009"/>
          </a:xfrm>
        </p:grpSpPr>
        <p:sp>
          <p:nvSpPr>
            <p:cNvPr name="Freeform 41" id="41"/>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42" id="42"/>
          <p:cNvGrpSpPr/>
          <p:nvPr/>
        </p:nvGrpSpPr>
        <p:grpSpPr>
          <a:xfrm rot="0">
            <a:off x="13601510" y="3241358"/>
            <a:ext cx="4060317" cy="2844165"/>
            <a:chOff x="0" y="0"/>
            <a:chExt cx="5413756" cy="3792220"/>
          </a:xfrm>
        </p:grpSpPr>
        <p:sp>
          <p:nvSpPr>
            <p:cNvPr name="Freeform 43" id="43"/>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44" id="44"/>
          <p:cNvGrpSpPr/>
          <p:nvPr/>
        </p:nvGrpSpPr>
        <p:grpSpPr>
          <a:xfrm rot="0">
            <a:off x="13606272" y="3246120"/>
            <a:ext cx="4050792" cy="73152"/>
            <a:chOff x="0" y="0"/>
            <a:chExt cx="5401056" cy="97536"/>
          </a:xfrm>
        </p:grpSpPr>
        <p:sp>
          <p:nvSpPr>
            <p:cNvPr name="Freeform 45" id="45"/>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46" id="46"/>
          <p:cNvSpPr txBox="true"/>
          <p:nvPr/>
        </p:nvSpPr>
        <p:spPr>
          <a:xfrm rot="0">
            <a:off x="13880592"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Independent QA</a:t>
            </a:r>
          </a:p>
        </p:txBody>
      </p:sp>
      <p:sp>
        <p:nvSpPr>
          <p:cNvPr name="TextBox 47" id="47"/>
          <p:cNvSpPr txBox="true"/>
          <p:nvPr/>
        </p:nvSpPr>
        <p:spPr>
          <a:xfrm rot="0">
            <a:off x="13880592"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QATestLab tests v1 against the prepared cases. Sanity test date to be confirmed.</a:t>
            </a:r>
          </a:p>
        </p:txBody>
      </p:sp>
      <p:grpSp>
        <p:nvGrpSpPr>
          <p:cNvPr name="Group 48" id="48"/>
          <p:cNvGrpSpPr/>
          <p:nvPr/>
        </p:nvGrpSpPr>
        <p:grpSpPr>
          <a:xfrm rot="0">
            <a:off x="626173" y="6441758"/>
            <a:ext cx="17035653" cy="2249805"/>
            <a:chOff x="0" y="0"/>
            <a:chExt cx="22714204" cy="2999740"/>
          </a:xfrm>
        </p:grpSpPr>
        <p:sp>
          <p:nvSpPr>
            <p:cNvPr name="Freeform 49" id="49"/>
            <p:cNvSpPr/>
            <p:nvPr/>
          </p:nvSpPr>
          <p:spPr>
            <a:xfrm flipH="false" flipV="false" rot="0">
              <a:off x="0" y="0"/>
              <a:ext cx="22714204" cy="2999740"/>
            </a:xfrm>
            <a:custGeom>
              <a:avLst/>
              <a:gdLst/>
              <a:ahLst/>
              <a:cxnLst/>
              <a:rect r="r" b="b" t="t" l="l"/>
              <a:pathLst>
                <a:path h="2999740" w="22714204">
                  <a:moveTo>
                    <a:pt x="0" y="0"/>
                  </a:moveTo>
                  <a:lnTo>
                    <a:pt x="22714204" y="0"/>
                  </a:lnTo>
                  <a:lnTo>
                    <a:pt x="22714204" y="2999740"/>
                  </a:lnTo>
                  <a:lnTo>
                    <a:pt x="0" y="2999740"/>
                  </a:lnTo>
                  <a:close/>
                </a:path>
              </a:pathLst>
            </a:custGeom>
            <a:solidFill>
              <a:srgbClr val="F7F8FC"/>
            </a:solidFill>
            <a:ln w="9525" cap="sq">
              <a:solidFill>
                <a:srgbClr val="E4E7F2"/>
              </a:solidFill>
              <a:prstDash val="solid"/>
              <a:miter/>
            </a:ln>
          </p:spPr>
        </p:sp>
      </p:grpSp>
      <p:grpSp>
        <p:nvGrpSpPr>
          <p:cNvPr name="Group 50" id="50"/>
          <p:cNvGrpSpPr/>
          <p:nvPr/>
        </p:nvGrpSpPr>
        <p:grpSpPr>
          <a:xfrm rot="0">
            <a:off x="630936" y="6446520"/>
            <a:ext cx="91440" cy="2240280"/>
            <a:chOff x="0" y="0"/>
            <a:chExt cx="121920" cy="2987040"/>
          </a:xfrm>
        </p:grpSpPr>
        <p:sp>
          <p:nvSpPr>
            <p:cNvPr name="Freeform 51" id="51"/>
            <p:cNvSpPr/>
            <p:nvPr/>
          </p:nvSpPr>
          <p:spPr>
            <a:xfrm flipH="false" flipV="false" rot="0">
              <a:off x="0" y="0"/>
              <a:ext cx="121920" cy="2987040"/>
            </a:xfrm>
            <a:custGeom>
              <a:avLst/>
              <a:gdLst/>
              <a:ahLst/>
              <a:cxnLst/>
              <a:rect r="r" b="b" t="t" l="l"/>
              <a:pathLst>
                <a:path h="2987040" w="121920">
                  <a:moveTo>
                    <a:pt x="0" y="0"/>
                  </a:moveTo>
                  <a:lnTo>
                    <a:pt x="121920" y="0"/>
                  </a:lnTo>
                  <a:lnTo>
                    <a:pt x="121920" y="2987040"/>
                  </a:lnTo>
                  <a:lnTo>
                    <a:pt x="0" y="2987040"/>
                  </a:lnTo>
                  <a:close/>
                </a:path>
              </a:pathLst>
            </a:custGeom>
            <a:solidFill>
              <a:srgbClr val="3C61B6"/>
            </a:solidFill>
          </p:spPr>
        </p:sp>
      </p:grpSp>
      <p:sp>
        <p:nvSpPr>
          <p:cNvPr name="TextBox 52" id="52"/>
          <p:cNvSpPr txBox="true"/>
          <p:nvPr/>
        </p:nvSpPr>
        <p:spPr>
          <a:xfrm rot="0">
            <a:off x="1005840" y="6711315"/>
            <a:ext cx="16367760" cy="375285"/>
          </a:xfrm>
          <a:prstGeom prst="rect">
            <a:avLst/>
          </a:prstGeom>
        </p:spPr>
        <p:txBody>
          <a:bodyPr anchor="t" rtlCol="false" tIns="0" lIns="0" bIns="0" rIns="0">
            <a:spAutoFit/>
          </a:bodyPr>
          <a:lstStyle/>
          <a:p>
            <a:pPr algn="l">
              <a:lnSpc>
                <a:spcPts val="1800"/>
              </a:lnSpc>
            </a:pPr>
            <a:r>
              <a:rPr lang="en-US" sz="1500" b="true">
                <a:solidFill>
                  <a:srgbClr val="3C61B6"/>
                </a:solidFill>
                <a:latin typeface="Exo 2 Bold"/>
                <a:ea typeface="Exo 2 Bold"/>
                <a:cs typeface="Exo 2 Bold"/>
                <a:sym typeface="Exo 2 Bold"/>
              </a:rPr>
              <a:t>WHY IT MATTERS</a:t>
            </a:r>
          </a:p>
        </p:txBody>
      </p:sp>
      <p:sp>
        <p:nvSpPr>
          <p:cNvPr name="TextBox 53" id="53"/>
          <p:cNvSpPr txBox="true"/>
          <p:nvPr/>
        </p:nvSpPr>
        <p:spPr>
          <a:xfrm rot="0">
            <a:off x="1005840" y="7214235"/>
            <a:ext cx="16367760" cy="1289685"/>
          </a:xfrm>
          <a:prstGeom prst="rect">
            <a:avLst/>
          </a:prstGeom>
        </p:spPr>
        <p:txBody>
          <a:bodyPr anchor="t" rtlCol="false" tIns="0" lIns="0" bIns="0" rIns="0">
            <a:spAutoFit/>
          </a:bodyPr>
          <a:lstStyle/>
          <a:p>
            <a:pPr algn="l">
              <a:lnSpc>
                <a:spcPts val="2520"/>
              </a:lnSpc>
            </a:pPr>
            <a:r>
              <a:rPr lang="en-US" sz="2100">
                <a:solidFill>
                  <a:srgbClr val="1B1B3A"/>
                </a:solidFill>
                <a:latin typeface="Exo 2"/>
                <a:ea typeface="Exo 2"/>
                <a:cs typeface="Exo 2"/>
                <a:sym typeface="Exo 2"/>
              </a:rPr>
              <a:t>QATestLab gives an independent quality check before the Next App reaches users. Test cases are written while Exante builds v1, so testing can start as soon as v1 arrives on 08 Oct.</a:t>
            </a:r>
          </a:p>
        </p:txBody>
      </p:sp>
      <p:sp>
        <p:nvSpPr>
          <p:cNvPr name="Freeform 54" id="54"/>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5" id="55"/>
          <p:cNvGrpSpPr/>
          <p:nvPr/>
        </p:nvGrpSpPr>
        <p:grpSpPr>
          <a:xfrm rot="0">
            <a:off x="511111" y="662559"/>
            <a:ext cx="115062" cy="732282"/>
            <a:chOff x="0" y="0"/>
            <a:chExt cx="153416" cy="976376"/>
          </a:xfrm>
        </p:grpSpPr>
        <p:sp>
          <p:nvSpPr>
            <p:cNvPr name="Freeform 56" id="5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57" id="5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Android App: Google Play Security Update</a:t>
              </a:r>
            </a:p>
          </p:txBody>
        </p:sp>
      </p:grpSp>
      <p:sp>
        <p:nvSpPr>
          <p:cNvPr name="TextBox 9" id="9"/>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CURRENT APP  |  SECURITY COMPLIANCE  |  NOT THE NEXT APP</a:t>
            </a:r>
          </a:p>
        </p:txBody>
      </p:sp>
      <p:sp>
        <p:nvSpPr>
          <p:cNvPr name="TextBox 10" id="10"/>
          <p:cNvSpPr txBox="true"/>
          <p:nvPr/>
        </p:nvSpPr>
        <p:spPr>
          <a:xfrm rot="0">
            <a:off x="630936" y="2002155"/>
            <a:ext cx="17026128" cy="832485"/>
          </a:xfrm>
          <a:prstGeom prst="rect">
            <a:avLst/>
          </a:prstGeom>
        </p:spPr>
        <p:txBody>
          <a:bodyPr anchor="t" rtlCol="false" tIns="0" lIns="0" bIns="0" rIns="0">
            <a:spAutoFit/>
          </a:bodyPr>
          <a:lstStyle/>
          <a:p>
            <a:pPr algn="l">
              <a:lnSpc>
                <a:spcPts val="2040"/>
              </a:lnSpc>
            </a:pPr>
            <a:r>
              <a:rPr lang="en-US" sz="1700">
                <a:solidFill>
                  <a:srgbClr val="1B1B3A"/>
                </a:solidFill>
                <a:latin typeface="Exo 2"/>
                <a:ea typeface="Exo 2"/>
                <a:cs typeface="Exo 2"/>
                <a:sym typeface="Exo 2"/>
              </a:rPr>
              <a:t>Google required a security API update, republished by 01 Nov 2026, to keep the current app on Google Play. We ran two internal test rounds and found no major bugs.</a:t>
            </a:r>
          </a:p>
        </p:txBody>
      </p:sp>
      <p:grpSp>
        <p:nvGrpSpPr>
          <p:cNvPr name="Group 11" id="11"/>
          <p:cNvGrpSpPr/>
          <p:nvPr/>
        </p:nvGrpSpPr>
        <p:grpSpPr>
          <a:xfrm rot="0">
            <a:off x="626173" y="3012758"/>
            <a:ext cx="5130165" cy="5587365"/>
            <a:chOff x="0" y="0"/>
            <a:chExt cx="6840220" cy="7449820"/>
          </a:xfrm>
        </p:grpSpPr>
        <p:sp>
          <p:nvSpPr>
            <p:cNvPr name="Freeform 12" id="12"/>
            <p:cNvSpPr/>
            <p:nvPr/>
          </p:nvSpPr>
          <p:spPr>
            <a:xfrm flipH="false" flipV="false" rot="0">
              <a:off x="0" y="0"/>
              <a:ext cx="6840220" cy="7449820"/>
            </a:xfrm>
            <a:custGeom>
              <a:avLst/>
              <a:gdLst/>
              <a:ahLst/>
              <a:cxnLst/>
              <a:rect r="r" b="b" t="t" l="l"/>
              <a:pathLst>
                <a:path h="7449820" w="6840220">
                  <a:moveTo>
                    <a:pt x="0" y="0"/>
                  </a:moveTo>
                  <a:lnTo>
                    <a:pt x="6840220" y="0"/>
                  </a:lnTo>
                  <a:lnTo>
                    <a:pt x="6840220" y="7449820"/>
                  </a:lnTo>
                  <a:lnTo>
                    <a:pt x="0" y="7449820"/>
                  </a:lnTo>
                  <a:close/>
                </a:path>
              </a:pathLst>
            </a:custGeom>
            <a:solidFill>
              <a:srgbClr val="F7F8FC"/>
            </a:solidFill>
            <a:ln w="9525" cap="sq">
              <a:solidFill>
                <a:srgbClr val="E4E7F2"/>
              </a:solidFill>
              <a:prstDash val="solid"/>
              <a:miter/>
            </a:ln>
          </p:spPr>
        </p:sp>
      </p:grpSp>
      <p:sp>
        <p:nvSpPr>
          <p:cNvPr name="TextBox 13" id="13"/>
          <p:cNvSpPr txBox="true"/>
          <p:nvPr/>
        </p:nvSpPr>
        <p:spPr>
          <a:xfrm rot="0">
            <a:off x="905256" y="3236595"/>
            <a:ext cx="4572000" cy="1106805"/>
          </a:xfrm>
          <a:prstGeom prst="rect">
            <a:avLst/>
          </a:prstGeom>
        </p:spPr>
        <p:txBody>
          <a:bodyPr anchor="t" rtlCol="false" tIns="0" lIns="0" bIns="0" rIns="0">
            <a:spAutoFit/>
          </a:bodyPr>
          <a:lstStyle/>
          <a:p>
            <a:pPr algn="l">
              <a:lnSpc>
                <a:spcPts val="7200"/>
              </a:lnSpc>
            </a:pPr>
            <a:r>
              <a:rPr lang="en-US" sz="6000" b="true">
                <a:solidFill>
                  <a:srgbClr val="1E9E6B"/>
                </a:solidFill>
                <a:latin typeface="Exo 2 Bold"/>
                <a:ea typeface="Exo 2 Bold"/>
                <a:cs typeface="Exo 2 Bold"/>
                <a:sym typeface="Exo 2 Bold"/>
              </a:rPr>
              <a:t>99.4%</a:t>
            </a:r>
          </a:p>
        </p:txBody>
      </p:sp>
      <p:sp>
        <p:nvSpPr>
          <p:cNvPr name="TextBox 14" id="14"/>
          <p:cNvSpPr txBox="true"/>
          <p:nvPr/>
        </p:nvSpPr>
        <p:spPr>
          <a:xfrm rot="0">
            <a:off x="905256" y="4379595"/>
            <a:ext cx="4572000" cy="375285"/>
          </a:xfrm>
          <a:prstGeom prst="rect">
            <a:avLst/>
          </a:prstGeom>
        </p:spPr>
        <p:txBody>
          <a:bodyPr anchor="t" rtlCol="false" tIns="0" lIns="0" bIns="0" rIns="0">
            <a:spAutoFit/>
          </a:bodyPr>
          <a:lstStyle/>
          <a:p>
            <a:pPr algn="l">
              <a:lnSpc>
                <a:spcPts val="1919"/>
              </a:lnSpc>
            </a:pPr>
            <a:r>
              <a:rPr lang="en-US" sz="1599">
                <a:solidFill>
                  <a:srgbClr val="5A6A85"/>
                </a:solidFill>
                <a:latin typeface="Exo 2"/>
                <a:ea typeface="Exo 2"/>
                <a:cs typeface="Exo 2"/>
                <a:sym typeface="Exo 2"/>
              </a:rPr>
              <a:t>pass rate (158 of 159 executed)</a:t>
            </a:r>
          </a:p>
        </p:txBody>
      </p:sp>
      <p:grpSp>
        <p:nvGrpSpPr>
          <p:cNvPr name="Group 15" id="15"/>
          <p:cNvGrpSpPr/>
          <p:nvPr/>
        </p:nvGrpSpPr>
        <p:grpSpPr>
          <a:xfrm rot="0">
            <a:off x="905256" y="5029200"/>
            <a:ext cx="3969096" cy="457200"/>
            <a:chOff x="0" y="0"/>
            <a:chExt cx="5292128" cy="609600"/>
          </a:xfrm>
        </p:grpSpPr>
        <p:sp>
          <p:nvSpPr>
            <p:cNvPr name="Freeform 16" id="16"/>
            <p:cNvSpPr/>
            <p:nvPr/>
          </p:nvSpPr>
          <p:spPr>
            <a:xfrm flipH="false" flipV="false" rot="0">
              <a:off x="0" y="0"/>
              <a:ext cx="5292090" cy="609600"/>
            </a:xfrm>
            <a:custGeom>
              <a:avLst/>
              <a:gdLst/>
              <a:ahLst/>
              <a:cxnLst/>
              <a:rect r="r" b="b" t="t" l="l"/>
              <a:pathLst>
                <a:path h="609600" w="5292090">
                  <a:moveTo>
                    <a:pt x="0" y="0"/>
                  </a:moveTo>
                  <a:lnTo>
                    <a:pt x="5292090" y="0"/>
                  </a:lnTo>
                  <a:lnTo>
                    <a:pt x="5292090" y="609600"/>
                  </a:lnTo>
                  <a:lnTo>
                    <a:pt x="0" y="609600"/>
                  </a:lnTo>
                  <a:close/>
                </a:path>
              </a:pathLst>
            </a:custGeom>
            <a:solidFill>
              <a:srgbClr val="1E9E6B"/>
            </a:solidFill>
          </p:spPr>
        </p:sp>
      </p:grpSp>
      <p:grpSp>
        <p:nvGrpSpPr>
          <p:cNvPr name="Group 17" id="17"/>
          <p:cNvGrpSpPr/>
          <p:nvPr/>
        </p:nvGrpSpPr>
        <p:grpSpPr>
          <a:xfrm rot="0">
            <a:off x="4874352" y="5029200"/>
            <a:ext cx="477298" cy="457200"/>
            <a:chOff x="0" y="0"/>
            <a:chExt cx="636397" cy="609600"/>
          </a:xfrm>
        </p:grpSpPr>
        <p:sp>
          <p:nvSpPr>
            <p:cNvPr name="Freeform 18" id="18"/>
            <p:cNvSpPr/>
            <p:nvPr/>
          </p:nvSpPr>
          <p:spPr>
            <a:xfrm flipH="false" flipV="false" rot="0">
              <a:off x="0" y="0"/>
              <a:ext cx="636397" cy="609600"/>
            </a:xfrm>
            <a:custGeom>
              <a:avLst/>
              <a:gdLst/>
              <a:ahLst/>
              <a:cxnLst/>
              <a:rect r="r" b="b" t="t" l="l"/>
              <a:pathLst>
                <a:path h="609600" w="636397">
                  <a:moveTo>
                    <a:pt x="0" y="0"/>
                  </a:moveTo>
                  <a:lnTo>
                    <a:pt x="636397" y="0"/>
                  </a:lnTo>
                  <a:lnTo>
                    <a:pt x="636397" y="609600"/>
                  </a:lnTo>
                  <a:lnTo>
                    <a:pt x="0" y="609600"/>
                  </a:lnTo>
                  <a:close/>
                </a:path>
              </a:pathLst>
            </a:custGeom>
            <a:solidFill>
              <a:srgbClr val="D98C1F"/>
            </a:solidFill>
          </p:spPr>
        </p:sp>
      </p:grpSp>
      <p:grpSp>
        <p:nvGrpSpPr>
          <p:cNvPr name="Group 19" id="19"/>
          <p:cNvGrpSpPr/>
          <p:nvPr/>
        </p:nvGrpSpPr>
        <p:grpSpPr>
          <a:xfrm rot="0">
            <a:off x="5351650" y="5029200"/>
            <a:ext cx="100479" cy="457200"/>
            <a:chOff x="0" y="0"/>
            <a:chExt cx="133972" cy="609600"/>
          </a:xfrm>
        </p:grpSpPr>
        <p:sp>
          <p:nvSpPr>
            <p:cNvPr name="Freeform 20" id="20"/>
            <p:cNvSpPr/>
            <p:nvPr/>
          </p:nvSpPr>
          <p:spPr>
            <a:xfrm flipH="false" flipV="false" rot="0">
              <a:off x="0" y="0"/>
              <a:ext cx="133985" cy="609600"/>
            </a:xfrm>
            <a:custGeom>
              <a:avLst/>
              <a:gdLst/>
              <a:ahLst/>
              <a:cxnLst/>
              <a:rect r="r" b="b" t="t" l="l"/>
              <a:pathLst>
                <a:path h="609600" w="133985">
                  <a:moveTo>
                    <a:pt x="0" y="0"/>
                  </a:moveTo>
                  <a:lnTo>
                    <a:pt x="133985" y="0"/>
                  </a:lnTo>
                  <a:lnTo>
                    <a:pt x="133985" y="609600"/>
                  </a:lnTo>
                  <a:lnTo>
                    <a:pt x="0" y="609600"/>
                  </a:lnTo>
                  <a:close/>
                </a:path>
              </a:pathLst>
            </a:custGeom>
            <a:solidFill>
              <a:srgbClr val="8A93A8"/>
            </a:solidFill>
          </p:spPr>
        </p:sp>
      </p:grpSp>
      <p:grpSp>
        <p:nvGrpSpPr>
          <p:cNvPr name="Group 21" id="21"/>
          <p:cNvGrpSpPr/>
          <p:nvPr/>
        </p:nvGrpSpPr>
        <p:grpSpPr>
          <a:xfrm rot="0">
            <a:off x="5452139" y="5029200"/>
            <a:ext cx="36576" cy="457200"/>
            <a:chOff x="0" y="0"/>
            <a:chExt cx="48768" cy="609600"/>
          </a:xfrm>
        </p:grpSpPr>
        <p:sp>
          <p:nvSpPr>
            <p:cNvPr name="Freeform 22" id="22"/>
            <p:cNvSpPr/>
            <p:nvPr/>
          </p:nvSpPr>
          <p:spPr>
            <a:xfrm flipH="false" flipV="false" rot="0">
              <a:off x="0" y="0"/>
              <a:ext cx="48768" cy="609600"/>
            </a:xfrm>
            <a:custGeom>
              <a:avLst/>
              <a:gdLst/>
              <a:ahLst/>
              <a:cxnLst/>
              <a:rect r="r" b="b" t="t" l="l"/>
              <a:pathLst>
                <a:path h="609600" w="48768">
                  <a:moveTo>
                    <a:pt x="0" y="0"/>
                  </a:moveTo>
                  <a:lnTo>
                    <a:pt x="48768" y="0"/>
                  </a:lnTo>
                  <a:lnTo>
                    <a:pt x="48768" y="609600"/>
                  </a:lnTo>
                  <a:lnTo>
                    <a:pt x="0" y="609600"/>
                  </a:lnTo>
                  <a:close/>
                </a:path>
              </a:pathLst>
            </a:custGeom>
            <a:solidFill>
              <a:srgbClr val="C0392B"/>
            </a:solidFill>
          </p:spPr>
        </p:sp>
      </p:grpSp>
      <p:grpSp>
        <p:nvGrpSpPr>
          <p:cNvPr name="Group 23" id="23"/>
          <p:cNvGrpSpPr/>
          <p:nvPr/>
        </p:nvGrpSpPr>
        <p:grpSpPr>
          <a:xfrm rot="0">
            <a:off x="905256" y="5833872"/>
            <a:ext cx="201168" cy="201168"/>
            <a:chOff x="0" y="0"/>
            <a:chExt cx="268224" cy="268224"/>
          </a:xfrm>
        </p:grpSpPr>
        <p:sp>
          <p:nvSpPr>
            <p:cNvPr name="Freeform 24" id="24"/>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1E9E6B"/>
            </a:solidFill>
          </p:spPr>
        </p:sp>
      </p:grpSp>
      <p:sp>
        <p:nvSpPr>
          <p:cNvPr name="TextBox 25" id="25"/>
          <p:cNvSpPr txBox="true"/>
          <p:nvPr/>
        </p:nvSpPr>
        <p:spPr>
          <a:xfrm rot="0">
            <a:off x="1225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Passed 158</a:t>
            </a:r>
          </a:p>
        </p:txBody>
      </p:sp>
      <p:grpSp>
        <p:nvGrpSpPr>
          <p:cNvPr name="Group 26" id="26"/>
          <p:cNvGrpSpPr/>
          <p:nvPr/>
        </p:nvGrpSpPr>
        <p:grpSpPr>
          <a:xfrm rot="0">
            <a:off x="3191256" y="5833872"/>
            <a:ext cx="201168" cy="201168"/>
            <a:chOff x="0" y="0"/>
            <a:chExt cx="268224" cy="268224"/>
          </a:xfrm>
        </p:grpSpPr>
        <p:sp>
          <p:nvSpPr>
            <p:cNvPr name="Freeform 27" id="27"/>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D98C1F"/>
            </a:solidFill>
          </p:spPr>
        </p:sp>
      </p:grpSp>
      <p:sp>
        <p:nvSpPr>
          <p:cNvPr name="TextBox 28" id="28"/>
          <p:cNvSpPr txBox="true"/>
          <p:nvPr/>
        </p:nvSpPr>
        <p:spPr>
          <a:xfrm rot="0">
            <a:off x="3511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Skipped 19</a:t>
            </a:r>
          </a:p>
        </p:txBody>
      </p:sp>
      <p:grpSp>
        <p:nvGrpSpPr>
          <p:cNvPr name="Group 29" id="29"/>
          <p:cNvGrpSpPr/>
          <p:nvPr/>
        </p:nvGrpSpPr>
        <p:grpSpPr>
          <a:xfrm rot="0">
            <a:off x="905256" y="6336792"/>
            <a:ext cx="201168" cy="201168"/>
            <a:chOff x="0" y="0"/>
            <a:chExt cx="268224" cy="268224"/>
          </a:xfrm>
        </p:grpSpPr>
        <p:sp>
          <p:nvSpPr>
            <p:cNvPr name="Freeform 30" id="30"/>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8A93A8"/>
            </a:solidFill>
          </p:spPr>
        </p:sp>
      </p:grpSp>
      <p:sp>
        <p:nvSpPr>
          <p:cNvPr name="TextBox 31" id="31"/>
          <p:cNvSpPr txBox="true"/>
          <p:nvPr/>
        </p:nvSpPr>
        <p:spPr>
          <a:xfrm rot="0">
            <a:off x="1225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N/A 4</a:t>
            </a:r>
          </a:p>
        </p:txBody>
      </p:sp>
      <p:grpSp>
        <p:nvGrpSpPr>
          <p:cNvPr name="Group 32" id="32"/>
          <p:cNvGrpSpPr/>
          <p:nvPr/>
        </p:nvGrpSpPr>
        <p:grpSpPr>
          <a:xfrm rot="0">
            <a:off x="3191256" y="6336792"/>
            <a:ext cx="201168" cy="201168"/>
            <a:chOff x="0" y="0"/>
            <a:chExt cx="268224" cy="268224"/>
          </a:xfrm>
        </p:grpSpPr>
        <p:sp>
          <p:nvSpPr>
            <p:cNvPr name="Freeform 33" id="33"/>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C0392B"/>
            </a:solidFill>
          </p:spPr>
        </p:sp>
      </p:grpSp>
      <p:sp>
        <p:nvSpPr>
          <p:cNvPr name="TextBox 34" id="34"/>
          <p:cNvSpPr txBox="true"/>
          <p:nvPr/>
        </p:nvSpPr>
        <p:spPr>
          <a:xfrm rot="0">
            <a:off x="3511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Failed 1</a:t>
            </a:r>
          </a:p>
        </p:txBody>
      </p:sp>
      <p:sp>
        <p:nvSpPr>
          <p:cNvPr name="TextBox 35" id="35"/>
          <p:cNvSpPr txBox="true"/>
          <p:nvPr/>
        </p:nvSpPr>
        <p:spPr>
          <a:xfrm rot="0">
            <a:off x="905256" y="6894195"/>
            <a:ext cx="4572000" cy="37528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182 cases  |  159 executed  |  158 passed</a:t>
            </a:r>
          </a:p>
        </p:txBody>
      </p:sp>
      <p:grpSp>
        <p:nvGrpSpPr>
          <p:cNvPr name="Group 36" id="36"/>
          <p:cNvGrpSpPr/>
          <p:nvPr/>
        </p:nvGrpSpPr>
        <p:grpSpPr>
          <a:xfrm rot="0">
            <a:off x="905256" y="7498080"/>
            <a:ext cx="4572000" cy="868680"/>
            <a:chOff x="0" y="0"/>
            <a:chExt cx="6096000" cy="1158240"/>
          </a:xfrm>
        </p:grpSpPr>
        <p:sp>
          <p:nvSpPr>
            <p:cNvPr name="Freeform 37" id="37"/>
            <p:cNvSpPr/>
            <p:nvPr/>
          </p:nvSpPr>
          <p:spPr>
            <a:xfrm flipH="false" flipV="false" rot="0">
              <a:off x="0" y="0"/>
              <a:ext cx="6096000" cy="1158240"/>
            </a:xfrm>
            <a:custGeom>
              <a:avLst/>
              <a:gdLst/>
              <a:ahLst/>
              <a:cxnLst/>
              <a:rect r="r" b="b" t="t" l="l"/>
              <a:pathLst>
                <a:path h="1158240" w="6096000">
                  <a:moveTo>
                    <a:pt x="0" y="0"/>
                  </a:moveTo>
                  <a:lnTo>
                    <a:pt x="6096000" y="0"/>
                  </a:lnTo>
                  <a:lnTo>
                    <a:pt x="6096000" y="1158240"/>
                  </a:lnTo>
                  <a:lnTo>
                    <a:pt x="0" y="1158240"/>
                  </a:lnTo>
                  <a:close/>
                </a:path>
              </a:pathLst>
            </a:custGeom>
            <a:solidFill>
              <a:srgbClr val="E6F5EE"/>
            </a:solidFill>
          </p:spPr>
        </p:sp>
      </p:grpSp>
      <p:grpSp>
        <p:nvGrpSpPr>
          <p:cNvPr name="Group 38" id="38"/>
          <p:cNvGrpSpPr/>
          <p:nvPr/>
        </p:nvGrpSpPr>
        <p:grpSpPr>
          <a:xfrm rot="0">
            <a:off x="1088136" y="7543800"/>
            <a:ext cx="4297680" cy="777240"/>
            <a:chOff x="0" y="0"/>
            <a:chExt cx="5730240" cy="1036320"/>
          </a:xfrm>
        </p:grpSpPr>
        <p:sp>
          <p:nvSpPr>
            <p:cNvPr name="Freeform 39" id="39"/>
            <p:cNvSpPr/>
            <p:nvPr/>
          </p:nvSpPr>
          <p:spPr>
            <a:xfrm flipH="false" flipV="false" rot="0">
              <a:off x="0" y="0"/>
              <a:ext cx="5730240" cy="1036320"/>
            </a:xfrm>
            <a:custGeom>
              <a:avLst/>
              <a:gdLst/>
              <a:ahLst/>
              <a:cxnLst/>
              <a:rect r="r" b="b" t="t" l="l"/>
              <a:pathLst>
                <a:path h="1036320" w="5730240">
                  <a:moveTo>
                    <a:pt x="0" y="0"/>
                  </a:moveTo>
                  <a:lnTo>
                    <a:pt x="5730240" y="0"/>
                  </a:lnTo>
                  <a:lnTo>
                    <a:pt x="5730240" y="1036320"/>
                  </a:lnTo>
                  <a:lnTo>
                    <a:pt x="0" y="1036320"/>
                  </a:lnTo>
                  <a:close/>
                </a:path>
              </a:pathLst>
            </a:custGeom>
            <a:blipFill>
              <a:blip r:embed="rId5">
                <a:alphaModFix amt="0"/>
              </a:blip>
              <a:stretch>
                <a:fillRect l="0" t="-57740" r="0" b="-57740"/>
              </a:stretch>
            </a:blipFill>
          </p:spPr>
        </p:sp>
        <p:sp>
          <p:nvSpPr>
            <p:cNvPr name="TextBox 40" id="40"/>
            <p:cNvSpPr txBox="true"/>
            <p:nvPr/>
          </p:nvSpPr>
          <p:spPr>
            <a:xfrm>
              <a:off x="0" y="-9525"/>
              <a:ext cx="5730240" cy="1045845"/>
            </a:xfrm>
            <a:prstGeom prst="rect">
              <a:avLst/>
            </a:prstGeom>
          </p:spPr>
          <p:txBody>
            <a:bodyPr anchor="ctr" rtlCol="false" tIns="0" lIns="0" bIns="0" rIns="0"/>
            <a:lstStyle/>
            <a:p>
              <a:pPr algn="l">
                <a:lnSpc>
                  <a:spcPts val="1800"/>
                </a:lnSpc>
              </a:pPr>
              <a:r>
                <a:rPr lang="en-US" sz="1500" b="true">
                  <a:solidFill>
                    <a:srgbClr val="1E9E6B"/>
                  </a:solidFill>
                  <a:latin typeface="Exo 2 Bold"/>
                  <a:ea typeface="Exo 2 Bold"/>
                  <a:cs typeface="Exo 2 Bold"/>
                  <a:sym typeface="Exo 2 Bold"/>
                </a:rPr>
                <a:t>Live on Google Play: 29 Sep 2026</a:t>
              </a:r>
            </a:p>
            <a:p>
              <a:pPr algn="l">
                <a:lnSpc>
                  <a:spcPts val="1559"/>
                </a:lnSpc>
              </a:pPr>
              <a:r>
                <a:rPr lang="en-US" sz="1299">
                  <a:solidFill>
                    <a:srgbClr val="5A6A85"/>
                  </a:solidFill>
                  <a:latin typeface="Exo 2"/>
                  <a:ea typeface="Exo 2"/>
                  <a:cs typeface="Exo 2"/>
                  <a:sym typeface="Exo 2"/>
                </a:rPr>
                <a:t>More than a month before the deadline.</a:t>
              </a:r>
            </a:p>
          </p:txBody>
        </p:sp>
      </p:grpSp>
      <p:graphicFrame>
        <p:nvGraphicFramePr>
          <p:cNvPr name="Table 41" id="41"/>
          <p:cNvGraphicFramePr>
            <a:graphicFrameLocks noGrp="true"/>
          </p:cNvGraphicFramePr>
          <p:nvPr/>
        </p:nvGraphicFramePr>
        <p:xfrm>
          <a:off x="6035040" y="3017520"/>
          <a:ext cx="6832600" cy="4978400"/>
        </p:xfrm>
        <a:graphic>
          <a:graphicData uri="http://schemas.openxmlformats.org/drawingml/2006/table">
            <a:tbl>
              <a:tblPr/>
              <a:tblGrid>
                <a:gridCol w="2810769"/>
                <a:gridCol w="1050591"/>
                <a:gridCol w="1005458"/>
                <a:gridCol w="1095723"/>
                <a:gridCol w="870060"/>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Module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Passed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Failed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Skipped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N/A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Base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C0392B"/>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AI Chatbot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T&amp;C + SCC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Other Q1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KYC onboarding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25</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Total</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158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19</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4</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bl>
          </a:graphicData>
        </a:graphic>
      </p:graphicFrame>
      <p:sp>
        <p:nvSpPr>
          <p:cNvPr name="TextBox 42" id="42"/>
          <p:cNvSpPr txBox="true"/>
          <p:nvPr/>
        </p:nvSpPr>
        <p:spPr>
          <a:xfrm rot="0">
            <a:off x="6035040" y="8174355"/>
            <a:ext cx="6858000" cy="375285"/>
          </a:xfrm>
          <a:prstGeom prst="rect">
            <a:avLst/>
          </a:prstGeom>
        </p:spPr>
        <p:txBody>
          <a:bodyPr anchor="t" rtlCol="false" tIns="0" lIns="0" bIns="0" rIns="0">
            <a:spAutoFit/>
          </a:bodyPr>
          <a:lstStyle/>
          <a:p>
            <a:pPr algn="l">
              <a:lnSpc>
                <a:spcPts val="1559"/>
              </a:lnSpc>
            </a:pPr>
            <a:r>
              <a:rPr lang="en-US" sz="1299">
                <a:solidFill>
                  <a:srgbClr val="8A93A8"/>
                </a:solidFill>
                <a:latin typeface="Exo 2"/>
                <a:ea typeface="Exo 2"/>
                <a:cs typeface="Exo 2"/>
                <a:sym typeface="Exo 2"/>
              </a:rPr>
              <a:t>Round 1 and Round 2 combined.</a:t>
            </a:r>
          </a:p>
        </p:txBody>
      </p:sp>
      <p:grpSp>
        <p:nvGrpSpPr>
          <p:cNvPr name="Group 43" id="43"/>
          <p:cNvGrpSpPr/>
          <p:nvPr/>
        </p:nvGrpSpPr>
        <p:grpSpPr>
          <a:xfrm rot="0">
            <a:off x="13162598" y="3012758"/>
            <a:ext cx="4499229" cy="5587365"/>
            <a:chOff x="0" y="0"/>
            <a:chExt cx="5998972" cy="7449820"/>
          </a:xfrm>
        </p:grpSpPr>
        <p:sp>
          <p:nvSpPr>
            <p:cNvPr name="Freeform 44" id="44"/>
            <p:cNvSpPr/>
            <p:nvPr/>
          </p:nvSpPr>
          <p:spPr>
            <a:xfrm flipH="false" flipV="false" rot="0">
              <a:off x="0" y="0"/>
              <a:ext cx="5998972" cy="7449820"/>
            </a:xfrm>
            <a:custGeom>
              <a:avLst/>
              <a:gdLst/>
              <a:ahLst/>
              <a:cxnLst/>
              <a:rect r="r" b="b" t="t" l="l"/>
              <a:pathLst>
                <a:path h="7449820" w="5998972">
                  <a:moveTo>
                    <a:pt x="0" y="0"/>
                  </a:moveTo>
                  <a:lnTo>
                    <a:pt x="5998972" y="0"/>
                  </a:lnTo>
                  <a:lnTo>
                    <a:pt x="5998972" y="7449820"/>
                  </a:lnTo>
                  <a:lnTo>
                    <a:pt x="0" y="7449820"/>
                  </a:lnTo>
                  <a:close/>
                </a:path>
              </a:pathLst>
            </a:custGeom>
            <a:solidFill>
              <a:srgbClr val="F7F8FC"/>
            </a:solidFill>
            <a:ln w="9525" cap="sq">
              <a:solidFill>
                <a:srgbClr val="E4E7F2"/>
              </a:solidFill>
              <a:prstDash val="solid"/>
              <a:miter/>
            </a:ln>
          </p:spPr>
        </p:sp>
      </p:grpSp>
      <p:sp>
        <p:nvSpPr>
          <p:cNvPr name="TextBox 45" id="45"/>
          <p:cNvSpPr txBox="true"/>
          <p:nvPr/>
        </p:nvSpPr>
        <p:spPr>
          <a:xfrm rot="0">
            <a:off x="13395960" y="3236595"/>
            <a:ext cx="4114800" cy="375285"/>
          </a:xfrm>
          <a:prstGeom prst="rect">
            <a:avLst/>
          </a:prstGeom>
        </p:spPr>
        <p:txBody>
          <a:bodyPr anchor="t" rtlCol="false" tIns="0" lIns="0" bIns="0" rIns="0">
            <a:spAutoFit/>
          </a:bodyPr>
          <a:lstStyle/>
          <a:p>
            <a:pPr algn="l">
              <a:lnSpc>
                <a:spcPts val="1680"/>
              </a:lnSpc>
            </a:pPr>
            <a:r>
              <a:rPr lang="en-US" sz="1400" b="true">
                <a:solidFill>
                  <a:srgbClr val="3C61B6"/>
                </a:solidFill>
                <a:latin typeface="Exo 2 Bold"/>
                <a:ea typeface="Exo 2 Bold"/>
                <a:cs typeface="Exo 2 Bold"/>
                <a:sym typeface="Exo 2 Bold"/>
              </a:rPr>
              <a:t>MINOR ISSUES, NEXT RELEASE</a:t>
            </a:r>
          </a:p>
        </p:txBody>
      </p:sp>
      <p:sp>
        <p:nvSpPr>
          <p:cNvPr name="TextBox 46" id="46"/>
          <p:cNvSpPr txBox="true"/>
          <p:nvPr/>
        </p:nvSpPr>
        <p:spPr>
          <a:xfrm rot="0">
            <a:off x="13395960" y="3739515"/>
            <a:ext cx="4069080" cy="4124325"/>
          </a:xfrm>
          <a:prstGeom prst="rect">
            <a:avLst/>
          </a:prstGeom>
        </p:spPr>
        <p:txBody>
          <a:bodyPr anchor="t" rtlCol="false" tIns="0" lIns="0" bIns="0" rIns="0">
            <a:spAutoFit/>
          </a:bodyPr>
          <a:lstStyle/>
          <a:p>
            <a:pPr algn="l">
              <a:lnSpc>
                <a:spcPts val="1800"/>
              </a:lnSpc>
            </a:pPr>
            <a:r>
              <a:rPr lang="en-US" sz="1500" b="true">
                <a:solidFill>
                  <a:srgbClr val="121C36"/>
                </a:solidFill>
                <a:latin typeface="Exo 2 Bold"/>
                <a:ea typeface="Exo 2 Bold"/>
                <a:cs typeface="Exo 2 Bold"/>
                <a:sym typeface="Exo 2 Bold"/>
              </a:rPr>
              <a:t>1.  </a:t>
            </a:r>
            <a:r>
              <a:rPr lang="en-US" sz="1500">
                <a:solidFill>
                  <a:srgbClr val="5A6A85"/>
                </a:solidFill>
                <a:latin typeface="Exo 2"/>
                <a:ea typeface="Exo 2"/>
                <a:cs typeface="Exo 2"/>
                <a:sym typeface="Exo 2"/>
              </a:rPr>
              <a:t>Watchlist items disappear when the Shariah filter is on</a:t>
            </a:r>
          </a:p>
          <a:p>
            <a:pPr algn="l">
              <a:lnSpc>
                <a:spcPts val="1800"/>
              </a:lnSpc>
            </a:pPr>
            <a:r>
              <a:rPr lang="en-US" sz="1500" b="true">
                <a:solidFill>
                  <a:srgbClr val="121C36"/>
                </a:solidFill>
                <a:latin typeface="Exo 2 Bold"/>
                <a:ea typeface="Exo 2 Bold"/>
                <a:cs typeface="Exo 2 Bold"/>
                <a:sym typeface="Exo 2 Bold"/>
              </a:rPr>
              <a:t>2.  </a:t>
            </a:r>
            <a:r>
              <a:rPr lang="en-US" sz="1500">
                <a:solidFill>
                  <a:srgbClr val="5A6A85"/>
                </a:solidFill>
                <a:latin typeface="Exo 2"/>
                <a:ea typeface="Exo 2"/>
                <a:cs typeface="Exo 2"/>
                <a:sym typeface="Exo 2"/>
              </a:rPr>
              <a:t>Instrument tree keeps loading on first open of the trade screen</a:t>
            </a:r>
          </a:p>
          <a:p>
            <a:pPr algn="l">
              <a:lnSpc>
                <a:spcPts val="1800"/>
              </a:lnSpc>
            </a:pPr>
            <a:r>
              <a:rPr lang="en-US" sz="1500" b="true">
                <a:solidFill>
                  <a:srgbClr val="121C36"/>
                </a:solidFill>
                <a:latin typeface="Exo 2 Bold"/>
                <a:ea typeface="Exo 2 Bold"/>
                <a:cs typeface="Exo 2 Bold"/>
                <a:sym typeface="Exo 2 Bold"/>
              </a:rPr>
              <a:t>3.  </a:t>
            </a:r>
            <a:r>
              <a:rPr lang="en-US" sz="1500">
                <a:solidFill>
                  <a:srgbClr val="5A6A85"/>
                </a:solidFill>
                <a:latin typeface="Exo 2"/>
                <a:ea typeface="Exo 2"/>
                <a:cs typeface="Exo 2"/>
                <a:sym typeface="Exo 2"/>
              </a:rPr>
              <a:t>Withdrawal: beneficiary shows last name only</a:t>
            </a:r>
          </a:p>
          <a:p>
            <a:pPr algn="l">
              <a:lnSpc>
                <a:spcPts val="1800"/>
              </a:lnSpc>
            </a:pPr>
            <a:r>
              <a:rPr lang="en-US" sz="1500" b="true">
                <a:solidFill>
                  <a:srgbClr val="121C36"/>
                </a:solidFill>
                <a:latin typeface="Exo 2 Bold"/>
                <a:ea typeface="Exo 2 Bold"/>
                <a:cs typeface="Exo 2 Bold"/>
                <a:sym typeface="Exo 2 Bold"/>
              </a:rPr>
              <a:t>4.  </a:t>
            </a:r>
            <a:r>
              <a:rPr lang="en-US" sz="1500">
                <a:solidFill>
                  <a:srgbClr val="5A6A85"/>
                </a:solidFill>
                <a:latin typeface="Exo 2"/>
                <a:ea typeface="Exo 2"/>
                <a:cs typeface="Exo 2"/>
                <a:sym typeface="Exo 2"/>
              </a:rPr>
              <a:t>Change display mode has no effect</a:t>
            </a:r>
          </a:p>
          <a:p>
            <a:pPr algn="l">
              <a:lnSpc>
                <a:spcPts val="1800"/>
              </a:lnSpc>
            </a:pPr>
            <a:r>
              <a:rPr lang="en-US" sz="1500" b="true">
                <a:solidFill>
                  <a:srgbClr val="121C36"/>
                </a:solidFill>
                <a:latin typeface="Exo 2 Bold"/>
                <a:ea typeface="Exo 2 Bold"/>
                <a:cs typeface="Exo 2 Bold"/>
                <a:sym typeface="Exo 2 Bold"/>
              </a:rPr>
              <a:t>5.  </a:t>
            </a:r>
            <a:r>
              <a:rPr lang="en-US" sz="1500">
                <a:solidFill>
                  <a:srgbClr val="5A6A85"/>
                </a:solidFill>
                <a:latin typeface="Exo 2"/>
                <a:ea typeface="Exo 2"/>
                <a:cs typeface="Exo 2"/>
                <a:sym typeface="Exo 2"/>
              </a:rPr>
              <a:t>Arabic summary screen: daily P/L hard to see</a:t>
            </a:r>
          </a:p>
          <a:p>
            <a:pPr algn="l">
              <a:lnSpc>
                <a:spcPts val="1800"/>
              </a:lnSpc>
            </a:pPr>
            <a:r>
              <a:rPr lang="en-US" sz="1500" b="true">
                <a:solidFill>
                  <a:srgbClr val="121C36"/>
                </a:solidFill>
                <a:latin typeface="Exo 2 Bold"/>
                <a:ea typeface="Exo 2 Bold"/>
                <a:cs typeface="Exo 2 Bold"/>
                <a:sym typeface="Exo 2 Bold"/>
              </a:rPr>
              <a:t>6.  </a:t>
            </a:r>
            <a:r>
              <a:rPr lang="en-US" sz="1500">
                <a:solidFill>
                  <a:srgbClr val="5A6A85"/>
                </a:solidFill>
                <a:latin typeface="Exo 2"/>
                <a:ea typeface="Exo 2"/>
                <a:cs typeface="Exo 2"/>
                <a:sym typeface="Exo 2"/>
              </a:rPr>
              <a:t>Exchange section should be hidden (USD base currency only)</a:t>
            </a:r>
          </a:p>
        </p:txBody>
      </p:sp>
      <p:sp>
        <p:nvSpPr>
          <p:cNvPr name="TextBox 47" id="47"/>
          <p:cNvSpPr txBox="true"/>
          <p:nvPr/>
        </p:nvSpPr>
        <p:spPr>
          <a:xfrm rot="0">
            <a:off x="13395960" y="7991475"/>
            <a:ext cx="4069080" cy="466725"/>
          </a:xfrm>
          <a:prstGeom prst="rect">
            <a:avLst/>
          </a:prstGeom>
        </p:spPr>
        <p:txBody>
          <a:bodyPr anchor="t" rtlCol="false" tIns="0" lIns="0" bIns="0" rIns="0">
            <a:spAutoFit/>
          </a:bodyPr>
          <a:lstStyle/>
          <a:p>
            <a:pPr algn="l">
              <a:lnSpc>
                <a:spcPts val="1800"/>
              </a:lnSpc>
            </a:pPr>
            <a:r>
              <a:rPr lang="en-US" sz="1500" b="true">
                <a:solidFill>
                  <a:srgbClr val="1E9E6B"/>
                </a:solidFill>
                <a:latin typeface="Exo 2 Bold"/>
                <a:ea typeface="Exo 2 Bold"/>
                <a:cs typeface="Exo 2 Bold"/>
                <a:sym typeface="Exo 2 Bold"/>
              </a:rPr>
              <a:t>None of these block the release.</a:t>
            </a:r>
          </a:p>
        </p:txBody>
      </p:sp>
      <p:sp>
        <p:nvSpPr>
          <p:cNvPr name="Freeform 48" id="4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9" id="49"/>
          <p:cNvGrpSpPr/>
          <p:nvPr/>
        </p:nvGrpSpPr>
        <p:grpSpPr>
          <a:xfrm rot="0">
            <a:off x="511111" y="603561"/>
            <a:ext cx="115062" cy="732282"/>
            <a:chOff x="0" y="0"/>
            <a:chExt cx="153416" cy="976376"/>
          </a:xfrm>
        </p:grpSpPr>
        <p:sp>
          <p:nvSpPr>
            <p:cNvPr name="Freeform 50" id="50"/>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51" id="51"/>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sp>
        <p:nvSpPr>
          <p:cNvPr name="TextBox 4" id="4"/>
          <p:cNvSpPr txBox="true"/>
          <p:nvPr/>
        </p:nvSpPr>
        <p:spPr>
          <a:xfrm rot="0">
            <a:off x="1292489" y="3857625"/>
            <a:ext cx="15703023" cy="2571750"/>
          </a:xfrm>
          <a:prstGeom prst="rect">
            <a:avLst/>
          </a:prstGeom>
        </p:spPr>
        <p:txBody>
          <a:bodyPr anchor="t" rtlCol="false" tIns="0" lIns="0" bIns="0" rIns="0">
            <a:spAutoFit/>
          </a:bodyPr>
          <a:lstStyle/>
          <a:p>
            <a:pPr algn="ctr">
              <a:lnSpc>
                <a:spcPts val="10199"/>
              </a:lnSpc>
            </a:pPr>
            <a:r>
              <a:rPr lang="en-US" sz="8499" b="true">
                <a:solidFill>
                  <a:srgbClr val="FFFFFF"/>
                </a:solidFill>
                <a:latin typeface="Exo 2 Bold"/>
                <a:ea typeface="Exo 2 Bold"/>
                <a:cs typeface="Exo 2 Bold"/>
                <a:sym typeface="Exo 2 Bold"/>
              </a:rPr>
              <a:t>Client Experience </a:t>
            </a:r>
          </a:p>
          <a:p>
            <a:pPr algn="ctr">
              <a:lnSpc>
                <a:spcPts val="10199"/>
              </a:lnSpc>
            </a:pPr>
            <a:r>
              <a:rPr lang="en-US" b="true" sz="8499">
                <a:solidFill>
                  <a:srgbClr val="FFFFFF"/>
                </a:solidFill>
                <a:latin typeface="Exo 2 Bold"/>
                <a:ea typeface="Exo 2 Bold"/>
                <a:cs typeface="Exo 2 Bold"/>
                <a:sym typeface="Exo 2 Bold"/>
              </a:rPr>
              <a:t>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850" y="564284"/>
            <a:ext cx="13164593" cy="928831"/>
            <a:chOff x="0" y="0"/>
            <a:chExt cx="17552791" cy="1238442"/>
          </a:xfrm>
        </p:grpSpPr>
        <p:sp>
          <p:nvSpPr>
            <p:cNvPr name="Freeform 3" id="3"/>
            <p:cNvSpPr/>
            <p:nvPr/>
          </p:nvSpPr>
          <p:spPr>
            <a:xfrm flipH="false" flipV="false" rot="0">
              <a:off x="0" y="0"/>
              <a:ext cx="17552791" cy="1238442"/>
            </a:xfrm>
            <a:custGeom>
              <a:avLst/>
              <a:gdLst/>
              <a:ahLst/>
              <a:cxnLst/>
              <a:rect r="r" b="b" t="t" l="l"/>
              <a:pathLst>
                <a:path h="1238442" w="17552791">
                  <a:moveTo>
                    <a:pt x="0" y="0"/>
                  </a:moveTo>
                  <a:lnTo>
                    <a:pt x="17552791" y="0"/>
                  </a:lnTo>
                  <a:lnTo>
                    <a:pt x="17552791" y="1238442"/>
                  </a:lnTo>
                  <a:lnTo>
                    <a:pt x="0" y="1238442"/>
                  </a:lnTo>
                  <a:close/>
                </a:path>
              </a:pathLst>
            </a:custGeom>
            <a:blipFill>
              <a:blip r:embed="rId2">
                <a:alphaModFix amt="0"/>
              </a:blip>
              <a:stretch>
                <a:fillRect l="0" t="-220566" r="6230" b="-197355"/>
              </a:stretch>
            </a:blipFill>
          </p:spPr>
        </p:sp>
        <p:sp>
          <p:nvSpPr>
            <p:cNvPr name="TextBox 4" id="4"/>
            <p:cNvSpPr txBox="true"/>
            <p:nvPr/>
          </p:nvSpPr>
          <p:spPr>
            <a:xfrm>
              <a:off x="0" y="-9525"/>
              <a:ext cx="17552791" cy="1247967"/>
            </a:xfrm>
            <a:prstGeom prst="rect">
              <a:avLst/>
            </a:prstGeom>
          </p:spPr>
          <p:txBody>
            <a:bodyPr anchor="ctr" rtlCol="false" tIns="0" lIns="0" bIns="0" rIns="0"/>
            <a:lstStyle/>
            <a:p>
              <a:pPr algn="l" marL="0" indent="0" lvl="0">
                <a:lnSpc>
                  <a:spcPts val="5280"/>
                </a:lnSpc>
                <a:spcBef>
                  <a:spcPct val="0"/>
                </a:spcBef>
              </a:pPr>
              <a:r>
                <a:rPr lang="en-US" b="true" sz="44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Overview</a:t>
              </a:r>
            </a:p>
          </p:txBody>
        </p:sp>
      </p:grpSp>
      <p:grpSp>
        <p:nvGrpSpPr>
          <p:cNvPr name="Group 5" id="5"/>
          <p:cNvGrpSpPr/>
          <p:nvPr/>
        </p:nvGrpSpPr>
        <p:grpSpPr>
          <a:xfrm rot="0">
            <a:off x="470535" y="2089490"/>
            <a:ext cx="2709220" cy="1802130"/>
            <a:chOff x="0" y="0"/>
            <a:chExt cx="3612293" cy="2402840"/>
          </a:xfrm>
        </p:grpSpPr>
        <p:grpSp>
          <p:nvGrpSpPr>
            <p:cNvPr name="Group 6" id="6"/>
            <p:cNvGrpSpPr/>
            <p:nvPr/>
          </p:nvGrpSpPr>
          <p:grpSpPr>
            <a:xfrm rot="0">
              <a:off x="0" y="0"/>
              <a:ext cx="3612293" cy="2402840"/>
              <a:chOff x="0" y="0"/>
              <a:chExt cx="3612293" cy="2402840"/>
            </a:xfrm>
          </p:grpSpPr>
          <p:sp>
            <p:nvSpPr>
              <p:cNvPr name="Freeform 7" id="7"/>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8" id="8"/>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9" id="9"/>
            <p:cNvGrpSpPr/>
            <p:nvPr/>
          </p:nvGrpSpPr>
          <p:grpSpPr>
            <a:xfrm rot="0">
              <a:off x="225553" y="139111"/>
              <a:ext cx="3161187" cy="1205094"/>
              <a:chOff x="0" y="0"/>
              <a:chExt cx="3161187" cy="1205094"/>
            </a:xfrm>
          </p:grpSpPr>
          <p:sp>
            <p:nvSpPr>
              <p:cNvPr name="Freeform 10" id="10"/>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11" id="11"/>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21</a:t>
                </a:r>
              </a:p>
            </p:txBody>
          </p:sp>
        </p:grpSp>
        <p:grpSp>
          <p:nvGrpSpPr>
            <p:cNvPr name="Group 12" id="12"/>
            <p:cNvGrpSpPr/>
            <p:nvPr/>
          </p:nvGrpSpPr>
          <p:grpSpPr>
            <a:xfrm rot="0">
              <a:off x="225553" y="1340531"/>
              <a:ext cx="3161187" cy="498551"/>
              <a:chOff x="0" y="0"/>
              <a:chExt cx="3161187" cy="498551"/>
            </a:xfrm>
          </p:grpSpPr>
          <p:sp>
            <p:nvSpPr>
              <p:cNvPr name="Freeform 13" id="13"/>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14" id="14"/>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strike="noStrike" u="none">
                    <a:solidFill>
                      <a:srgbClr val="FFFFFF"/>
                    </a:solidFill>
                    <a:latin typeface="Exo 2"/>
                    <a:ea typeface="Exo 2"/>
                    <a:cs typeface="Exo 2"/>
                    <a:sym typeface="Exo 2"/>
                  </a:rPr>
                  <a:t>Clients Called</a:t>
                </a:r>
              </a:p>
            </p:txBody>
          </p:sp>
        </p:grpSp>
      </p:grpSp>
      <p:grpSp>
        <p:nvGrpSpPr>
          <p:cNvPr name="Group 15" id="15"/>
          <p:cNvGrpSpPr/>
          <p:nvPr/>
        </p:nvGrpSpPr>
        <p:grpSpPr>
          <a:xfrm rot="0">
            <a:off x="9109510" y="2089490"/>
            <a:ext cx="2709220" cy="1802130"/>
            <a:chOff x="0" y="0"/>
            <a:chExt cx="3612293" cy="2402840"/>
          </a:xfrm>
        </p:grpSpPr>
        <p:grpSp>
          <p:nvGrpSpPr>
            <p:cNvPr name="Group 16" id="16"/>
            <p:cNvGrpSpPr/>
            <p:nvPr/>
          </p:nvGrpSpPr>
          <p:grpSpPr>
            <a:xfrm rot="0">
              <a:off x="0" y="0"/>
              <a:ext cx="3612293" cy="2402840"/>
              <a:chOff x="0" y="0"/>
              <a:chExt cx="3612293" cy="2402840"/>
            </a:xfrm>
          </p:grpSpPr>
          <p:sp>
            <p:nvSpPr>
              <p:cNvPr name="Freeform 17" id="17"/>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8" id="18"/>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19" id="19"/>
            <p:cNvGrpSpPr/>
            <p:nvPr/>
          </p:nvGrpSpPr>
          <p:grpSpPr>
            <a:xfrm rot="0">
              <a:off x="225553" y="139111"/>
              <a:ext cx="3161187" cy="1205094"/>
              <a:chOff x="0" y="0"/>
              <a:chExt cx="3161187" cy="1205094"/>
            </a:xfrm>
          </p:grpSpPr>
          <p:sp>
            <p:nvSpPr>
              <p:cNvPr name="Freeform 20" id="20"/>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21" id="21"/>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6</a:t>
                </a:r>
              </a:p>
            </p:txBody>
          </p:sp>
        </p:grpSp>
        <p:grpSp>
          <p:nvGrpSpPr>
            <p:cNvPr name="Group 22" id="22"/>
            <p:cNvGrpSpPr/>
            <p:nvPr/>
          </p:nvGrpSpPr>
          <p:grpSpPr>
            <a:xfrm rot="0">
              <a:off x="225553" y="1162731"/>
              <a:ext cx="3161187" cy="854151"/>
              <a:chOff x="0" y="0"/>
              <a:chExt cx="3161187" cy="854151"/>
            </a:xfrm>
          </p:grpSpPr>
          <p:sp>
            <p:nvSpPr>
              <p:cNvPr name="Freeform 23" id="23"/>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24" id="24"/>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name="Group 25" id="25"/>
          <p:cNvGrpSpPr/>
          <p:nvPr/>
        </p:nvGrpSpPr>
        <p:grpSpPr>
          <a:xfrm rot="0">
            <a:off x="3348444" y="2089490"/>
            <a:ext cx="2709220" cy="1802130"/>
            <a:chOff x="0" y="0"/>
            <a:chExt cx="3612293" cy="2402840"/>
          </a:xfrm>
        </p:grpSpPr>
        <p:grpSp>
          <p:nvGrpSpPr>
            <p:cNvPr name="Group 26" id="26"/>
            <p:cNvGrpSpPr/>
            <p:nvPr/>
          </p:nvGrpSpPr>
          <p:grpSpPr>
            <a:xfrm rot="0">
              <a:off x="0" y="0"/>
              <a:ext cx="3612293" cy="2402840"/>
              <a:chOff x="0" y="0"/>
              <a:chExt cx="3612293" cy="2402840"/>
            </a:xfrm>
          </p:grpSpPr>
          <p:sp>
            <p:nvSpPr>
              <p:cNvPr name="Freeform 27" id="27"/>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28" id="28"/>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29" id="29"/>
            <p:cNvGrpSpPr/>
            <p:nvPr/>
          </p:nvGrpSpPr>
          <p:grpSpPr>
            <a:xfrm rot="0">
              <a:off x="225553" y="139111"/>
              <a:ext cx="3161187" cy="1205094"/>
              <a:chOff x="0" y="0"/>
              <a:chExt cx="3161187" cy="1205094"/>
            </a:xfrm>
          </p:grpSpPr>
          <p:sp>
            <p:nvSpPr>
              <p:cNvPr name="Freeform 30" id="30"/>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31" id="31"/>
              <p:cNvSpPr txBox="true"/>
              <p:nvPr/>
            </p:nvSpPr>
            <p:spPr>
              <a:xfrm>
                <a:off x="0" y="-9525"/>
                <a:ext cx="3161187" cy="1214619"/>
              </a:xfrm>
              <a:prstGeom prst="rect">
                <a:avLst/>
              </a:prstGeom>
            </p:spPr>
            <p:txBody>
              <a:bodyPr anchor="ctr" rtlCol="false" tIns="0" lIns="0" bIns="0" rIns="0"/>
              <a:lstStyle/>
              <a:p>
                <a:pPr algn="ctr">
                  <a:lnSpc>
                    <a:spcPts val="5159"/>
                  </a:lnSpc>
                </a:pPr>
                <a:r>
                  <a:rPr lang="en-US" b="true" sz="4299">
                    <a:solidFill>
                      <a:srgbClr val="FFFFFF"/>
                    </a:solidFill>
                    <a:latin typeface="Exo 2 Bold"/>
                    <a:ea typeface="Exo 2 Bold"/>
                    <a:cs typeface="Exo 2 Bold"/>
                    <a:sym typeface="Exo 2 Bold"/>
                  </a:rPr>
                  <a:t>72</a:t>
                </a:r>
              </a:p>
            </p:txBody>
          </p:sp>
        </p:grpSp>
        <p:grpSp>
          <p:nvGrpSpPr>
            <p:cNvPr name="Group 32" id="32"/>
            <p:cNvGrpSpPr/>
            <p:nvPr/>
          </p:nvGrpSpPr>
          <p:grpSpPr>
            <a:xfrm rot="0">
              <a:off x="225553" y="1340531"/>
              <a:ext cx="3161187" cy="498551"/>
              <a:chOff x="0" y="0"/>
              <a:chExt cx="3161187" cy="498551"/>
            </a:xfrm>
          </p:grpSpPr>
          <p:sp>
            <p:nvSpPr>
              <p:cNvPr name="Freeform 33" id="33"/>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34" id="34"/>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Clients Emailed </a:t>
                </a:r>
              </a:p>
            </p:txBody>
          </p:sp>
        </p:grpSp>
      </p:grpSp>
      <p:grpSp>
        <p:nvGrpSpPr>
          <p:cNvPr name="Group 35" id="35"/>
          <p:cNvGrpSpPr/>
          <p:nvPr/>
        </p:nvGrpSpPr>
        <p:grpSpPr>
          <a:xfrm rot="0">
            <a:off x="6228840" y="2089490"/>
            <a:ext cx="2709220" cy="1819519"/>
            <a:chOff x="0" y="0"/>
            <a:chExt cx="3612293" cy="2426025"/>
          </a:xfrm>
        </p:grpSpPr>
        <p:grpSp>
          <p:nvGrpSpPr>
            <p:cNvPr name="Group 36" id="36"/>
            <p:cNvGrpSpPr/>
            <p:nvPr/>
          </p:nvGrpSpPr>
          <p:grpSpPr>
            <a:xfrm rot="0">
              <a:off x="0" y="0"/>
              <a:ext cx="3612293" cy="2426025"/>
              <a:chOff x="0" y="0"/>
              <a:chExt cx="3612293" cy="2426025"/>
            </a:xfrm>
          </p:grpSpPr>
          <p:sp>
            <p:nvSpPr>
              <p:cNvPr name="Freeform 37" id="37"/>
              <p:cNvSpPr/>
              <p:nvPr/>
            </p:nvSpPr>
            <p:spPr>
              <a:xfrm flipH="false" flipV="false" rot="0">
                <a:off x="8609" y="12823"/>
                <a:ext cx="3595076" cy="2400380"/>
              </a:xfrm>
              <a:custGeom>
                <a:avLst/>
                <a:gdLst/>
                <a:ahLst/>
                <a:cxnLst/>
                <a:rect r="r" b="b" t="t" l="l"/>
                <a:pathLst>
                  <a:path h="2400380" w="3595076">
                    <a:moveTo>
                      <a:pt x="0" y="0"/>
                    </a:moveTo>
                    <a:lnTo>
                      <a:pt x="3595076" y="0"/>
                    </a:lnTo>
                    <a:lnTo>
                      <a:pt x="3595076" y="2400380"/>
                    </a:lnTo>
                    <a:lnTo>
                      <a:pt x="0" y="240038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38" id="38"/>
              <p:cNvSpPr/>
              <p:nvPr/>
            </p:nvSpPr>
            <p:spPr>
              <a:xfrm flipH="false" flipV="false" rot="0">
                <a:off x="0" y="0"/>
                <a:ext cx="3612293" cy="2426025"/>
              </a:xfrm>
              <a:custGeom>
                <a:avLst/>
                <a:gdLst/>
                <a:ahLst/>
                <a:cxnLst/>
                <a:rect r="r" b="b" t="t" l="l"/>
                <a:pathLst>
                  <a:path h="2426025" w="3612293">
                    <a:moveTo>
                      <a:pt x="8609" y="0"/>
                    </a:moveTo>
                    <a:lnTo>
                      <a:pt x="3603685" y="0"/>
                    </a:lnTo>
                    <a:cubicBezTo>
                      <a:pt x="3608419" y="0"/>
                      <a:pt x="3612293" y="5770"/>
                      <a:pt x="3612293" y="12823"/>
                    </a:cubicBezTo>
                    <a:lnTo>
                      <a:pt x="3612293" y="2413203"/>
                    </a:lnTo>
                    <a:cubicBezTo>
                      <a:pt x="3612293" y="2420255"/>
                      <a:pt x="3608419" y="2426025"/>
                      <a:pt x="3603685" y="2426025"/>
                    </a:cubicBezTo>
                    <a:lnTo>
                      <a:pt x="8609" y="2426025"/>
                    </a:lnTo>
                    <a:cubicBezTo>
                      <a:pt x="3874" y="2426025"/>
                      <a:pt x="0" y="2420255"/>
                      <a:pt x="0" y="2413203"/>
                    </a:cubicBezTo>
                    <a:lnTo>
                      <a:pt x="0" y="12823"/>
                    </a:lnTo>
                    <a:cubicBezTo>
                      <a:pt x="0" y="5770"/>
                      <a:pt x="3874" y="0"/>
                      <a:pt x="8609" y="0"/>
                    </a:cubicBezTo>
                    <a:moveTo>
                      <a:pt x="8609" y="25645"/>
                    </a:moveTo>
                    <a:lnTo>
                      <a:pt x="8609" y="12823"/>
                    </a:lnTo>
                    <a:lnTo>
                      <a:pt x="17218" y="12823"/>
                    </a:lnTo>
                    <a:lnTo>
                      <a:pt x="17218" y="2413203"/>
                    </a:lnTo>
                    <a:lnTo>
                      <a:pt x="8609" y="2413203"/>
                    </a:lnTo>
                    <a:lnTo>
                      <a:pt x="8609" y="2400380"/>
                    </a:lnTo>
                    <a:lnTo>
                      <a:pt x="3603685" y="2400380"/>
                    </a:lnTo>
                    <a:lnTo>
                      <a:pt x="3603685" y="2413203"/>
                    </a:lnTo>
                    <a:lnTo>
                      <a:pt x="3595076" y="2413203"/>
                    </a:lnTo>
                    <a:lnTo>
                      <a:pt x="3595076" y="12823"/>
                    </a:lnTo>
                    <a:lnTo>
                      <a:pt x="3603685" y="12823"/>
                    </a:lnTo>
                    <a:lnTo>
                      <a:pt x="3603685" y="25645"/>
                    </a:lnTo>
                    <a:lnTo>
                      <a:pt x="8609" y="25645"/>
                    </a:lnTo>
                    <a:close/>
                  </a:path>
                </a:pathLst>
              </a:custGeom>
              <a:solidFill>
                <a:srgbClr val="121A2F"/>
              </a:solidFill>
            </p:spPr>
          </p:sp>
        </p:grpSp>
        <p:grpSp>
          <p:nvGrpSpPr>
            <p:cNvPr name="Group 39" id="39"/>
            <p:cNvGrpSpPr/>
            <p:nvPr/>
          </p:nvGrpSpPr>
          <p:grpSpPr>
            <a:xfrm rot="0">
              <a:off x="225553" y="139111"/>
              <a:ext cx="3161187" cy="1205094"/>
              <a:chOff x="0" y="0"/>
              <a:chExt cx="3161187" cy="1205094"/>
            </a:xfrm>
          </p:grpSpPr>
          <p:sp>
            <p:nvSpPr>
              <p:cNvPr name="Freeform 40" id="40"/>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41" id="41"/>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a:t>
                </a:r>
              </a:p>
            </p:txBody>
          </p:sp>
        </p:grpSp>
        <p:grpSp>
          <p:nvGrpSpPr>
            <p:cNvPr name="Group 42" id="42"/>
            <p:cNvGrpSpPr/>
            <p:nvPr/>
          </p:nvGrpSpPr>
          <p:grpSpPr>
            <a:xfrm rot="0">
              <a:off x="225553" y="1344206"/>
              <a:ext cx="3161187" cy="498551"/>
              <a:chOff x="0" y="0"/>
              <a:chExt cx="3161187" cy="498551"/>
            </a:xfrm>
          </p:grpSpPr>
          <p:sp>
            <p:nvSpPr>
              <p:cNvPr name="Freeform 43" id="43"/>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44" id="44"/>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WhatsApp Clients</a:t>
                </a:r>
              </a:p>
            </p:txBody>
          </p:sp>
        </p:grpSp>
      </p:grpSp>
      <p:grpSp>
        <p:nvGrpSpPr>
          <p:cNvPr name="Group 45" id="45"/>
          <p:cNvGrpSpPr/>
          <p:nvPr/>
        </p:nvGrpSpPr>
        <p:grpSpPr>
          <a:xfrm rot="0">
            <a:off x="585597" y="4441441"/>
            <a:ext cx="16655936" cy="1386520"/>
            <a:chOff x="0" y="0"/>
            <a:chExt cx="22207915" cy="1848694"/>
          </a:xfrm>
        </p:grpSpPr>
        <p:grpSp>
          <p:nvGrpSpPr>
            <p:cNvPr name="Group 46" id="46"/>
            <p:cNvGrpSpPr/>
            <p:nvPr/>
          </p:nvGrpSpPr>
          <p:grpSpPr>
            <a:xfrm rot="0">
              <a:off x="591499" y="814347"/>
              <a:ext cx="21616416" cy="1034346"/>
              <a:chOff x="0" y="0"/>
              <a:chExt cx="21616416" cy="1034346"/>
            </a:xfrm>
          </p:grpSpPr>
          <p:sp>
            <p:nvSpPr>
              <p:cNvPr name="Freeform 47" id="47"/>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48" id="48"/>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Out of 20 clients contact called, 6 have completed onboarding, giving a conversion rate of 20%. The remaining 14 clients (80%)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name="Group 49" id="49"/>
            <p:cNvGrpSpPr/>
            <p:nvPr/>
          </p:nvGrpSpPr>
          <p:grpSpPr>
            <a:xfrm rot="0">
              <a:off x="66735" y="978800"/>
              <a:ext cx="370790" cy="324441"/>
              <a:chOff x="0" y="0"/>
              <a:chExt cx="812800" cy="711200"/>
            </a:xfrm>
          </p:grpSpPr>
          <p:sp>
            <p:nvSpPr>
              <p:cNvPr name="Freeform 50" id="50"/>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51" id="51"/>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sp>
          <p:nvSpPr>
            <p:cNvPr name="TextBox 52" id="52"/>
            <p:cNvSpPr txBox="true"/>
            <p:nvPr/>
          </p:nvSpPr>
          <p:spPr>
            <a:xfrm rot="0">
              <a:off x="0" y="-19050"/>
              <a:ext cx="2257425" cy="603250"/>
            </a:xfrm>
            <a:prstGeom prst="rect">
              <a:avLst/>
            </a:prstGeom>
          </p:spPr>
          <p:txBody>
            <a:bodyPr anchor="t" rtlCol="false" tIns="0" lIns="0" bIns="0" rIns="0">
              <a:spAutoFit/>
            </a:bodyPr>
            <a:lstStyle/>
            <a:p>
              <a:pPr algn="l">
                <a:lnSpc>
                  <a:spcPts val="3510"/>
                </a:lnSpc>
              </a:pP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Summary</a:t>
              </a:r>
            </a:p>
          </p:txBody>
        </p:sp>
      </p:grpSp>
      <p:grpSp>
        <p:nvGrpSpPr>
          <p:cNvPr name="Group 53" id="53"/>
          <p:cNvGrpSpPr/>
          <p:nvPr/>
        </p:nvGrpSpPr>
        <p:grpSpPr>
          <a:xfrm rot="0">
            <a:off x="470535" y="648843"/>
            <a:ext cx="115062" cy="732282"/>
            <a:chOff x="0" y="0"/>
            <a:chExt cx="153416" cy="976376"/>
          </a:xfrm>
        </p:grpSpPr>
        <p:sp>
          <p:nvSpPr>
            <p:cNvPr name="Freeform 54" id="54"/>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55" id="55"/>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
        <p:nvSpPr>
          <p:cNvPr name="Freeform 56" id="5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7" id="57"/>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grpSp>
        <p:nvGrpSpPr>
          <p:cNvPr name="Group 58" id="58"/>
          <p:cNvGrpSpPr/>
          <p:nvPr/>
        </p:nvGrpSpPr>
        <p:grpSpPr>
          <a:xfrm rot="0">
            <a:off x="585597" y="6024306"/>
            <a:ext cx="16655936" cy="2161119"/>
            <a:chOff x="0" y="0"/>
            <a:chExt cx="22207915" cy="2881493"/>
          </a:xfrm>
        </p:grpSpPr>
        <p:sp>
          <p:nvSpPr>
            <p:cNvPr name="TextBox 59" id="59"/>
            <p:cNvSpPr txBox="true"/>
            <p:nvPr/>
          </p:nvSpPr>
          <p:spPr>
            <a:xfrm rot="0">
              <a:off x="0" y="-19050"/>
              <a:ext cx="4211638" cy="603250"/>
            </a:xfrm>
            <a:prstGeom prst="rect">
              <a:avLst/>
            </a:prstGeom>
          </p:spPr>
          <p:txBody>
            <a:bodyPr anchor="t" rtlCol="false" tIns="0" lIns="0" bIns="0" rIns="0">
              <a:spAutoFit/>
            </a:bodyPr>
            <a:lstStyle/>
            <a:p>
              <a:pPr algn="l">
                <a:lnSpc>
                  <a:spcPts val="3510"/>
                </a:lnSpc>
              </a:pP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Client Feedback’s</a:t>
              </a:r>
            </a:p>
          </p:txBody>
        </p:sp>
        <p:grpSp>
          <p:nvGrpSpPr>
            <p:cNvPr name="Group 60" id="60"/>
            <p:cNvGrpSpPr/>
            <p:nvPr/>
          </p:nvGrpSpPr>
          <p:grpSpPr>
            <a:xfrm rot="0">
              <a:off x="591499" y="812800"/>
              <a:ext cx="21616416" cy="1034346"/>
              <a:chOff x="0" y="0"/>
              <a:chExt cx="21616416" cy="1034346"/>
            </a:xfrm>
          </p:grpSpPr>
          <p:sp>
            <p:nvSpPr>
              <p:cNvPr name="Freeform 61" id="61"/>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2" id="62"/>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name="Group 63" id="63"/>
            <p:cNvGrpSpPr/>
            <p:nvPr/>
          </p:nvGrpSpPr>
          <p:grpSpPr>
            <a:xfrm rot="0">
              <a:off x="66735" y="977253"/>
              <a:ext cx="370790" cy="324441"/>
              <a:chOff x="0" y="0"/>
              <a:chExt cx="812800" cy="711200"/>
            </a:xfrm>
          </p:grpSpPr>
          <p:sp>
            <p:nvSpPr>
              <p:cNvPr name="Freeform 64" id="6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65" id="65"/>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66" id="66"/>
            <p:cNvGrpSpPr/>
            <p:nvPr/>
          </p:nvGrpSpPr>
          <p:grpSpPr>
            <a:xfrm rot="0">
              <a:off x="591499" y="1847146"/>
              <a:ext cx="21616416" cy="1034346"/>
              <a:chOff x="0" y="0"/>
              <a:chExt cx="21616416" cy="1034346"/>
            </a:xfrm>
          </p:grpSpPr>
          <p:sp>
            <p:nvSpPr>
              <p:cNvPr name="Freeform 67" id="67"/>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8" id="68"/>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name="Group 69" id="69"/>
            <p:cNvGrpSpPr/>
            <p:nvPr/>
          </p:nvGrpSpPr>
          <p:grpSpPr>
            <a:xfrm rot="0">
              <a:off x="66735" y="2011599"/>
              <a:ext cx="370790" cy="324441"/>
              <a:chOff x="0" y="0"/>
              <a:chExt cx="812800" cy="711200"/>
            </a:xfrm>
          </p:grpSpPr>
          <p:sp>
            <p:nvSpPr>
              <p:cNvPr name="Freeform 70" id="70"/>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71" id="71"/>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2" id="72"/>
          <p:cNvGrpSpPr/>
          <p:nvPr/>
        </p:nvGrpSpPr>
        <p:grpSpPr>
          <a:xfrm rot="0">
            <a:off x="11990180" y="2089490"/>
            <a:ext cx="2709220" cy="1789639"/>
            <a:chOff x="0" y="0"/>
            <a:chExt cx="3612293" cy="2386185"/>
          </a:xfrm>
        </p:grpSpPr>
        <p:grpSp>
          <p:nvGrpSpPr>
            <p:cNvPr name="Group 73" id="73"/>
            <p:cNvGrpSpPr/>
            <p:nvPr/>
          </p:nvGrpSpPr>
          <p:grpSpPr>
            <a:xfrm rot="0">
              <a:off x="0" y="0"/>
              <a:ext cx="3612293" cy="2386185"/>
              <a:chOff x="0" y="0"/>
              <a:chExt cx="3612293" cy="2386185"/>
            </a:xfrm>
          </p:grpSpPr>
          <p:sp>
            <p:nvSpPr>
              <p:cNvPr name="Freeform 74" id="74"/>
              <p:cNvSpPr/>
              <p:nvPr/>
            </p:nvSpPr>
            <p:spPr>
              <a:xfrm flipH="false" flipV="false" rot="0">
                <a:off x="8609" y="12612"/>
                <a:ext cx="3595076" cy="2360961"/>
              </a:xfrm>
              <a:custGeom>
                <a:avLst/>
                <a:gdLst/>
                <a:ahLst/>
                <a:cxnLst/>
                <a:rect r="r" b="b" t="t" l="l"/>
                <a:pathLst>
                  <a:path h="2360961" w="3595076">
                    <a:moveTo>
                      <a:pt x="0" y="0"/>
                    </a:moveTo>
                    <a:lnTo>
                      <a:pt x="3595076" y="0"/>
                    </a:lnTo>
                    <a:lnTo>
                      <a:pt x="3595076" y="2360961"/>
                    </a:lnTo>
                    <a:lnTo>
                      <a:pt x="0" y="2360961"/>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75" id="75"/>
              <p:cNvSpPr/>
              <p:nvPr/>
            </p:nvSpPr>
            <p:spPr>
              <a:xfrm flipH="false" flipV="false" rot="0">
                <a:off x="0" y="0"/>
                <a:ext cx="3612293" cy="2386185"/>
              </a:xfrm>
              <a:custGeom>
                <a:avLst/>
                <a:gdLst/>
                <a:ahLst/>
                <a:cxnLst/>
                <a:rect r="r" b="b" t="t" l="l"/>
                <a:pathLst>
                  <a:path h="2386185" w="3612293">
                    <a:moveTo>
                      <a:pt x="8609" y="0"/>
                    </a:moveTo>
                    <a:lnTo>
                      <a:pt x="3603685" y="0"/>
                    </a:lnTo>
                    <a:cubicBezTo>
                      <a:pt x="3608419" y="0"/>
                      <a:pt x="3612293" y="5675"/>
                      <a:pt x="3612293" y="12612"/>
                    </a:cubicBezTo>
                    <a:lnTo>
                      <a:pt x="3612293" y="2373573"/>
                    </a:lnTo>
                    <a:cubicBezTo>
                      <a:pt x="3612293" y="2380510"/>
                      <a:pt x="3608419" y="2386185"/>
                      <a:pt x="3603685" y="2386185"/>
                    </a:cubicBezTo>
                    <a:lnTo>
                      <a:pt x="8609" y="2386185"/>
                    </a:lnTo>
                    <a:cubicBezTo>
                      <a:pt x="3874" y="2386185"/>
                      <a:pt x="0" y="2380510"/>
                      <a:pt x="0" y="2373573"/>
                    </a:cubicBezTo>
                    <a:lnTo>
                      <a:pt x="0" y="12612"/>
                    </a:lnTo>
                    <a:cubicBezTo>
                      <a:pt x="0" y="5675"/>
                      <a:pt x="3874" y="0"/>
                      <a:pt x="8609" y="0"/>
                    </a:cubicBezTo>
                    <a:moveTo>
                      <a:pt x="8609" y="25224"/>
                    </a:moveTo>
                    <a:lnTo>
                      <a:pt x="8609" y="12612"/>
                    </a:lnTo>
                    <a:lnTo>
                      <a:pt x="17218" y="12612"/>
                    </a:lnTo>
                    <a:lnTo>
                      <a:pt x="17218" y="2373573"/>
                    </a:lnTo>
                    <a:lnTo>
                      <a:pt x="8609" y="2373573"/>
                    </a:lnTo>
                    <a:lnTo>
                      <a:pt x="8609" y="2360961"/>
                    </a:lnTo>
                    <a:lnTo>
                      <a:pt x="3603685" y="2360961"/>
                    </a:lnTo>
                    <a:lnTo>
                      <a:pt x="3603685" y="2373573"/>
                    </a:lnTo>
                    <a:lnTo>
                      <a:pt x="3595076" y="2373573"/>
                    </a:lnTo>
                    <a:lnTo>
                      <a:pt x="3595076" y="12612"/>
                    </a:lnTo>
                    <a:lnTo>
                      <a:pt x="3603685" y="12612"/>
                    </a:lnTo>
                    <a:lnTo>
                      <a:pt x="3603685" y="25224"/>
                    </a:lnTo>
                    <a:lnTo>
                      <a:pt x="8609" y="25224"/>
                    </a:lnTo>
                    <a:close/>
                  </a:path>
                </a:pathLst>
              </a:custGeom>
              <a:solidFill>
                <a:srgbClr val="121A2F"/>
              </a:solidFill>
            </p:spPr>
          </p:sp>
        </p:grpSp>
        <p:grpSp>
          <p:nvGrpSpPr>
            <p:cNvPr name="Group 76" id="76"/>
            <p:cNvGrpSpPr/>
            <p:nvPr/>
          </p:nvGrpSpPr>
          <p:grpSpPr>
            <a:xfrm rot="0">
              <a:off x="225553" y="139111"/>
              <a:ext cx="3161187" cy="1205094"/>
              <a:chOff x="0" y="0"/>
              <a:chExt cx="3161187" cy="1205094"/>
            </a:xfrm>
          </p:grpSpPr>
          <p:sp>
            <p:nvSpPr>
              <p:cNvPr name="Freeform 77" id="77"/>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78" id="78"/>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C0392B"/>
                    </a:solidFill>
                    <a:latin typeface="Exo 2 Bold"/>
                    <a:ea typeface="Exo 2 Bold"/>
                    <a:cs typeface="Exo 2 Bold"/>
                    <a:sym typeface="Exo 2 Bold"/>
                  </a:rPr>
                  <a:t>14</a:t>
                </a:r>
              </a:p>
            </p:txBody>
          </p:sp>
        </p:grpSp>
        <p:grpSp>
          <p:nvGrpSpPr>
            <p:cNvPr name="Group 79" id="79"/>
            <p:cNvGrpSpPr/>
            <p:nvPr/>
          </p:nvGrpSpPr>
          <p:grpSpPr>
            <a:xfrm rot="0">
              <a:off x="225553" y="1340531"/>
              <a:ext cx="3161187" cy="820809"/>
              <a:chOff x="0" y="0"/>
              <a:chExt cx="3161187" cy="820809"/>
            </a:xfrm>
          </p:grpSpPr>
          <p:sp>
            <p:nvSpPr>
              <p:cNvPr name="Freeform 80" id="80"/>
              <p:cNvSpPr/>
              <p:nvPr/>
            </p:nvSpPr>
            <p:spPr>
              <a:xfrm flipH="false" flipV="false" rot="0">
                <a:off x="0" y="0"/>
                <a:ext cx="3161187" cy="820809"/>
              </a:xfrm>
              <a:custGeom>
                <a:avLst/>
                <a:gdLst/>
                <a:ahLst/>
                <a:cxnLst/>
                <a:rect r="r" b="b" t="t" l="l"/>
                <a:pathLst>
                  <a:path h="820809" w="3161187">
                    <a:moveTo>
                      <a:pt x="0" y="0"/>
                    </a:moveTo>
                    <a:lnTo>
                      <a:pt x="3161187" y="0"/>
                    </a:lnTo>
                    <a:lnTo>
                      <a:pt x="3161187" y="820809"/>
                    </a:lnTo>
                    <a:lnTo>
                      <a:pt x="0" y="820809"/>
                    </a:lnTo>
                    <a:close/>
                  </a:path>
                </a:pathLst>
              </a:custGeom>
              <a:blipFill>
                <a:blip r:embed="rId2">
                  <a:alphaModFix amt="0"/>
                </a:blip>
                <a:stretch>
                  <a:fillRect l="0" t="-43863" r="-47521" b="-77545"/>
                </a:stretch>
              </a:blipFill>
            </p:spPr>
          </p:sp>
          <p:sp>
            <p:nvSpPr>
              <p:cNvPr name="TextBox 81" id="81"/>
              <p:cNvSpPr txBox="true"/>
              <p:nvPr/>
            </p:nvSpPr>
            <p:spPr>
              <a:xfrm>
                <a:off x="0" y="-9525"/>
                <a:ext cx="3161187" cy="830334"/>
              </a:xfrm>
              <a:prstGeom prst="rect">
                <a:avLst/>
              </a:prstGeom>
            </p:spPr>
            <p:txBody>
              <a:bodyPr anchor="ctr" rtlCol="false" tIns="0" lIns="0" bIns="0" rIns="0"/>
              <a:lstStyle/>
              <a:p>
                <a:pPr algn="ctr" marL="0" indent="0" lvl="0">
                  <a:lnSpc>
                    <a:spcPts val="2039"/>
                  </a:lnSpc>
                  <a:spcBef>
                    <a:spcPct val="0"/>
                  </a:spcBef>
                </a:pPr>
                <a:r>
                  <a:rPr lang="en-US" sz="1699">
                    <a:solidFill>
                      <a:srgbClr val="FFFFFF"/>
                    </a:solidFill>
                    <a:latin typeface="Exo 2"/>
                    <a:ea typeface="Exo 2"/>
                    <a:cs typeface="Exo 2"/>
                    <a:sym typeface="Exo 2"/>
                  </a:rPr>
                  <a:t>Still Pending (Clients Called) </a:t>
                </a:r>
              </a:p>
            </p:txBody>
          </p:sp>
        </p:grpSp>
      </p:grpSp>
      <p:grpSp>
        <p:nvGrpSpPr>
          <p:cNvPr name="Group 82" id="82"/>
          <p:cNvGrpSpPr/>
          <p:nvPr/>
        </p:nvGrpSpPr>
        <p:grpSpPr>
          <a:xfrm rot="0">
            <a:off x="14870577" y="2089490"/>
            <a:ext cx="2709220" cy="1802130"/>
            <a:chOff x="0" y="0"/>
            <a:chExt cx="3612293" cy="2402840"/>
          </a:xfrm>
        </p:grpSpPr>
        <p:grpSp>
          <p:nvGrpSpPr>
            <p:cNvPr name="Group 83" id="83"/>
            <p:cNvGrpSpPr/>
            <p:nvPr/>
          </p:nvGrpSpPr>
          <p:grpSpPr>
            <a:xfrm rot="0">
              <a:off x="0" y="0"/>
              <a:ext cx="3612293" cy="2402840"/>
              <a:chOff x="0" y="0"/>
              <a:chExt cx="3612293" cy="2402840"/>
            </a:xfrm>
          </p:grpSpPr>
          <p:sp>
            <p:nvSpPr>
              <p:cNvPr name="Freeform 84" id="84"/>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85" id="85"/>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86" id="86"/>
            <p:cNvGrpSpPr/>
            <p:nvPr/>
          </p:nvGrpSpPr>
          <p:grpSpPr>
            <a:xfrm rot="0">
              <a:off x="225553" y="139111"/>
              <a:ext cx="3161187" cy="1205094"/>
              <a:chOff x="0" y="0"/>
              <a:chExt cx="3161187" cy="1205094"/>
            </a:xfrm>
          </p:grpSpPr>
          <p:sp>
            <p:nvSpPr>
              <p:cNvPr name="Freeform 87" id="87"/>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88" id="88"/>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20%</a:t>
                </a:r>
              </a:p>
            </p:txBody>
          </p:sp>
        </p:grpSp>
        <p:grpSp>
          <p:nvGrpSpPr>
            <p:cNvPr name="Group 89" id="89"/>
            <p:cNvGrpSpPr/>
            <p:nvPr/>
          </p:nvGrpSpPr>
          <p:grpSpPr>
            <a:xfrm rot="0">
              <a:off x="225553" y="1162731"/>
              <a:ext cx="3161187" cy="854151"/>
              <a:chOff x="0" y="0"/>
              <a:chExt cx="3161187" cy="854151"/>
            </a:xfrm>
          </p:grpSpPr>
          <p:sp>
            <p:nvSpPr>
              <p:cNvPr name="Freeform 90" id="90"/>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91" id="91"/>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Conversion (Client Called)</a:t>
                </a:r>
              </a:p>
            </p:txBody>
          </p:sp>
        </p:grpSp>
      </p:grpSp>
      <p:grpSp>
        <p:nvGrpSpPr>
          <p:cNvPr name="Group 92" id="92"/>
          <p:cNvGrpSpPr/>
          <p:nvPr/>
        </p:nvGrpSpPr>
        <p:grpSpPr>
          <a:xfrm rot="0">
            <a:off x="585597" y="7512556"/>
            <a:ext cx="16655936" cy="1578906"/>
            <a:chOff x="0" y="0"/>
            <a:chExt cx="22207915" cy="2105208"/>
          </a:xfrm>
        </p:grpSpPr>
        <p:sp>
          <p:nvSpPr>
            <p:cNvPr name="TextBox 93" id="93"/>
            <p:cNvSpPr txBox="true"/>
            <p:nvPr/>
          </p:nvSpPr>
          <p:spPr>
            <a:xfrm rot="0">
              <a:off x="0" y="-19050"/>
              <a:ext cx="4211638" cy="603250"/>
            </a:xfrm>
            <a:prstGeom prst="rect">
              <a:avLst/>
            </a:prstGeom>
          </p:spPr>
          <p:txBody>
            <a:bodyPr anchor="t" rtlCol="false" tIns="0" lIns="0" bIns="0" rIns="0">
              <a:spAutoFit/>
            </a:bodyPr>
            <a:lstStyle/>
            <a:p>
              <a:pPr algn="l">
                <a:lnSpc>
                  <a:spcPts val="3510"/>
                </a:lnSpc>
              </a:pPr>
            </a:p>
          </p:txBody>
        </p:sp>
        <p:grpSp>
          <p:nvGrpSpPr>
            <p:cNvPr name="Group 94" id="94"/>
            <p:cNvGrpSpPr/>
            <p:nvPr/>
          </p:nvGrpSpPr>
          <p:grpSpPr>
            <a:xfrm rot="0">
              <a:off x="591499" y="812800"/>
              <a:ext cx="21616416" cy="602546"/>
              <a:chOff x="0" y="0"/>
              <a:chExt cx="21616416" cy="602546"/>
            </a:xfrm>
          </p:grpSpPr>
          <p:sp>
            <p:nvSpPr>
              <p:cNvPr name="Freeform 95" id="95"/>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96" id="96"/>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Clients inquired about our commissions and applicable fees.</a:t>
                </a:r>
              </a:p>
            </p:txBody>
          </p:sp>
        </p:grpSp>
        <p:grpSp>
          <p:nvGrpSpPr>
            <p:cNvPr name="Group 97" id="97"/>
            <p:cNvGrpSpPr/>
            <p:nvPr/>
          </p:nvGrpSpPr>
          <p:grpSpPr>
            <a:xfrm rot="0">
              <a:off x="66735" y="977253"/>
              <a:ext cx="370790" cy="324441"/>
              <a:chOff x="0" y="0"/>
              <a:chExt cx="812800" cy="711200"/>
            </a:xfrm>
          </p:grpSpPr>
          <p:sp>
            <p:nvSpPr>
              <p:cNvPr name="Freeform 98" id="9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99" id="99"/>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100" id="100"/>
            <p:cNvGrpSpPr/>
            <p:nvPr/>
          </p:nvGrpSpPr>
          <p:grpSpPr>
            <a:xfrm rot="0">
              <a:off x="591499" y="1502662"/>
              <a:ext cx="21616416" cy="602546"/>
              <a:chOff x="0" y="0"/>
              <a:chExt cx="21616416" cy="602546"/>
            </a:xfrm>
          </p:grpSpPr>
          <p:sp>
            <p:nvSpPr>
              <p:cNvPr name="Freeform 101" id="101"/>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102" id="102"/>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Several clients requested guidance on how to deposit funds via bank transfer.</a:t>
                </a:r>
              </a:p>
            </p:txBody>
          </p:sp>
        </p:grpSp>
        <p:grpSp>
          <p:nvGrpSpPr>
            <p:cNvPr name="Group 103" id="103"/>
            <p:cNvGrpSpPr/>
            <p:nvPr/>
          </p:nvGrpSpPr>
          <p:grpSpPr>
            <a:xfrm rot="0">
              <a:off x="66735" y="1695394"/>
              <a:ext cx="370790" cy="324441"/>
              <a:chOff x="0" y="0"/>
              <a:chExt cx="812800" cy="711200"/>
            </a:xfrm>
          </p:grpSpPr>
          <p:sp>
            <p:nvSpPr>
              <p:cNvPr name="Freeform 104" id="10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105" id="105"/>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850" y="564284"/>
            <a:ext cx="13164593" cy="928831"/>
            <a:chOff x="0" y="0"/>
            <a:chExt cx="17552791" cy="1238442"/>
          </a:xfrm>
        </p:grpSpPr>
        <p:sp>
          <p:nvSpPr>
            <p:cNvPr name="Freeform 3" id="3"/>
            <p:cNvSpPr/>
            <p:nvPr/>
          </p:nvSpPr>
          <p:spPr>
            <a:xfrm flipH="false" flipV="false" rot="0">
              <a:off x="0" y="0"/>
              <a:ext cx="17552791" cy="1238442"/>
            </a:xfrm>
            <a:custGeom>
              <a:avLst/>
              <a:gdLst/>
              <a:ahLst/>
              <a:cxnLst/>
              <a:rect r="r" b="b" t="t" l="l"/>
              <a:pathLst>
                <a:path h="1238442" w="17552791">
                  <a:moveTo>
                    <a:pt x="0" y="0"/>
                  </a:moveTo>
                  <a:lnTo>
                    <a:pt x="17552791" y="0"/>
                  </a:lnTo>
                  <a:lnTo>
                    <a:pt x="17552791" y="1238442"/>
                  </a:lnTo>
                  <a:lnTo>
                    <a:pt x="0" y="1238442"/>
                  </a:lnTo>
                  <a:close/>
                </a:path>
              </a:pathLst>
            </a:custGeom>
            <a:blipFill>
              <a:blip r:embed="rId2">
                <a:alphaModFix amt="0"/>
              </a:blip>
              <a:stretch>
                <a:fillRect l="0" t="-220566" r="6230" b="-197355"/>
              </a:stretch>
            </a:blipFill>
          </p:spPr>
        </p:sp>
        <p:sp>
          <p:nvSpPr>
            <p:cNvPr name="TextBox 4" id="4"/>
            <p:cNvSpPr txBox="true"/>
            <p:nvPr/>
          </p:nvSpPr>
          <p:spPr>
            <a:xfrm>
              <a:off x="0" y="-9525"/>
              <a:ext cx="17552791" cy="1247967"/>
            </a:xfrm>
            <a:prstGeom prst="rect">
              <a:avLst/>
            </a:prstGeom>
          </p:spPr>
          <p:txBody>
            <a:bodyPr anchor="ctr" rtlCol="false" tIns="0" lIns="0" bIns="0" rIns="0"/>
            <a:lstStyle/>
            <a:p>
              <a:pPr algn="l" marL="0" indent="0" lvl="0">
                <a:lnSpc>
                  <a:spcPts val="5280"/>
                </a:lnSpc>
                <a:spcBef>
                  <a:spcPct val="0"/>
                </a:spcBef>
              </a:pPr>
              <a:r>
                <a:rPr lang="en-US" b="true" sz="44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Overview</a:t>
              </a:r>
            </a:p>
          </p:txBody>
        </p:sp>
      </p:grpSp>
      <p:grpSp>
        <p:nvGrpSpPr>
          <p:cNvPr name="Group 5" id="5"/>
          <p:cNvGrpSpPr/>
          <p:nvPr/>
        </p:nvGrpSpPr>
        <p:grpSpPr>
          <a:xfrm rot="0">
            <a:off x="470535" y="648843"/>
            <a:ext cx="115062" cy="732282"/>
            <a:chOff x="0" y="0"/>
            <a:chExt cx="153416" cy="976376"/>
          </a:xfrm>
        </p:grpSpPr>
        <p:sp>
          <p:nvSpPr>
            <p:cNvPr name="Freeform 6" id="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7" id="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
        <p:nvSpPr>
          <p:cNvPr name="Freeform 8" id="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sp>
        <p:nvSpPr>
          <p:cNvPr name="TextBox 10" id="10"/>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SINCE THE LAST CEO UPDATE  |  17 SEP TO 1 OCT 2026</a:t>
            </a:r>
          </a:p>
        </p:txBody>
      </p:sp>
      <p:grpSp>
        <p:nvGrpSpPr>
          <p:cNvPr name="Group 11" id="11"/>
          <p:cNvGrpSpPr/>
          <p:nvPr/>
        </p:nvGrpSpPr>
        <p:grpSpPr>
          <a:xfrm rot="0">
            <a:off x="630936" y="2057400"/>
            <a:ext cx="2670048" cy="1600200"/>
            <a:chOff x="0" y="0"/>
            <a:chExt cx="3560064" cy="2133600"/>
          </a:xfrm>
        </p:grpSpPr>
        <p:sp>
          <p:nvSpPr>
            <p:cNvPr name="Freeform 12" id="12"/>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13" id="13"/>
          <p:cNvSpPr txBox="true"/>
          <p:nvPr/>
        </p:nvSpPr>
        <p:spPr>
          <a:xfrm rot="0">
            <a:off x="630936"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21</a:t>
            </a:r>
          </a:p>
        </p:txBody>
      </p:sp>
      <p:sp>
        <p:nvSpPr>
          <p:cNvPr name="TextBox 14" id="14"/>
          <p:cNvSpPr txBox="true"/>
          <p:nvPr/>
        </p:nvSpPr>
        <p:spPr>
          <a:xfrm rot="0">
            <a:off x="76809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Clients called (phone)</a:t>
            </a:r>
          </a:p>
        </p:txBody>
      </p:sp>
      <p:grpSp>
        <p:nvGrpSpPr>
          <p:cNvPr name="Group 15" id="15"/>
          <p:cNvGrpSpPr/>
          <p:nvPr/>
        </p:nvGrpSpPr>
        <p:grpSpPr>
          <a:xfrm rot="0">
            <a:off x="3502152" y="2057400"/>
            <a:ext cx="2670048" cy="1600200"/>
            <a:chOff x="0" y="0"/>
            <a:chExt cx="3560064" cy="2133600"/>
          </a:xfrm>
        </p:grpSpPr>
        <p:sp>
          <p:nvSpPr>
            <p:cNvPr name="Freeform 16" id="16"/>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17" id="17"/>
          <p:cNvSpPr txBox="true"/>
          <p:nvPr/>
        </p:nvSpPr>
        <p:spPr>
          <a:xfrm rot="0">
            <a:off x="3502152"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72</a:t>
            </a:r>
          </a:p>
        </p:txBody>
      </p:sp>
      <p:sp>
        <p:nvSpPr>
          <p:cNvPr name="TextBox 18" id="18"/>
          <p:cNvSpPr txBox="true"/>
          <p:nvPr/>
        </p:nvSpPr>
        <p:spPr>
          <a:xfrm rot="0">
            <a:off x="3639312"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Email contacts</a:t>
            </a:r>
          </a:p>
        </p:txBody>
      </p:sp>
      <p:grpSp>
        <p:nvGrpSpPr>
          <p:cNvPr name="Group 19" id="19"/>
          <p:cNvGrpSpPr/>
          <p:nvPr/>
        </p:nvGrpSpPr>
        <p:grpSpPr>
          <a:xfrm rot="0">
            <a:off x="6373368" y="2057400"/>
            <a:ext cx="2670048" cy="1600200"/>
            <a:chOff x="0" y="0"/>
            <a:chExt cx="3560064" cy="2133600"/>
          </a:xfrm>
        </p:grpSpPr>
        <p:sp>
          <p:nvSpPr>
            <p:cNvPr name="Freeform 20" id="20"/>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21" id="21"/>
          <p:cNvSpPr txBox="true"/>
          <p:nvPr/>
        </p:nvSpPr>
        <p:spPr>
          <a:xfrm rot="0">
            <a:off x="6373368"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4</a:t>
            </a:r>
          </a:p>
        </p:txBody>
      </p:sp>
      <p:sp>
        <p:nvSpPr>
          <p:cNvPr name="TextBox 22" id="22"/>
          <p:cNvSpPr txBox="true"/>
          <p:nvPr/>
        </p:nvSpPr>
        <p:spPr>
          <a:xfrm rot="0">
            <a:off x="6510528"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WhatsApp clients</a:t>
            </a:r>
          </a:p>
        </p:txBody>
      </p:sp>
      <p:grpSp>
        <p:nvGrpSpPr>
          <p:cNvPr name="Group 23" id="23"/>
          <p:cNvGrpSpPr/>
          <p:nvPr/>
        </p:nvGrpSpPr>
        <p:grpSpPr>
          <a:xfrm rot="0">
            <a:off x="9244584" y="2057400"/>
            <a:ext cx="2670048" cy="1600200"/>
            <a:chOff x="0" y="0"/>
            <a:chExt cx="3560064" cy="2133600"/>
          </a:xfrm>
        </p:grpSpPr>
        <p:sp>
          <p:nvSpPr>
            <p:cNvPr name="Freeform 24" id="24"/>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25" id="25"/>
          <p:cNvSpPr txBox="true"/>
          <p:nvPr/>
        </p:nvSpPr>
        <p:spPr>
          <a:xfrm rot="0">
            <a:off x="9244584"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6</a:t>
            </a:r>
          </a:p>
        </p:txBody>
      </p:sp>
      <p:sp>
        <p:nvSpPr>
          <p:cNvPr name="TextBox 26" id="26"/>
          <p:cNvSpPr txBox="true"/>
          <p:nvPr/>
        </p:nvSpPr>
        <p:spPr>
          <a:xfrm rot="0">
            <a:off x="9381744"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Completed onboarding</a:t>
            </a:r>
          </a:p>
        </p:txBody>
      </p:sp>
      <p:grpSp>
        <p:nvGrpSpPr>
          <p:cNvPr name="Group 27" id="27"/>
          <p:cNvGrpSpPr/>
          <p:nvPr/>
        </p:nvGrpSpPr>
        <p:grpSpPr>
          <a:xfrm rot="0">
            <a:off x="12115800" y="2057400"/>
            <a:ext cx="2670048" cy="1600200"/>
            <a:chOff x="0" y="0"/>
            <a:chExt cx="3560064" cy="2133600"/>
          </a:xfrm>
        </p:grpSpPr>
        <p:sp>
          <p:nvSpPr>
            <p:cNvPr name="Freeform 28" id="28"/>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29" id="29"/>
          <p:cNvSpPr txBox="true"/>
          <p:nvPr/>
        </p:nvSpPr>
        <p:spPr>
          <a:xfrm rot="0">
            <a:off x="12115800" y="2230755"/>
            <a:ext cx="2670048" cy="741045"/>
          </a:xfrm>
          <a:prstGeom prst="rect">
            <a:avLst/>
          </a:prstGeom>
        </p:spPr>
        <p:txBody>
          <a:bodyPr anchor="t" rtlCol="false" tIns="0" lIns="0" bIns="0" rIns="0">
            <a:spAutoFit/>
          </a:bodyPr>
          <a:lstStyle/>
          <a:p>
            <a:pPr algn="ctr">
              <a:lnSpc>
                <a:spcPts val="4320"/>
              </a:lnSpc>
            </a:pPr>
            <a:r>
              <a:rPr lang="en-US" sz="3600" b="true">
                <a:solidFill>
                  <a:srgbClr val="FF7A6B"/>
                </a:solidFill>
                <a:latin typeface="Exo 2 Bold"/>
                <a:ea typeface="Exo 2 Bold"/>
                <a:cs typeface="Exo 2 Bold"/>
                <a:sym typeface="Exo 2 Bold"/>
              </a:rPr>
              <a:t>15</a:t>
            </a:r>
          </a:p>
        </p:txBody>
      </p:sp>
      <p:sp>
        <p:nvSpPr>
          <p:cNvPr name="TextBox 30" id="30"/>
          <p:cNvSpPr txBox="true"/>
          <p:nvPr/>
        </p:nvSpPr>
        <p:spPr>
          <a:xfrm rot="0">
            <a:off x="12252960"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Still pending</a:t>
            </a:r>
          </a:p>
        </p:txBody>
      </p:sp>
      <p:grpSp>
        <p:nvGrpSpPr>
          <p:cNvPr name="Group 31" id="31"/>
          <p:cNvGrpSpPr/>
          <p:nvPr/>
        </p:nvGrpSpPr>
        <p:grpSpPr>
          <a:xfrm rot="0">
            <a:off x="14987016" y="2057400"/>
            <a:ext cx="2670048" cy="1600200"/>
            <a:chOff x="0" y="0"/>
            <a:chExt cx="3560064" cy="2133600"/>
          </a:xfrm>
        </p:grpSpPr>
        <p:sp>
          <p:nvSpPr>
            <p:cNvPr name="Freeform 32" id="32"/>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gradFill rotWithShape="true">
              <a:gsLst>
                <a:gs pos="0">
                  <a:srgbClr val="2B4AA0">
                    <a:alpha val="100000"/>
                  </a:srgbClr>
                </a:gs>
                <a:gs pos="100000">
                  <a:srgbClr val="121C36">
                    <a:alpha val="100000"/>
                  </a:srgbClr>
                </a:gs>
              </a:gsLst>
              <a:lin ang="18900000"/>
            </a:gradFill>
          </p:spPr>
        </p:sp>
      </p:grpSp>
      <p:sp>
        <p:nvSpPr>
          <p:cNvPr name="TextBox 33" id="33"/>
          <p:cNvSpPr txBox="true"/>
          <p:nvPr/>
        </p:nvSpPr>
        <p:spPr>
          <a:xfrm rot="0">
            <a:off x="14987016"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28.6%</a:t>
            </a:r>
          </a:p>
        </p:txBody>
      </p:sp>
      <p:sp>
        <p:nvSpPr>
          <p:cNvPr name="TextBox 34" id="34"/>
          <p:cNvSpPr txBox="true"/>
          <p:nvPr/>
        </p:nvSpPr>
        <p:spPr>
          <a:xfrm rot="0">
            <a:off x="1512417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Conversion (of clients called)</a:t>
            </a:r>
          </a:p>
        </p:txBody>
      </p:sp>
      <p:sp>
        <p:nvSpPr>
          <p:cNvPr name="TextBox 35" id="35"/>
          <p:cNvSpPr txBox="true"/>
          <p:nvPr/>
        </p:nvSpPr>
        <p:spPr>
          <a:xfrm rot="0">
            <a:off x="630936" y="4455827"/>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CLIENTS CALLED, BY WHERE THEY ARE NOW</a:t>
            </a:r>
          </a:p>
        </p:txBody>
      </p:sp>
      <p:grpSp>
        <p:nvGrpSpPr>
          <p:cNvPr name="Group 36" id="36"/>
          <p:cNvGrpSpPr/>
          <p:nvPr/>
        </p:nvGrpSpPr>
        <p:grpSpPr>
          <a:xfrm rot="0">
            <a:off x="630936" y="4876832"/>
            <a:ext cx="4864608" cy="502920"/>
            <a:chOff x="0" y="0"/>
            <a:chExt cx="6486144" cy="670560"/>
          </a:xfrm>
        </p:grpSpPr>
        <p:sp>
          <p:nvSpPr>
            <p:cNvPr name="Freeform 37" id="37"/>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solidFill>
              <a:srgbClr val="1E9E6B"/>
            </a:solidFill>
          </p:spPr>
        </p:sp>
      </p:grpSp>
      <p:grpSp>
        <p:nvGrpSpPr>
          <p:cNvPr name="Group 38" id="38"/>
          <p:cNvGrpSpPr/>
          <p:nvPr/>
        </p:nvGrpSpPr>
        <p:grpSpPr>
          <a:xfrm rot="0">
            <a:off x="630936" y="4876832"/>
            <a:ext cx="4864608" cy="502920"/>
            <a:chOff x="0" y="0"/>
            <a:chExt cx="6486144" cy="670560"/>
          </a:xfrm>
        </p:grpSpPr>
        <p:sp>
          <p:nvSpPr>
            <p:cNvPr name="Freeform 39" id="39"/>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blipFill>
              <a:blip r:embed="rId2">
                <a:alphaModFix amt="0"/>
              </a:blip>
              <a:stretch>
                <a:fillRect l="0" t="-138473" r="0" b="-138473"/>
              </a:stretch>
            </a:blipFill>
          </p:spPr>
        </p:sp>
        <p:sp>
          <p:nvSpPr>
            <p:cNvPr name="TextBox 40" id="40"/>
            <p:cNvSpPr txBox="true"/>
            <p:nvPr/>
          </p:nvSpPr>
          <p:spPr>
            <a:xfrm>
              <a:off x="0" y="-9525"/>
              <a:ext cx="648614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Onboarded  6</a:t>
              </a:r>
            </a:p>
          </p:txBody>
        </p:sp>
      </p:grpSp>
      <p:grpSp>
        <p:nvGrpSpPr>
          <p:cNvPr name="Group 41" id="41"/>
          <p:cNvGrpSpPr/>
          <p:nvPr/>
        </p:nvGrpSpPr>
        <p:grpSpPr>
          <a:xfrm rot="0">
            <a:off x="5495544" y="4876832"/>
            <a:ext cx="8918448" cy="502920"/>
            <a:chOff x="0" y="0"/>
            <a:chExt cx="11891264" cy="670560"/>
          </a:xfrm>
        </p:grpSpPr>
        <p:sp>
          <p:nvSpPr>
            <p:cNvPr name="Freeform 42" id="42"/>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solidFill>
              <a:srgbClr val="D98C1F"/>
            </a:solidFill>
          </p:spPr>
        </p:sp>
      </p:grpSp>
      <p:grpSp>
        <p:nvGrpSpPr>
          <p:cNvPr name="Group 43" id="43"/>
          <p:cNvGrpSpPr/>
          <p:nvPr/>
        </p:nvGrpSpPr>
        <p:grpSpPr>
          <a:xfrm rot="0">
            <a:off x="5495544" y="4876832"/>
            <a:ext cx="8918448" cy="502920"/>
            <a:chOff x="0" y="0"/>
            <a:chExt cx="11891264" cy="670560"/>
          </a:xfrm>
        </p:grpSpPr>
        <p:sp>
          <p:nvSpPr>
            <p:cNvPr name="Freeform 44" id="44"/>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blipFill>
              <a:blip r:embed="rId2">
                <a:alphaModFix amt="0"/>
              </a:blip>
              <a:stretch>
                <a:fillRect l="0" t="-295534" r="0" b="-295534"/>
              </a:stretch>
            </a:blipFill>
          </p:spPr>
        </p:sp>
        <p:sp>
          <p:nvSpPr>
            <p:cNvPr name="TextBox 45" id="45"/>
            <p:cNvSpPr txBox="true"/>
            <p:nvPr/>
          </p:nvSpPr>
          <p:spPr>
            <a:xfrm>
              <a:off x="0" y="-9525"/>
              <a:ext cx="1189126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Not onboarded  11</a:t>
              </a:r>
            </a:p>
          </p:txBody>
        </p:sp>
      </p:grpSp>
      <p:grpSp>
        <p:nvGrpSpPr>
          <p:cNvPr name="Group 46" id="46"/>
          <p:cNvGrpSpPr/>
          <p:nvPr/>
        </p:nvGrpSpPr>
        <p:grpSpPr>
          <a:xfrm rot="0">
            <a:off x="14413992" y="4876832"/>
            <a:ext cx="3243072" cy="502920"/>
            <a:chOff x="0" y="0"/>
            <a:chExt cx="4324096" cy="670560"/>
          </a:xfrm>
        </p:grpSpPr>
        <p:sp>
          <p:nvSpPr>
            <p:cNvPr name="Freeform 47" id="47"/>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solidFill>
              <a:srgbClr val="3C61B6"/>
            </a:solidFill>
          </p:spPr>
        </p:sp>
      </p:grpSp>
      <p:grpSp>
        <p:nvGrpSpPr>
          <p:cNvPr name="Group 48" id="48"/>
          <p:cNvGrpSpPr/>
          <p:nvPr/>
        </p:nvGrpSpPr>
        <p:grpSpPr>
          <a:xfrm rot="0">
            <a:off x="14413992" y="4876832"/>
            <a:ext cx="3243072" cy="502920"/>
            <a:chOff x="0" y="0"/>
            <a:chExt cx="4324096" cy="670560"/>
          </a:xfrm>
        </p:grpSpPr>
        <p:sp>
          <p:nvSpPr>
            <p:cNvPr name="Freeform 49" id="49"/>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blipFill>
              <a:blip r:embed="rId2">
                <a:alphaModFix amt="0"/>
              </a:blip>
              <a:stretch>
                <a:fillRect l="0" t="-75648" r="0" b="-75648"/>
              </a:stretch>
            </a:blipFill>
          </p:spPr>
        </p:sp>
        <p:sp>
          <p:nvSpPr>
            <p:cNvPr name="TextBox 50" id="50"/>
            <p:cNvSpPr txBox="true"/>
            <p:nvPr/>
          </p:nvSpPr>
          <p:spPr>
            <a:xfrm>
              <a:off x="0" y="-9525"/>
              <a:ext cx="4324096"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Funding gap  4</a:t>
              </a:r>
            </a:p>
          </p:txBody>
        </p:sp>
      </p:grpSp>
      <p:grpSp>
        <p:nvGrpSpPr>
          <p:cNvPr name="Group 51" id="51"/>
          <p:cNvGrpSpPr/>
          <p:nvPr/>
        </p:nvGrpSpPr>
        <p:grpSpPr>
          <a:xfrm rot="0">
            <a:off x="626174" y="5603589"/>
            <a:ext cx="5502021" cy="1426845"/>
            <a:chOff x="0" y="0"/>
            <a:chExt cx="7336028" cy="1902460"/>
          </a:xfrm>
        </p:grpSpPr>
        <p:sp>
          <p:nvSpPr>
            <p:cNvPr name="Freeform 52" id="52"/>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53" id="53"/>
          <p:cNvGrpSpPr/>
          <p:nvPr/>
        </p:nvGrpSpPr>
        <p:grpSpPr>
          <a:xfrm rot="0">
            <a:off x="630936" y="5608352"/>
            <a:ext cx="73152" cy="1417320"/>
            <a:chOff x="0" y="0"/>
            <a:chExt cx="97536" cy="1889760"/>
          </a:xfrm>
        </p:grpSpPr>
        <p:sp>
          <p:nvSpPr>
            <p:cNvPr name="Freeform 54" id="54"/>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55" id="55"/>
          <p:cNvSpPr txBox="true"/>
          <p:nvPr/>
        </p:nvSpPr>
        <p:spPr>
          <a:xfrm rot="0">
            <a:off x="950976" y="5708555"/>
            <a:ext cx="1463040" cy="74104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6</a:t>
            </a:r>
          </a:p>
        </p:txBody>
      </p:sp>
      <p:sp>
        <p:nvSpPr>
          <p:cNvPr name="TextBox 56" id="56"/>
          <p:cNvSpPr txBox="true"/>
          <p:nvPr/>
        </p:nvSpPr>
        <p:spPr>
          <a:xfrm rot="0">
            <a:off x="2322576"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Onboarded  (28.6%)</a:t>
            </a:r>
          </a:p>
        </p:txBody>
      </p:sp>
      <p:sp>
        <p:nvSpPr>
          <p:cNvPr name="TextBox 57" id="57"/>
          <p:cNvSpPr txBox="true"/>
          <p:nvPr/>
        </p:nvSpPr>
        <p:spPr>
          <a:xfrm rot="0">
            <a:off x="2322576"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Completed onboarding after the call</a:t>
            </a:r>
          </a:p>
        </p:txBody>
      </p:sp>
      <p:grpSp>
        <p:nvGrpSpPr>
          <p:cNvPr name="Group 58" id="58"/>
          <p:cNvGrpSpPr/>
          <p:nvPr/>
        </p:nvGrpSpPr>
        <p:grpSpPr>
          <a:xfrm rot="0">
            <a:off x="6392990" y="5603589"/>
            <a:ext cx="5502021" cy="1426845"/>
            <a:chOff x="0" y="0"/>
            <a:chExt cx="7336028" cy="1902460"/>
          </a:xfrm>
        </p:grpSpPr>
        <p:sp>
          <p:nvSpPr>
            <p:cNvPr name="Freeform 59" id="59"/>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0" id="60"/>
          <p:cNvGrpSpPr/>
          <p:nvPr/>
        </p:nvGrpSpPr>
        <p:grpSpPr>
          <a:xfrm rot="0">
            <a:off x="6397752" y="5608352"/>
            <a:ext cx="73152" cy="1417320"/>
            <a:chOff x="0" y="0"/>
            <a:chExt cx="97536" cy="1889760"/>
          </a:xfrm>
        </p:grpSpPr>
        <p:sp>
          <p:nvSpPr>
            <p:cNvPr name="Freeform 61" id="61"/>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62" id="62"/>
          <p:cNvSpPr txBox="true"/>
          <p:nvPr/>
        </p:nvSpPr>
        <p:spPr>
          <a:xfrm rot="0">
            <a:off x="6717792" y="5708555"/>
            <a:ext cx="1463040" cy="74104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11</a:t>
            </a:r>
          </a:p>
        </p:txBody>
      </p:sp>
      <p:sp>
        <p:nvSpPr>
          <p:cNvPr name="TextBox 63" id="63"/>
          <p:cNvSpPr txBox="true"/>
          <p:nvPr/>
        </p:nvSpPr>
        <p:spPr>
          <a:xfrm rot="0">
            <a:off x="8089392"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Not onboarded  (52.4%)</a:t>
            </a:r>
          </a:p>
        </p:txBody>
      </p:sp>
      <p:sp>
        <p:nvSpPr>
          <p:cNvPr name="TextBox 64" id="64"/>
          <p:cNvSpPr txBox="true"/>
          <p:nvPr/>
        </p:nvSpPr>
        <p:spPr>
          <a:xfrm rot="0">
            <a:off x="8089392"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KYC or documents not finished</a:t>
            </a:r>
          </a:p>
        </p:txBody>
      </p:sp>
      <p:grpSp>
        <p:nvGrpSpPr>
          <p:cNvPr name="Group 65" id="65"/>
          <p:cNvGrpSpPr/>
          <p:nvPr/>
        </p:nvGrpSpPr>
        <p:grpSpPr>
          <a:xfrm rot="0">
            <a:off x="12159805" y="5603589"/>
            <a:ext cx="5502021" cy="1426845"/>
            <a:chOff x="0" y="0"/>
            <a:chExt cx="7336028" cy="1902460"/>
          </a:xfrm>
        </p:grpSpPr>
        <p:sp>
          <p:nvSpPr>
            <p:cNvPr name="Freeform 66" id="66"/>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7" id="67"/>
          <p:cNvGrpSpPr/>
          <p:nvPr/>
        </p:nvGrpSpPr>
        <p:grpSpPr>
          <a:xfrm rot="0">
            <a:off x="12164568" y="5608352"/>
            <a:ext cx="73152" cy="1417320"/>
            <a:chOff x="0" y="0"/>
            <a:chExt cx="97536" cy="1889760"/>
          </a:xfrm>
        </p:grpSpPr>
        <p:sp>
          <p:nvSpPr>
            <p:cNvPr name="Freeform 68" id="68"/>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69" id="69"/>
          <p:cNvSpPr txBox="true"/>
          <p:nvPr/>
        </p:nvSpPr>
        <p:spPr>
          <a:xfrm rot="0">
            <a:off x="12484608" y="5708555"/>
            <a:ext cx="1463040" cy="74104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4</a:t>
            </a:r>
          </a:p>
        </p:txBody>
      </p:sp>
      <p:sp>
        <p:nvSpPr>
          <p:cNvPr name="TextBox 70" id="70"/>
          <p:cNvSpPr txBox="true"/>
          <p:nvPr/>
        </p:nvSpPr>
        <p:spPr>
          <a:xfrm rot="0">
            <a:off x="13856208"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Funding gap  (19.0%)</a:t>
            </a:r>
          </a:p>
        </p:txBody>
      </p:sp>
      <p:sp>
        <p:nvSpPr>
          <p:cNvPr name="TextBox 71" id="71"/>
          <p:cNvSpPr txBox="true"/>
          <p:nvPr/>
        </p:nvSpPr>
        <p:spPr>
          <a:xfrm rot="0">
            <a:off x="13856208" y="6238907"/>
            <a:ext cx="3572256" cy="42862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Onboarded, not yet funded: need support to fund</a:t>
            </a:r>
          </a:p>
        </p:txBody>
      </p:sp>
      <p:sp>
        <p:nvSpPr>
          <p:cNvPr name="TextBox 72" id="72"/>
          <p:cNvSpPr txBox="true"/>
          <p:nvPr/>
        </p:nvSpPr>
        <p:spPr>
          <a:xfrm rot="0">
            <a:off x="630936" y="7828661"/>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SUMMARY</a:t>
            </a:r>
          </a:p>
        </p:txBody>
      </p:sp>
      <p:sp>
        <p:nvSpPr>
          <p:cNvPr name="TextBox 73" id="73"/>
          <p:cNvSpPr txBox="true"/>
          <p:nvPr/>
        </p:nvSpPr>
        <p:spPr>
          <a:xfrm rot="0">
            <a:off x="630936" y="8182991"/>
            <a:ext cx="17026128" cy="1075309"/>
          </a:xfrm>
          <a:prstGeom prst="rect">
            <a:avLst/>
          </a:prstGeom>
        </p:spPr>
        <p:txBody>
          <a:bodyPr anchor="t" rtlCol="false" tIns="0" lIns="0" bIns="0" rIns="0">
            <a:spAutoFit/>
          </a:bodyPr>
          <a:lstStyle/>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Out of 21 clients called, 6 completed onboarding (28.6%). </a:t>
            </a:r>
            <a:r>
              <a:rPr lang="en-US" sz="1899">
                <a:solidFill>
                  <a:srgbClr val="5A6A85"/>
                </a:solidFill>
                <a:latin typeface="Exo 2"/>
                <a:ea typeface="Exo 2"/>
                <a:cs typeface="Exo 2"/>
                <a:sym typeface="Exo 2"/>
              </a:rPr>
              <a:t>15 are still pending: 11 have not finished onboarding and 4 are onboarded but have not funded yet.</a:t>
            </a:r>
          </a:p>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Call results in the tracker: </a:t>
            </a:r>
            <a:r>
              <a:rPr lang="en-US" sz="1899">
                <a:solidFill>
                  <a:srgbClr val="5A6A85"/>
                </a:solidFill>
                <a:latin typeface="Exo 2"/>
                <a:ea typeface="Exo 2"/>
                <a:cs typeface="Exo 2"/>
                <a:sym typeface="Exo 2"/>
              </a:rPr>
              <a:t>12 reached, 2 no answer, 7 not yet logged. Email (72) and WhatsApp (4) cover clients we could not reach by phone.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850" y="564284"/>
            <a:ext cx="13164593" cy="928831"/>
            <a:chOff x="0" y="0"/>
            <a:chExt cx="17552791" cy="1238442"/>
          </a:xfrm>
        </p:grpSpPr>
        <p:sp>
          <p:nvSpPr>
            <p:cNvPr name="Freeform 3" id="3"/>
            <p:cNvSpPr/>
            <p:nvPr/>
          </p:nvSpPr>
          <p:spPr>
            <a:xfrm flipH="false" flipV="false" rot="0">
              <a:off x="0" y="0"/>
              <a:ext cx="17552791" cy="1238442"/>
            </a:xfrm>
            <a:custGeom>
              <a:avLst/>
              <a:gdLst/>
              <a:ahLst/>
              <a:cxnLst/>
              <a:rect r="r" b="b" t="t" l="l"/>
              <a:pathLst>
                <a:path h="1238442" w="17552791">
                  <a:moveTo>
                    <a:pt x="0" y="0"/>
                  </a:moveTo>
                  <a:lnTo>
                    <a:pt x="17552791" y="0"/>
                  </a:lnTo>
                  <a:lnTo>
                    <a:pt x="17552791" y="1238442"/>
                  </a:lnTo>
                  <a:lnTo>
                    <a:pt x="0" y="1238442"/>
                  </a:lnTo>
                  <a:close/>
                </a:path>
              </a:pathLst>
            </a:custGeom>
            <a:blipFill>
              <a:blip r:embed="rId2">
                <a:alphaModFix amt="0"/>
              </a:blip>
              <a:stretch>
                <a:fillRect l="0" t="-220566" r="6230" b="-197355"/>
              </a:stretch>
            </a:blipFill>
          </p:spPr>
        </p:sp>
        <p:sp>
          <p:nvSpPr>
            <p:cNvPr name="TextBox 4" id="4"/>
            <p:cNvSpPr txBox="true"/>
            <p:nvPr/>
          </p:nvSpPr>
          <p:spPr>
            <a:xfrm>
              <a:off x="0" y="-9525"/>
              <a:ext cx="17552791" cy="1247967"/>
            </a:xfrm>
            <a:prstGeom prst="rect">
              <a:avLst/>
            </a:prstGeom>
          </p:spPr>
          <p:txBody>
            <a:bodyPr anchor="ctr" rtlCol="false" tIns="0" lIns="0" bIns="0" rIns="0"/>
            <a:lstStyle/>
            <a:p>
              <a:pPr algn="l" marL="0" indent="0" lvl="0">
                <a:lnSpc>
                  <a:spcPts val="5280"/>
                </a:lnSpc>
                <a:spcBef>
                  <a:spcPct val="0"/>
                </a:spcBef>
              </a:pPr>
              <a:r>
                <a:rPr lang="en-US" b="true" sz="44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Client Feedback and Next Steps</a:t>
              </a:r>
            </a:p>
          </p:txBody>
        </p:sp>
      </p:grpSp>
      <p:grpSp>
        <p:nvGrpSpPr>
          <p:cNvPr name="Group 5" id="5"/>
          <p:cNvGrpSpPr/>
          <p:nvPr/>
        </p:nvGrpSpPr>
        <p:grpSpPr>
          <a:xfrm rot="0">
            <a:off x="470535" y="648843"/>
            <a:ext cx="115062" cy="732282"/>
            <a:chOff x="0" y="0"/>
            <a:chExt cx="153416" cy="976376"/>
          </a:xfrm>
        </p:grpSpPr>
        <p:sp>
          <p:nvSpPr>
            <p:cNvPr name="Freeform 6" id="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7" id="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
        <p:nvSpPr>
          <p:cNvPr name="Freeform 8" id="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sp>
        <p:nvSpPr>
          <p:cNvPr name="TextBox 10" id="10"/>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WHAT CLIENTS TOLD US AND WHAT WE DO NEXT</a:t>
            </a:r>
          </a:p>
        </p:txBody>
      </p:sp>
      <p:grpSp>
        <p:nvGrpSpPr>
          <p:cNvPr name="Group 11" id="11"/>
          <p:cNvGrpSpPr/>
          <p:nvPr/>
        </p:nvGrpSpPr>
        <p:grpSpPr>
          <a:xfrm rot="0">
            <a:off x="626174" y="2052638"/>
            <a:ext cx="8376285" cy="6916155"/>
            <a:chOff x="0" y="0"/>
            <a:chExt cx="11168380" cy="9221539"/>
          </a:xfrm>
        </p:grpSpPr>
        <p:sp>
          <p:nvSpPr>
            <p:cNvPr name="Freeform 12" id="12"/>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3" id="13"/>
          <p:cNvSpPr txBox="true"/>
          <p:nvPr/>
        </p:nvSpPr>
        <p:spPr>
          <a:xfrm rot="0">
            <a:off x="914400"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 FEEDBACK</a:t>
            </a:r>
          </a:p>
        </p:txBody>
      </p:sp>
      <p:sp>
        <p:nvSpPr>
          <p:cNvPr name="TextBox 14" id="14"/>
          <p:cNvSpPr txBox="true"/>
          <p:nvPr/>
        </p:nvSpPr>
        <p:spPr>
          <a:xfrm rot="0">
            <a:off x="914400" y="2382392"/>
            <a:ext cx="7818120" cy="6309362"/>
          </a:xfrm>
          <a:prstGeom prst="rect">
            <a:avLst/>
          </a:prstGeom>
        </p:spPr>
        <p:txBody>
          <a:bodyPr anchor="t" rtlCol="false" tIns="0" lIns="0" bIns="0" rIns="0">
            <a:spAutoFit/>
          </a:bodyPr>
          <a:lstStyle/>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Missing documents: </a:t>
            </a:r>
            <a:r>
              <a:rPr lang="en-US" sz="2099">
                <a:solidFill>
                  <a:srgbClr val="5A6A85"/>
                </a:solidFill>
                <a:latin typeface="Exo 2"/>
                <a:ea typeface="Exo 2"/>
                <a:cs typeface="Exo 2"/>
                <a:sym typeface="Exo 2"/>
              </a:rPr>
              <a:t>many clients don't have their KYC documents ready at registration, which causes delays or drop-off.</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KYC feels too long: </a:t>
            </a:r>
            <a:r>
              <a:rPr lang="en-US" sz="2099">
                <a:solidFill>
                  <a:srgbClr val="5A6A85"/>
                </a:solidFill>
                <a:latin typeface="Exo 2"/>
                <a:ea typeface="Exo 2"/>
                <a:cs typeface="Exo 2"/>
                <a:sym typeface="Exo 2"/>
              </a:rPr>
              <a:t>verification takes longer than clients expect, and some stop halfway.</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Fees: </a:t>
            </a:r>
            <a:r>
              <a:rPr lang="en-US" sz="2099">
                <a:solidFill>
                  <a:srgbClr val="5A6A85"/>
                </a:solidFill>
                <a:latin typeface="Exo 2"/>
                <a:ea typeface="Exo 2"/>
                <a:cs typeface="Exo 2"/>
                <a:sym typeface="Exo 2"/>
              </a:rPr>
              <a:t>clients asked about our commissions and fees.</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Deposits: </a:t>
            </a:r>
            <a:r>
              <a:rPr lang="en-US" sz="2099">
                <a:solidFill>
                  <a:srgbClr val="5A6A85"/>
                </a:solidFill>
                <a:latin typeface="Exo 2"/>
                <a:ea typeface="Exo 2"/>
                <a:cs typeface="Exo 2"/>
                <a:sym typeface="Exo 2"/>
              </a:rPr>
              <a:t>several clients asked how to deposit by bank transfer.</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Funding gap: </a:t>
            </a:r>
            <a:r>
              <a:rPr lang="en-US" sz="2099">
                <a:solidFill>
                  <a:srgbClr val="5A6A85"/>
                </a:solidFill>
                <a:latin typeface="Exo 2"/>
                <a:ea typeface="Exo 2"/>
                <a:cs typeface="Exo 2"/>
                <a:sym typeface="Exo 2"/>
              </a:rPr>
              <a:t>4 onboarded clients need support to fund. One asked about fees; two said they will fund soon.</a:t>
            </a:r>
          </a:p>
        </p:txBody>
      </p:sp>
      <p:grpSp>
        <p:nvGrpSpPr>
          <p:cNvPr name="Group 15" id="15"/>
          <p:cNvGrpSpPr/>
          <p:nvPr/>
        </p:nvGrpSpPr>
        <p:grpSpPr>
          <a:xfrm rot="0">
            <a:off x="9285542" y="2052638"/>
            <a:ext cx="8376285" cy="6916155"/>
            <a:chOff x="0" y="0"/>
            <a:chExt cx="11168380" cy="9221539"/>
          </a:xfrm>
        </p:grpSpPr>
        <p:sp>
          <p:nvSpPr>
            <p:cNvPr name="Freeform 16" id="16"/>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7" id="17"/>
          <p:cNvSpPr txBox="true"/>
          <p:nvPr/>
        </p:nvSpPr>
        <p:spPr>
          <a:xfrm rot="0">
            <a:off x="9573768"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PROPOSED NEXT STEPS, BY GROUP</a:t>
            </a:r>
          </a:p>
        </p:txBody>
      </p:sp>
      <p:grpSp>
        <p:nvGrpSpPr>
          <p:cNvPr name="Group 18" id="18"/>
          <p:cNvGrpSpPr/>
          <p:nvPr/>
        </p:nvGrpSpPr>
        <p:grpSpPr>
          <a:xfrm rot="0">
            <a:off x="9569005" y="3002280"/>
            <a:ext cx="7809357" cy="1426845"/>
            <a:chOff x="0" y="0"/>
            <a:chExt cx="10412476" cy="1902460"/>
          </a:xfrm>
        </p:grpSpPr>
        <p:grpSp>
          <p:nvGrpSpPr>
            <p:cNvPr name="Group 19" id="19"/>
            <p:cNvGrpSpPr/>
            <p:nvPr/>
          </p:nvGrpSpPr>
          <p:grpSpPr>
            <a:xfrm rot="0">
              <a:off x="0" y="0"/>
              <a:ext cx="10412476" cy="1902460"/>
              <a:chOff x="0" y="0"/>
              <a:chExt cx="10412476" cy="1902460"/>
            </a:xfrm>
          </p:grpSpPr>
          <p:sp>
            <p:nvSpPr>
              <p:cNvPr name="Freeform 20" id="20"/>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1" id="21"/>
            <p:cNvGrpSpPr/>
            <p:nvPr/>
          </p:nvGrpSpPr>
          <p:grpSpPr>
            <a:xfrm rot="0">
              <a:off x="6350" y="6350"/>
              <a:ext cx="97536" cy="1889760"/>
              <a:chOff x="0" y="0"/>
              <a:chExt cx="97536" cy="1889760"/>
            </a:xfrm>
          </p:grpSpPr>
          <p:sp>
            <p:nvSpPr>
              <p:cNvPr name="Freeform 22" id="22"/>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23" id="23"/>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3C61B6"/>
                  </a:solidFill>
                  <a:latin typeface="Exo 2 Bold"/>
                  <a:ea typeface="Exo 2 Bold"/>
                  <a:cs typeface="Exo 2 Bold"/>
                  <a:sym typeface="Exo 2 Bold"/>
                </a:rPr>
                <a:t>Funding gap (4)</a:t>
              </a:r>
            </a:p>
          </p:txBody>
        </p:sp>
        <p:sp>
          <p:nvSpPr>
            <p:cNvPr name="TextBox 24" id="24"/>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Send the fee schedule and bank transfer steps, then a follow-up call.</a:t>
              </a:r>
            </a:p>
          </p:txBody>
        </p:sp>
      </p:grpSp>
      <p:grpSp>
        <p:nvGrpSpPr>
          <p:cNvPr name="Group 25" id="25"/>
          <p:cNvGrpSpPr/>
          <p:nvPr/>
        </p:nvGrpSpPr>
        <p:grpSpPr>
          <a:xfrm rot="0">
            <a:off x="9569006" y="5164979"/>
            <a:ext cx="7809357" cy="1426845"/>
            <a:chOff x="0" y="0"/>
            <a:chExt cx="10412476" cy="1902460"/>
          </a:xfrm>
        </p:grpSpPr>
        <p:grpSp>
          <p:nvGrpSpPr>
            <p:cNvPr name="Group 26" id="26"/>
            <p:cNvGrpSpPr/>
            <p:nvPr/>
          </p:nvGrpSpPr>
          <p:grpSpPr>
            <a:xfrm rot="0">
              <a:off x="0" y="0"/>
              <a:ext cx="10412476" cy="1902460"/>
              <a:chOff x="0" y="0"/>
              <a:chExt cx="10412476" cy="1902460"/>
            </a:xfrm>
          </p:grpSpPr>
          <p:sp>
            <p:nvSpPr>
              <p:cNvPr name="Freeform 27" id="27"/>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8" id="28"/>
            <p:cNvGrpSpPr/>
            <p:nvPr/>
          </p:nvGrpSpPr>
          <p:grpSpPr>
            <a:xfrm rot="0">
              <a:off x="6350" y="6350"/>
              <a:ext cx="97536" cy="1889760"/>
              <a:chOff x="0" y="0"/>
              <a:chExt cx="97536" cy="1889760"/>
            </a:xfrm>
          </p:grpSpPr>
          <p:sp>
            <p:nvSpPr>
              <p:cNvPr name="Freeform 29" id="29"/>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30" id="30"/>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D98C1F"/>
                  </a:solidFill>
                  <a:latin typeface="Exo 2 Bold"/>
                  <a:ea typeface="Exo 2 Bold"/>
                  <a:cs typeface="Exo 2 Bold"/>
                  <a:sym typeface="Exo 2 Bold"/>
                </a:rPr>
                <a:t>Not onboarded (11)</a:t>
              </a:r>
            </a:p>
          </p:txBody>
        </p:sp>
        <p:sp>
          <p:nvSpPr>
            <p:cNvPr name="TextBox 31" id="31"/>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Onboarding email with the document checklist, then a second call on day 3.</a:t>
              </a:r>
            </a:p>
          </p:txBody>
        </p:sp>
      </p:grpSp>
      <p:grpSp>
        <p:nvGrpSpPr>
          <p:cNvPr name="Group 32" id="32"/>
          <p:cNvGrpSpPr/>
          <p:nvPr/>
        </p:nvGrpSpPr>
        <p:grpSpPr>
          <a:xfrm rot="0">
            <a:off x="9569006" y="7327678"/>
            <a:ext cx="7809357" cy="1426845"/>
            <a:chOff x="0" y="0"/>
            <a:chExt cx="10412476" cy="1902460"/>
          </a:xfrm>
        </p:grpSpPr>
        <p:grpSp>
          <p:nvGrpSpPr>
            <p:cNvPr name="Group 33" id="33"/>
            <p:cNvGrpSpPr/>
            <p:nvPr/>
          </p:nvGrpSpPr>
          <p:grpSpPr>
            <a:xfrm rot="0">
              <a:off x="0" y="0"/>
              <a:ext cx="10412476" cy="1902460"/>
              <a:chOff x="0" y="0"/>
              <a:chExt cx="10412476" cy="1902460"/>
            </a:xfrm>
          </p:grpSpPr>
          <p:sp>
            <p:nvSpPr>
              <p:cNvPr name="Freeform 34" id="34"/>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35" id="35"/>
            <p:cNvGrpSpPr/>
            <p:nvPr/>
          </p:nvGrpSpPr>
          <p:grpSpPr>
            <a:xfrm rot="0">
              <a:off x="6350" y="6350"/>
              <a:ext cx="97536" cy="1889760"/>
              <a:chOff x="0" y="0"/>
              <a:chExt cx="97536" cy="1889760"/>
            </a:xfrm>
          </p:grpSpPr>
          <p:sp>
            <p:nvSpPr>
              <p:cNvPr name="Freeform 36" id="36"/>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37" id="37"/>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1E9E6B"/>
                  </a:solidFill>
                  <a:latin typeface="Exo 2 Bold"/>
                  <a:ea typeface="Exo 2 Bold"/>
                  <a:cs typeface="Exo 2 Bold"/>
                  <a:sym typeface="Exo 2 Bold"/>
                </a:rPr>
                <a:t>Onboarded (6)</a:t>
              </a:r>
            </a:p>
          </p:txBody>
        </p:sp>
        <p:sp>
          <p:nvSpPr>
            <p:cNvPr name="TextBox 38" id="38"/>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Guide the first deposit by bank transfer so the account gets funded.</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Marketing</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56083"/>
            <a:chOff x="0" y="0"/>
            <a:chExt cx="24408790" cy="74778"/>
          </a:xfrm>
        </p:grpSpPr>
        <p:sp>
          <p:nvSpPr>
            <p:cNvPr name="Freeform 5" id="5"/>
            <p:cNvSpPr/>
            <p:nvPr/>
          </p:nvSpPr>
          <p:spPr>
            <a:xfrm flipH="false" flipV="false" rot="0">
              <a:off x="0" y="0"/>
              <a:ext cx="24408764" cy="74803"/>
            </a:xfrm>
            <a:custGeom>
              <a:avLst/>
              <a:gdLst/>
              <a:ahLst/>
              <a:cxnLst/>
              <a:rect r="r" b="b" t="t" l="l"/>
              <a:pathLst>
                <a:path h="74803" w="24408764">
                  <a:moveTo>
                    <a:pt x="0" y="0"/>
                  </a:moveTo>
                  <a:lnTo>
                    <a:pt x="24408764" y="0"/>
                  </a:lnTo>
                  <a:lnTo>
                    <a:pt x="24408764" y="74803"/>
                  </a:lnTo>
                  <a:lnTo>
                    <a:pt x="0" y="74803"/>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283845"/>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 EFFORTS</a:t>
            </a:r>
          </a:p>
        </p:txBody>
      </p:sp>
      <p:grpSp>
        <p:nvGrpSpPr>
          <p:cNvPr name="Group 7" id="7"/>
          <p:cNvGrpSpPr/>
          <p:nvPr/>
        </p:nvGrpSpPr>
        <p:grpSpPr>
          <a:xfrm rot="0">
            <a:off x="850392" y="713232"/>
            <a:ext cx="13990320" cy="1124712"/>
            <a:chOff x="0" y="0"/>
            <a:chExt cx="18653760" cy="1499616"/>
          </a:xfrm>
        </p:grpSpPr>
        <p:sp>
          <p:nvSpPr>
            <p:cNvPr name="Freeform 8" id="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9" id="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September: paid media went into testing, two campaigns are live and four creator videos are out</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2" id="12"/>
          <p:cNvGrpSpPr/>
          <p:nvPr/>
        </p:nvGrpSpPr>
        <p:grpSpPr>
          <a:xfrm rot="0">
            <a:off x="15910560" y="9505188"/>
            <a:ext cx="1536192" cy="548640"/>
            <a:chOff x="0" y="0"/>
            <a:chExt cx="2048256" cy="731520"/>
          </a:xfrm>
        </p:grpSpPr>
        <p:sp>
          <p:nvSpPr>
            <p:cNvPr name="Freeform 13" id="13"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aphicFrame>
        <p:nvGraphicFramePr>
          <p:cNvPr name="Table 14" id="14"/>
          <p:cNvGraphicFramePr>
            <a:graphicFrameLocks noGrp="true"/>
          </p:cNvGraphicFramePr>
          <p:nvPr/>
        </p:nvGraphicFramePr>
        <p:xfrm>
          <a:off x="955167" y="2696080"/>
          <a:ext cx="11963400" cy="6474035"/>
        </p:xfrm>
        <a:graphic>
          <a:graphicData uri="http://schemas.openxmlformats.org/drawingml/2006/table">
            <a:tbl>
              <a:tblPr/>
              <a:tblGrid>
                <a:gridCol w="3007941"/>
                <a:gridCol w="2790599"/>
                <a:gridCol w="3362007"/>
                <a:gridCol w="2802854"/>
              </a:tblGrid>
              <a:tr h="738509">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Effort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Status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Result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Next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r>
              <a:tr h="90355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LinkedIn Ads</a:t>
                      </a:r>
                      <a:endParaRPr lang="en-US" sz="1100"/>
                    </a:p>
                    <a:p>
                      <a:pPr algn="l">
                        <a:lnSpc>
                          <a:spcPts val="1620"/>
                        </a:lnSpc>
                      </a:pPr>
                      <a:r>
                        <a:rPr lang="en-US" sz="1350">
                          <a:solidFill>
                            <a:srgbClr val="7A849C"/>
                          </a:solidFill>
                          <a:latin typeface="Exo 2"/>
                          <a:ea typeface="Exo 2"/>
                          <a:cs typeface="Exo 2"/>
                          <a:sym typeface="Exo 2"/>
                        </a:rPr>
                        <a:t>Affluent lead generation,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C53030"/>
                          </a:solidFill>
                          <a:latin typeface="Exo 2"/>
                          <a:ea typeface="Exo 2"/>
                          <a:cs typeface="Exo 2"/>
                          <a:sym typeface="Exo 2"/>
                        </a:rPr>
                        <a:t>● </a:t>
                      </a:r>
                      <a:r>
                        <a:rPr lang="en-US" sz="1575" b="true">
                          <a:solidFill>
                            <a:srgbClr val="C53030"/>
                          </a:solidFill>
                          <a:latin typeface="Exo 2 Bold"/>
                          <a:ea typeface="Exo 2 Bold"/>
                          <a:cs typeface="Exo 2 Bold"/>
                          <a:sym typeface="Exo 2 Bold"/>
                        </a:rPr>
                        <a:t>Setup Process </a:t>
                      </a:r>
                      <a:r>
                        <a:rPr lang="en-US" sz="1575">
                          <a:solidFill>
                            <a:srgbClr val="1F2A44"/>
                          </a:solidFill>
                          <a:latin typeface="Exo 2"/>
                          <a:ea typeface="Exo 2"/>
                          <a:cs typeface="Exo 2"/>
                          <a:sym typeface="Exo 2"/>
                        </a:rPr>
                        <a:t>Requires 3 to 5 working days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No results reported yet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Leads and cost per lead,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1191502">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Google Ads</a:t>
                      </a:r>
                      <a:endParaRPr lang="en-US" sz="1100"/>
                    </a:p>
                    <a:p>
                      <a:pPr algn="l">
                        <a:lnSpc>
                          <a:spcPts val="1620"/>
                        </a:lnSpc>
                      </a:pPr>
                      <a:r>
                        <a:rPr lang="en-US" sz="1350">
                          <a:solidFill>
                            <a:srgbClr val="7A849C"/>
                          </a:solidFill>
                          <a:latin typeface="Exo 2"/>
                          <a:ea typeface="Exo 2"/>
                          <a:cs typeface="Exo 2"/>
                          <a:sym typeface="Exo 2"/>
                        </a:rPr>
                        <a:t>Starter and Emerging,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9A7B1F"/>
                          </a:solidFill>
                          <a:latin typeface="Exo 2"/>
                          <a:ea typeface="Exo 2"/>
                          <a:cs typeface="Exo 2"/>
                          <a:sym typeface="Exo 2"/>
                        </a:rPr>
                        <a:t>● </a:t>
                      </a:r>
                      <a:r>
                        <a:rPr lang="en-US" sz="1575" b="true">
                          <a:solidFill>
                            <a:srgbClr val="9A7B1F"/>
                          </a:solidFill>
                          <a:latin typeface="Exo 2 Bold"/>
                          <a:ea typeface="Exo 2 Bold"/>
                          <a:cs typeface="Exo 2 Bold"/>
                          <a:sym typeface="Exo 2 Bold"/>
                        </a:rPr>
                        <a:t>Testing</a:t>
                      </a:r>
                      <a:r>
                        <a:rPr lang="en-US" sz="1575">
                          <a:solidFill>
                            <a:srgbClr val="1F2A44"/>
                          </a:solidFill>
                          <a:latin typeface="Exo 2"/>
                          <a:ea typeface="Exo 2"/>
                          <a:cs typeface="Exo 2"/>
                          <a:sym typeface="Exo 2"/>
                        </a:rPr>
                        <a:t>  since 22 Sep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409 website sessions, 70% increase of September site traffic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Optimize and scale depending on best performing content and keywords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Mention &amp; Win</a:t>
                      </a:r>
                      <a:endParaRPr lang="en-US" sz="1100"/>
                    </a:p>
                    <a:p>
                      <a:pPr algn="l">
                        <a:lnSpc>
                          <a:spcPts val="1620"/>
                        </a:lnSpc>
                      </a:pPr>
                      <a:r>
                        <a:rPr lang="en-US" sz="1350">
                          <a:solidFill>
                            <a:srgbClr val="7A849C"/>
                          </a:solidFill>
                          <a:latin typeface="Exo 2"/>
                          <a:ea typeface="Exo 2"/>
                          <a:cs typeface="Exo 2"/>
                          <a:sym typeface="Exo 2"/>
                        </a:rPr>
                        <a:t>$500 monthly contest, GCC</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until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186K views on the campaign post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Entries and accounts opened</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$5,000 Prize Campaign</a:t>
                      </a:r>
                      <a:endParaRPr lang="en-US" sz="1100"/>
                    </a:p>
                    <a:p>
                      <a:pPr algn="l">
                        <a:lnSpc>
                          <a:spcPts val="1620"/>
                        </a:lnSpc>
                      </a:pPr>
                      <a:r>
                        <a:rPr lang="en-US" sz="1350">
                          <a:solidFill>
                            <a:srgbClr val="7A849C"/>
                          </a:solidFill>
                          <a:latin typeface="Exo 2"/>
                          <a:ea typeface="Exo 2"/>
                          <a:cs typeface="Exo 2"/>
                          <a:sym typeface="Exo 2"/>
                        </a:rPr>
                        <a:t>1 Aug to 31 Dec, draw 10 Jan</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pages up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Additional support content in early October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95320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Creator videos</a:t>
                      </a:r>
                      <a:endParaRPr lang="en-US" sz="1100"/>
                    </a:p>
                    <a:p>
                      <a:pPr algn="l">
                        <a:lnSpc>
                          <a:spcPts val="1620"/>
                        </a:lnSpc>
                      </a:pPr>
                      <a:r>
                        <a:rPr lang="en-US" sz="1350">
                          <a:solidFill>
                            <a:srgbClr val="7A849C"/>
                          </a:solidFill>
                          <a:latin typeface="Exo 2"/>
                          <a:ea typeface="Exo 2"/>
                          <a:cs typeface="Exo 2"/>
                          <a:sym typeface="Exo 2"/>
                        </a:rPr>
                        <a:t>one a month</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32257"/>
                          </a:solidFill>
                          <a:latin typeface="Exo 2"/>
                          <a:ea typeface="Exo 2"/>
                          <a:cs typeface="Exo 2"/>
                          <a:sym typeface="Exo 2"/>
                        </a:rPr>
                        <a:t>● </a:t>
                      </a:r>
                      <a:r>
                        <a:rPr lang="en-US" sz="1575" b="true">
                          <a:solidFill>
                            <a:srgbClr val="132257"/>
                          </a:solidFill>
                          <a:latin typeface="Exo 2 Bold"/>
                          <a:ea typeface="Exo 2 Bold"/>
                          <a:cs typeface="Exo 2 Bold"/>
                          <a:sym typeface="Exo 2 Bold"/>
                        </a:rPr>
                        <a:t>Posted</a:t>
                      </a:r>
                      <a:r>
                        <a:rPr lang="en-US" sz="1575">
                          <a:solidFill>
                            <a:srgbClr val="1F2A44"/>
                          </a:solidFill>
                          <a:latin typeface="Exo 2"/>
                          <a:ea typeface="Exo 2"/>
                          <a:cs typeface="Exo 2"/>
                          <a:sym typeface="Exo 2"/>
                        </a:rPr>
                        <a:t>  4 so far 3 left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5.3M and 1.3M views; Manal Talal 22 Oct, Hamed Al-Balooshi 20 Nov &amp; Ammar Alshaikh early Dec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Manal Talal’s Video</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Social channels</a:t>
                      </a:r>
                      <a:endParaRPr lang="en-US" sz="1100"/>
                    </a:p>
                    <a:p>
                      <a:pPr algn="l">
                        <a:lnSpc>
                          <a:spcPts val="1620"/>
                        </a:lnSpc>
                      </a:pPr>
                      <a:r>
                        <a:rPr lang="en-US" sz="1350">
                          <a:solidFill>
                            <a:srgbClr val="7A849C"/>
                          </a:solidFill>
                          <a:latin typeface="Exo 2"/>
                          <a:ea typeface="Exo 2"/>
                          <a:cs typeface="Exo 2"/>
                          <a:sym typeface="Exo 2"/>
                        </a:rPr>
                        <a:t>Instagram, LinkedIn, X, TikTok</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E9E6B"/>
                          </a:solidFill>
                          <a:latin typeface="Exo 2"/>
                          <a:ea typeface="Exo 2"/>
                          <a:cs typeface="Exo 2"/>
                          <a:sym typeface="Exo 2"/>
                        </a:rPr>
                        <a:t>● L</a:t>
                      </a:r>
                      <a:r>
                        <a:rPr lang="en-US" sz="1575">
                          <a:solidFill>
                            <a:srgbClr val="1E9E6B"/>
                          </a:solidFill>
                          <a:latin typeface="Exo 2"/>
                          <a:ea typeface="Exo 2"/>
                          <a:cs typeface="Exo 2"/>
                          <a:sym typeface="Exo 2"/>
                        </a:rPr>
                        <a:t>ive </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Followers: 2,116 / 531 / 738 / 15</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Increase focus on LinkedIn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bl>
          </a:graphicData>
        </a:graphic>
      </p:graphicFrame>
      <p:grpSp>
        <p:nvGrpSpPr>
          <p:cNvPr name="Group 15" id="15"/>
          <p:cNvGrpSpPr/>
          <p:nvPr/>
        </p:nvGrpSpPr>
        <p:grpSpPr>
          <a:xfrm rot="0">
            <a:off x="13331952" y="3132689"/>
            <a:ext cx="1851660" cy="2221992"/>
            <a:chOff x="0" y="0"/>
            <a:chExt cx="2468880" cy="2962656"/>
          </a:xfrm>
        </p:grpSpPr>
        <p:sp>
          <p:nvSpPr>
            <p:cNvPr name="Freeform 16" id="16" descr="/home/user/HatemIsa_202508993_IT9002_NLP_Project/emyaa-ceo-deck/working/charts/tile9_musheera.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7"/>
              <a:stretch>
                <a:fillRect l="0" t="-3620" r="0" b="-3620"/>
              </a:stretch>
            </a:blipFill>
          </p:spPr>
        </p:sp>
      </p:grpSp>
      <p:sp>
        <p:nvSpPr>
          <p:cNvPr name="TextBox 17" id="17"/>
          <p:cNvSpPr txBox="true"/>
          <p:nvPr/>
        </p:nvSpPr>
        <p:spPr>
          <a:xfrm rot="0">
            <a:off x="13194792" y="5400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Musheera</a:t>
            </a:r>
          </a:p>
          <a:p>
            <a:pPr algn="ctr">
              <a:lnSpc>
                <a:spcPts val="1620"/>
              </a:lnSpc>
            </a:pPr>
            <a:r>
              <a:rPr lang="en-US" sz="1350">
                <a:solidFill>
                  <a:srgbClr val="7A849C"/>
                </a:solidFill>
                <a:latin typeface="Exo 2"/>
                <a:ea typeface="Exo 2"/>
                <a:cs typeface="Exo 2"/>
                <a:sym typeface="Exo 2"/>
              </a:rPr>
              <a:t>5.3M</a:t>
            </a:r>
          </a:p>
        </p:txBody>
      </p:sp>
      <p:grpSp>
        <p:nvGrpSpPr>
          <p:cNvPr name="Group 18" id="18"/>
          <p:cNvGrpSpPr/>
          <p:nvPr/>
        </p:nvGrpSpPr>
        <p:grpSpPr>
          <a:xfrm rot="0">
            <a:off x="15457932" y="3132689"/>
            <a:ext cx="1851660" cy="2221992"/>
            <a:chOff x="0" y="0"/>
            <a:chExt cx="2468880" cy="2962656"/>
          </a:xfrm>
        </p:grpSpPr>
        <p:sp>
          <p:nvSpPr>
            <p:cNvPr name="Freeform 19" id="19" descr="/home/user/HatemIsa_202508993_IT9002_NLP_Project/emyaa-ceo-deck/working/charts/tile9_ali.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8"/>
              <a:stretch>
                <a:fillRect l="0" t="-3620" r="0" b="-3620"/>
              </a:stretch>
            </a:blipFill>
          </p:spPr>
        </p:sp>
      </p:grpSp>
      <p:sp>
        <p:nvSpPr>
          <p:cNvPr name="TextBox 20" id="20"/>
          <p:cNvSpPr txBox="true"/>
          <p:nvPr/>
        </p:nvSpPr>
        <p:spPr>
          <a:xfrm rot="0">
            <a:off x="15320772" y="5400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Ali Sabeel</a:t>
            </a:r>
          </a:p>
          <a:p>
            <a:pPr algn="ctr">
              <a:lnSpc>
                <a:spcPts val="1620"/>
              </a:lnSpc>
            </a:pPr>
            <a:r>
              <a:rPr lang="en-US" sz="1350">
                <a:solidFill>
                  <a:srgbClr val="7A849C"/>
                </a:solidFill>
                <a:latin typeface="Exo 2"/>
                <a:ea typeface="Exo 2"/>
                <a:cs typeface="Exo 2"/>
                <a:sym typeface="Exo 2"/>
              </a:rPr>
              <a:t>1.3M</a:t>
            </a:r>
          </a:p>
        </p:txBody>
      </p:sp>
      <p:grpSp>
        <p:nvGrpSpPr>
          <p:cNvPr name="Group 21" id="21"/>
          <p:cNvGrpSpPr/>
          <p:nvPr/>
        </p:nvGrpSpPr>
        <p:grpSpPr>
          <a:xfrm rot="0">
            <a:off x="13331952" y="6150209"/>
            <a:ext cx="1851660" cy="2221992"/>
            <a:chOff x="0" y="0"/>
            <a:chExt cx="2468880" cy="2962656"/>
          </a:xfrm>
        </p:grpSpPr>
        <p:sp>
          <p:nvSpPr>
            <p:cNvPr name="Freeform 22" id="22" descr="/home/user/HatemIsa_202508993_IT9002_NLP_Project/emyaa-ceo-deck/working/charts/tile9_abdulelah.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9"/>
              <a:stretch>
                <a:fillRect l="0" t="-3796" r="0" b="-3795"/>
              </a:stretch>
            </a:blipFill>
          </p:spPr>
        </p:sp>
      </p:grpSp>
      <p:sp>
        <p:nvSpPr>
          <p:cNvPr name="TextBox 23" id="23"/>
          <p:cNvSpPr txBox="true"/>
          <p:nvPr/>
        </p:nvSpPr>
        <p:spPr>
          <a:xfrm rot="0">
            <a:off x="13194792" y="841754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Abdulelah Al Harbi</a:t>
            </a:r>
          </a:p>
          <a:p>
            <a:pPr algn="ctr">
              <a:lnSpc>
                <a:spcPts val="1620"/>
              </a:lnSpc>
            </a:pPr>
            <a:r>
              <a:rPr lang="en-US" sz="1350">
                <a:solidFill>
                  <a:srgbClr val="7A849C"/>
                </a:solidFill>
                <a:latin typeface="Exo 2"/>
                <a:ea typeface="Exo 2"/>
                <a:cs typeface="Exo 2"/>
                <a:sym typeface="Exo 2"/>
              </a:rPr>
              <a:t>views pending</a:t>
            </a:r>
          </a:p>
        </p:txBody>
      </p:sp>
      <p:grpSp>
        <p:nvGrpSpPr>
          <p:cNvPr name="Group 24" id="24"/>
          <p:cNvGrpSpPr/>
          <p:nvPr/>
        </p:nvGrpSpPr>
        <p:grpSpPr>
          <a:xfrm rot="0">
            <a:off x="15457932" y="6150209"/>
            <a:ext cx="1851660" cy="2221992"/>
            <a:chOff x="0" y="0"/>
            <a:chExt cx="2468880" cy="2962656"/>
          </a:xfrm>
        </p:grpSpPr>
        <p:sp>
          <p:nvSpPr>
            <p:cNvPr name="Freeform 25" id="25" descr="/home/user/HatemIsa_202508993_IT9002_NLP_Project/emyaa-ceo-deck/working/charts/tile9_howto.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10"/>
              <a:stretch>
                <a:fillRect l="0" t="-3620" r="0" b="-3620"/>
              </a:stretch>
            </a:blipFill>
          </p:spPr>
        </p:sp>
      </p:grpSp>
      <p:sp>
        <p:nvSpPr>
          <p:cNvPr name="TextBox 26" id="26"/>
          <p:cNvSpPr txBox="true"/>
          <p:nvPr/>
        </p:nvSpPr>
        <p:spPr>
          <a:xfrm rot="0">
            <a:off x="15320772" y="841754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How-to, presenter</a:t>
            </a:r>
          </a:p>
          <a:p>
            <a:pPr algn="ctr">
              <a:lnSpc>
                <a:spcPts val="1620"/>
              </a:lnSpc>
            </a:pPr>
            <a:r>
              <a:rPr lang="en-US" sz="1350">
                <a:solidFill>
                  <a:srgbClr val="7A849C"/>
                </a:solidFill>
                <a:latin typeface="Exo 2"/>
                <a:ea typeface="Exo 2"/>
                <a:cs typeface="Exo 2"/>
                <a:sym typeface="Exo 2"/>
              </a:rPr>
              <a:t>332 views</a:t>
            </a:r>
          </a:p>
        </p:txBody>
      </p:sp>
      <p:sp>
        <p:nvSpPr>
          <p:cNvPr name="TextBox 27" id="27"/>
          <p:cNvSpPr txBox="true"/>
          <p:nvPr/>
        </p:nvSpPr>
        <p:spPr>
          <a:xfrm rot="0">
            <a:off x="13331952" y="2865989"/>
            <a:ext cx="3977640" cy="209550"/>
          </a:xfrm>
          <a:prstGeom prst="rect">
            <a:avLst/>
          </a:prstGeom>
        </p:spPr>
        <p:txBody>
          <a:bodyPr anchor="t" rtlCol="false" tIns="0" lIns="0" bIns="0" rIns="0">
            <a:spAutoFit/>
          </a:bodyPr>
          <a:lstStyle/>
          <a:p>
            <a:pPr algn="ctr">
              <a:lnSpc>
                <a:spcPts val="1620"/>
              </a:lnSpc>
            </a:pPr>
            <a:r>
              <a:rPr lang="en-US" b="true" sz="1350" spc="299">
                <a:solidFill>
                  <a:srgbClr val="9A7B1F"/>
                </a:solidFill>
                <a:latin typeface="Exo 2 Bold"/>
                <a:ea typeface="Exo 2 Bold"/>
                <a:cs typeface="Exo 2 Bold"/>
                <a:sym typeface="Exo 2 Bold"/>
              </a:rPr>
              <a:t>BEST PERFORMING REELS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56083"/>
            <a:chOff x="0" y="0"/>
            <a:chExt cx="24408790" cy="74778"/>
          </a:xfrm>
        </p:grpSpPr>
        <p:sp>
          <p:nvSpPr>
            <p:cNvPr name="Freeform 5" id="5"/>
            <p:cNvSpPr/>
            <p:nvPr/>
          </p:nvSpPr>
          <p:spPr>
            <a:xfrm flipH="false" flipV="false" rot="0">
              <a:off x="0" y="0"/>
              <a:ext cx="24408764" cy="74803"/>
            </a:xfrm>
            <a:custGeom>
              <a:avLst/>
              <a:gdLst/>
              <a:ahLst/>
              <a:cxnLst/>
              <a:rect r="r" b="b" t="t" l="l"/>
              <a:pathLst>
                <a:path h="74803" w="24408764">
                  <a:moveTo>
                    <a:pt x="0" y="0"/>
                  </a:moveTo>
                  <a:lnTo>
                    <a:pt x="24408764" y="0"/>
                  </a:lnTo>
                  <a:lnTo>
                    <a:pt x="24408764" y="74803"/>
                  </a:lnTo>
                  <a:lnTo>
                    <a:pt x="0" y="74803"/>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283845"/>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RESULTS</a:t>
            </a:r>
          </a:p>
        </p:txBody>
      </p:sp>
      <p:grpSp>
        <p:nvGrpSpPr>
          <p:cNvPr name="Group 7" id="7"/>
          <p:cNvGrpSpPr/>
          <p:nvPr/>
        </p:nvGrpSpPr>
        <p:grpSpPr>
          <a:xfrm rot="0">
            <a:off x="850392" y="713232"/>
            <a:ext cx="13990320" cy="1124712"/>
            <a:chOff x="0" y="0"/>
            <a:chExt cx="18653760" cy="1499616"/>
          </a:xfrm>
        </p:grpSpPr>
        <p:sp>
          <p:nvSpPr>
            <p:cNvPr name="Freeform 8" id="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9" id="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Paid search lifted traffic and downloads; onboarding did not follow yet</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2" id="12"/>
          <p:cNvGrpSpPr/>
          <p:nvPr/>
        </p:nvGrpSpPr>
        <p:grpSpPr>
          <a:xfrm rot="0">
            <a:off x="15910560" y="9505188"/>
            <a:ext cx="1536192" cy="548640"/>
            <a:chOff x="0" y="0"/>
            <a:chExt cx="2048256" cy="731520"/>
          </a:xfrm>
        </p:grpSpPr>
        <p:sp>
          <p:nvSpPr>
            <p:cNvPr name="Freeform 13" id="13"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4" id="14"/>
          <p:cNvGrpSpPr/>
          <p:nvPr/>
        </p:nvGrpSpPr>
        <p:grpSpPr>
          <a:xfrm rot="0">
            <a:off x="833714" y="2603157"/>
            <a:ext cx="5363528" cy="1797367"/>
            <a:chOff x="0" y="0"/>
            <a:chExt cx="7151370" cy="2396490"/>
          </a:xfrm>
        </p:grpSpPr>
        <p:sp>
          <p:nvSpPr>
            <p:cNvPr name="Freeform 15" id="15"/>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16" id="16"/>
          <p:cNvGrpSpPr/>
          <p:nvPr/>
        </p:nvGrpSpPr>
        <p:grpSpPr>
          <a:xfrm rot="0">
            <a:off x="831332" y="2600775"/>
            <a:ext cx="5368290" cy="67056"/>
            <a:chOff x="0" y="0"/>
            <a:chExt cx="7157720" cy="89408"/>
          </a:xfrm>
        </p:grpSpPr>
        <p:sp>
          <p:nvSpPr>
            <p:cNvPr name="Freeform 17" id="17"/>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18" id="18"/>
          <p:cNvGrpSpPr/>
          <p:nvPr/>
        </p:nvGrpSpPr>
        <p:grpSpPr>
          <a:xfrm rot="0">
            <a:off x="1156325" y="2857188"/>
            <a:ext cx="1783080" cy="1097280"/>
            <a:chOff x="0" y="0"/>
            <a:chExt cx="2377440" cy="1463040"/>
          </a:xfrm>
        </p:grpSpPr>
        <p:sp>
          <p:nvSpPr>
            <p:cNvPr name="Freeform 19" id="19"/>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0" id="20"/>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70%</a:t>
              </a:r>
            </a:p>
          </p:txBody>
        </p:sp>
      </p:grpSp>
      <p:sp>
        <p:nvSpPr>
          <p:cNvPr name="TextBox 21" id="21"/>
          <p:cNvSpPr txBox="true"/>
          <p:nvPr/>
        </p:nvSpPr>
        <p:spPr>
          <a:xfrm rot="0">
            <a:off x="2939405" y="2884620"/>
            <a:ext cx="3086100" cy="82296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of September site sessions came from Google Ads</a:t>
            </a:r>
          </a:p>
        </p:txBody>
      </p:sp>
      <p:sp>
        <p:nvSpPr>
          <p:cNvPr name="TextBox 22" id="22"/>
          <p:cNvSpPr txBox="true"/>
          <p:nvPr/>
        </p:nvSpPr>
        <p:spPr>
          <a:xfrm rot="0">
            <a:off x="2939405" y="3725487"/>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409 of 587 sessions, 1-28 Sep</a:t>
            </a:r>
          </a:p>
        </p:txBody>
      </p:sp>
      <p:grpSp>
        <p:nvGrpSpPr>
          <p:cNvPr name="Group 23" id="23"/>
          <p:cNvGrpSpPr/>
          <p:nvPr/>
        </p:nvGrpSpPr>
        <p:grpSpPr>
          <a:xfrm rot="0">
            <a:off x="833714" y="4619409"/>
            <a:ext cx="5363528" cy="1797367"/>
            <a:chOff x="0" y="0"/>
            <a:chExt cx="7151370" cy="2396490"/>
          </a:xfrm>
        </p:grpSpPr>
        <p:sp>
          <p:nvSpPr>
            <p:cNvPr name="Freeform 24" id="24"/>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25" id="25"/>
          <p:cNvGrpSpPr/>
          <p:nvPr/>
        </p:nvGrpSpPr>
        <p:grpSpPr>
          <a:xfrm rot="0">
            <a:off x="831332" y="4617027"/>
            <a:ext cx="5368290" cy="67056"/>
            <a:chOff x="0" y="0"/>
            <a:chExt cx="7157720" cy="89408"/>
          </a:xfrm>
        </p:grpSpPr>
        <p:sp>
          <p:nvSpPr>
            <p:cNvPr name="Freeform 26" id="26"/>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27" id="27"/>
          <p:cNvGrpSpPr/>
          <p:nvPr/>
        </p:nvGrpSpPr>
        <p:grpSpPr>
          <a:xfrm rot="0">
            <a:off x="1156325" y="4873440"/>
            <a:ext cx="1783080" cy="1097280"/>
            <a:chOff x="0" y="0"/>
            <a:chExt cx="2377440" cy="1463040"/>
          </a:xfrm>
        </p:grpSpPr>
        <p:sp>
          <p:nvSpPr>
            <p:cNvPr name="Freeform 28" id="28"/>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9" id="29"/>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+53</a:t>
              </a:r>
            </a:p>
          </p:txBody>
        </p:sp>
      </p:grpSp>
      <p:sp>
        <p:nvSpPr>
          <p:cNvPr name="TextBox 30" id="30"/>
          <p:cNvSpPr txBox="true"/>
          <p:nvPr/>
        </p:nvSpPr>
        <p:spPr>
          <a:xfrm rot="0">
            <a:off x="2939405" y="4900872"/>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app downloads in the eight days of Google Ads</a:t>
            </a:r>
          </a:p>
        </p:txBody>
      </p:sp>
      <p:sp>
        <p:nvSpPr>
          <p:cNvPr name="TextBox 31" id="31"/>
          <p:cNvSpPr txBox="true"/>
          <p:nvPr/>
        </p:nvSpPr>
        <p:spPr>
          <a:xfrm rot="0">
            <a:off x="2939405" y="5741739"/>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vs +14 the week before</a:t>
            </a:r>
          </a:p>
        </p:txBody>
      </p:sp>
      <p:grpSp>
        <p:nvGrpSpPr>
          <p:cNvPr name="Group 32" id="32"/>
          <p:cNvGrpSpPr/>
          <p:nvPr/>
        </p:nvGrpSpPr>
        <p:grpSpPr>
          <a:xfrm rot="0">
            <a:off x="833714" y="6635661"/>
            <a:ext cx="5363528" cy="1797367"/>
            <a:chOff x="0" y="0"/>
            <a:chExt cx="7151370" cy="2396490"/>
          </a:xfrm>
        </p:grpSpPr>
        <p:sp>
          <p:nvSpPr>
            <p:cNvPr name="Freeform 33" id="33"/>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34" id="34"/>
          <p:cNvGrpSpPr/>
          <p:nvPr/>
        </p:nvGrpSpPr>
        <p:grpSpPr>
          <a:xfrm rot="0">
            <a:off x="831332" y="6633279"/>
            <a:ext cx="5368290" cy="67056"/>
            <a:chOff x="0" y="0"/>
            <a:chExt cx="7157720" cy="89408"/>
          </a:xfrm>
        </p:grpSpPr>
        <p:sp>
          <p:nvSpPr>
            <p:cNvPr name="Freeform 35" id="35"/>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C53030"/>
            </a:solidFill>
            <a:ln w="19050" cap="sq">
              <a:solidFill>
                <a:srgbClr val="C53030"/>
              </a:solidFill>
              <a:prstDash val="solid"/>
              <a:miter/>
            </a:ln>
          </p:spPr>
        </p:sp>
      </p:grpSp>
      <p:grpSp>
        <p:nvGrpSpPr>
          <p:cNvPr name="Group 36" id="36"/>
          <p:cNvGrpSpPr/>
          <p:nvPr/>
        </p:nvGrpSpPr>
        <p:grpSpPr>
          <a:xfrm rot="0">
            <a:off x="1156325" y="6889692"/>
            <a:ext cx="1783080" cy="1097280"/>
            <a:chOff x="0" y="0"/>
            <a:chExt cx="2377440" cy="1463040"/>
          </a:xfrm>
        </p:grpSpPr>
        <p:sp>
          <p:nvSpPr>
            <p:cNvPr name="Freeform 37" id="37"/>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38" id="38"/>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C53030"/>
                  </a:solidFill>
                  <a:latin typeface="Exo 2 Bold"/>
                  <a:ea typeface="Exo 2 Bold"/>
                  <a:cs typeface="Exo 2 Bold"/>
                  <a:sym typeface="Exo 2 Bold"/>
                </a:rPr>
                <a:t>+4</a:t>
              </a:r>
            </a:p>
          </p:txBody>
        </p:sp>
      </p:grpSp>
      <p:sp>
        <p:nvSpPr>
          <p:cNvPr name="TextBox 39" id="39"/>
          <p:cNvSpPr txBox="true"/>
          <p:nvPr/>
        </p:nvSpPr>
        <p:spPr>
          <a:xfrm rot="0">
            <a:off x="2939405" y="6917124"/>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users onboarded in the same eight days of Google Ads</a:t>
            </a:r>
          </a:p>
        </p:txBody>
      </p:sp>
      <p:sp>
        <p:nvSpPr>
          <p:cNvPr name="TextBox 40" id="40"/>
          <p:cNvSpPr txBox="true"/>
          <p:nvPr/>
        </p:nvSpPr>
        <p:spPr>
          <a:xfrm rot="0">
            <a:off x="2939405" y="7757991"/>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61 onboarded, 15 funded, as of 29 Sep</a:t>
            </a:r>
          </a:p>
        </p:txBody>
      </p:sp>
      <p:sp>
        <p:nvSpPr>
          <p:cNvPr name="TextBox 41" id="41"/>
          <p:cNvSpPr txBox="true"/>
          <p:nvPr/>
        </p:nvSpPr>
        <p:spPr>
          <a:xfrm rot="0">
            <a:off x="6642725" y="2514288"/>
            <a:ext cx="1079449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Net new app downloads and onboarded users between dashboard dates</a:t>
            </a:r>
          </a:p>
        </p:txBody>
      </p:sp>
      <p:sp>
        <p:nvSpPr>
          <p:cNvPr name="AutoShape 42" id="42"/>
          <p:cNvSpPr/>
          <p:nvPr/>
        </p:nvSpPr>
        <p:spPr>
          <a:xfrm>
            <a:off x="6633199" y="7579677"/>
            <a:ext cx="10813544" cy="19062"/>
          </a:xfrm>
          <a:prstGeom prst="line">
            <a:avLst/>
          </a:prstGeom>
          <a:ln cap="rnd" w="9525">
            <a:solidFill>
              <a:srgbClr val="C6CFE4"/>
            </a:solidFill>
            <a:prstDash val="solid"/>
            <a:headEnd type="none" len="sm" w="sm"/>
            <a:tailEnd type="none" len="sm" w="sm"/>
          </a:ln>
        </p:spPr>
      </p:sp>
      <p:grpSp>
        <p:nvGrpSpPr>
          <p:cNvPr name="Group 43" id="43"/>
          <p:cNvGrpSpPr/>
          <p:nvPr/>
        </p:nvGrpSpPr>
        <p:grpSpPr>
          <a:xfrm rot="0">
            <a:off x="7173373" y="5344918"/>
            <a:ext cx="800757" cy="2253815"/>
            <a:chOff x="0" y="0"/>
            <a:chExt cx="1067676" cy="3005087"/>
          </a:xfrm>
        </p:grpSpPr>
        <p:sp>
          <p:nvSpPr>
            <p:cNvPr name="Freeform 44" id="44"/>
            <p:cNvSpPr/>
            <p:nvPr/>
          </p:nvSpPr>
          <p:spPr>
            <a:xfrm flipH="false" flipV="false" rot="0">
              <a:off x="0" y="0"/>
              <a:ext cx="1067689" cy="3005074"/>
            </a:xfrm>
            <a:custGeom>
              <a:avLst/>
              <a:gdLst/>
              <a:ahLst/>
              <a:cxnLst/>
              <a:rect r="r" b="b" t="t" l="l"/>
              <a:pathLst>
                <a:path h="3005074" w="1067689">
                  <a:moveTo>
                    <a:pt x="0" y="0"/>
                  </a:moveTo>
                  <a:lnTo>
                    <a:pt x="1067689" y="0"/>
                  </a:lnTo>
                  <a:lnTo>
                    <a:pt x="1067689" y="3005074"/>
                  </a:lnTo>
                  <a:lnTo>
                    <a:pt x="0" y="3005074"/>
                  </a:lnTo>
                  <a:close/>
                </a:path>
              </a:pathLst>
            </a:custGeom>
            <a:solidFill>
              <a:srgbClr val="132257"/>
            </a:solidFill>
            <a:ln w="19050" cap="sq">
              <a:solidFill>
                <a:srgbClr val="132257"/>
              </a:solidFill>
              <a:prstDash val="solid"/>
              <a:miter/>
            </a:ln>
          </p:spPr>
        </p:sp>
      </p:grpSp>
      <p:grpSp>
        <p:nvGrpSpPr>
          <p:cNvPr name="Group 45" id="45"/>
          <p:cNvGrpSpPr/>
          <p:nvPr/>
        </p:nvGrpSpPr>
        <p:grpSpPr>
          <a:xfrm rot="0">
            <a:off x="7018306" y="4942963"/>
            <a:ext cx="1110891" cy="384048"/>
            <a:chOff x="0" y="0"/>
            <a:chExt cx="1481188" cy="512064"/>
          </a:xfrm>
        </p:grpSpPr>
        <p:sp>
          <p:nvSpPr>
            <p:cNvPr name="Freeform 46" id="46"/>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47" id="47"/>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30</a:t>
              </a:r>
            </a:p>
          </p:txBody>
        </p:sp>
      </p:grpSp>
      <p:grpSp>
        <p:nvGrpSpPr>
          <p:cNvPr name="Group 48" id="48"/>
          <p:cNvGrpSpPr/>
          <p:nvPr/>
        </p:nvGrpSpPr>
        <p:grpSpPr>
          <a:xfrm rot="0">
            <a:off x="8009944" y="7505188"/>
            <a:ext cx="800757" cy="93545"/>
            <a:chOff x="0" y="0"/>
            <a:chExt cx="1067676" cy="124727"/>
          </a:xfrm>
        </p:grpSpPr>
        <p:sp>
          <p:nvSpPr>
            <p:cNvPr name="Freeform 49" id="49"/>
            <p:cNvSpPr/>
            <p:nvPr/>
          </p:nvSpPr>
          <p:spPr>
            <a:xfrm flipH="false" flipV="false" rot="0">
              <a:off x="0" y="0"/>
              <a:ext cx="1067689" cy="124714"/>
            </a:xfrm>
            <a:custGeom>
              <a:avLst/>
              <a:gdLst/>
              <a:ahLst/>
              <a:cxnLst/>
              <a:rect r="r" b="b" t="t" l="l"/>
              <a:pathLst>
                <a:path h="124714" w="1067689">
                  <a:moveTo>
                    <a:pt x="0" y="0"/>
                  </a:moveTo>
                  <a:lnTo>
                    <a:pt x="1067689" y="0"/>
                  </a:lnTo>
                  <a:lnTo>
                    <a:pt x="1067689" y="124714"/>
                  </a:lnTo>
                  <a:lnTo>
                    <a:pt x="0" y="124714"/>
                  </a:lnTo>
                  <a:close/>
                </a:path>
              </a:pathLst>
            </a:custGeom>
            <a:solidFill>
              <a:srgbClr val="1BA97C"/>
            </a:solidFill>
            <a:ln w="19050" cap="sq">
              <a:solidFill>
                <a:srgbClr val="1BA97C"/>
              </a:solidFill>
              <a:prstDash val="solid"/>
              <a:miter/>
            </a:ln>
          </p:spPr>
        </p:sp>
      </p:grpSp>
      <p:grpSp>
        <p:nvGrpSpPr>
          <p:cNvPr name="Group 50" id="50"/>
          <p:cNvGrpSpPr/>
          <p:nvPr/>
        </p:nvGrpSpPr>
        <p:grpSpPr>
          <a:xfrm rot="0">
            <a:off x="7854877" y="7103233"/>
            <a:ext cx="1110891" cy="384048"/>
            <a:chOff x="0" y="0"/>
            <a:chExt cx="1481188" cy="512064"/>
          </a:xfrm>
        </p:grpSpPr>
        <p:sp>
          <p:nvSpPr>
            <p:cNvPr name="Freeform 51" id="51"/>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2" id="52"/>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a:t>
              </a:r>
            </a:p>
          </p:txBody>
        </p:sp>
      </p:grpSp>
      <p:sp>
        <p:nvSpPr>
          <p:cNvPr name="TextBox 53" id="53"/>
          <p:cNvSpPr txBox="true"/>
          <p:nvPr/>
        </p:nvSpPr>
        <p:spPr>
          <a:xfrm rot="0">
            <a:off x="6642725" y="7698936"/>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1-8 Sep</a:t>
            </a:r>
          </a:p>
        </p:txBody>
      </p:sp>
      <p:grpSp>
        <p:nvGrpSpPr>
          <p:cNvPr name="Group 54" id="54"/>
          <p:cNvGrpSpPr/>
          <p:nvPr/>
        </p:nvGrpSpPr>
        <p:grpSpPr>
          <a:xfrm rot="0">
            <a:off x="9871996" y="6089840"/>
            <a:ext cx="800757" cy="1508893"/>
            <a:chOff x="0" y="0"/>
            <a:chExt cx="1067676" cy="2011858"/>
          </a:xfrm>
        </p:grpSpPr>
        <p:sp>
          <p:nvSpPr>
            <p:cNvPr name="Freeform 55" id="55"/>
            <p:cNvSpPr/>
            <p:nvPr/>
          </p:nvSpPr>
          <p:spPr>
            <a:xfrm flipH="false" flipV="false" rot="0">
              <a:off x="0" y="0"/>
              <a:ext cx="1067689" cy="2011807"/>
            </a:xfrm>
            <a:custGeom>
              <a:avLst/>
              <a:gdLst/>
              <a:ahLst/>
              <a:cxnLst/>
              <a:rect r="r" b="b" t="t" l="l"/>
              <a:pathLst>
                <a:path h="2011807" w="1067689">
                  <a:moveTo>
                    <a:pt x="0" y="0"/>
                  </a:moveTo>
                  <a:lnTo>
                    <a:pt x="1067689" y="0"/>
                  </a:lnTo>
                  <a:lnTo>
                    <a:pt x="1067689" y="2011807"/>
                  </a:lnTo>
                  <a:lnTo>
                    <a:pt x="0" y="2011807"/>
                  </a:lnTo>
                  <a:close/>
                </a:path>
              </a:pathLst>
            </a:custGeom>
            <a:solidFill>
              <a:srgbClr val="132257"/>
            </a:solidFill>
            <a:ln w="19050" cap="sq">
              <a:solidFill>
                <a:srgbClr val="132257"/>
              </a:solidFill>
              <a:prstDash val="solid"/>
              <a:miter/>
            </a:ln>
          </p:spPr>
        </p:sp>
      </p:grpSp>
      <p:grpSp>
        <p:nvGrpSpPr>
          <p:cNvPr name="Group 56" id="56"/>
          <p:cNvGrpSpPr/>
          <p:nvPr/>
        </p:nvGrpSpPr>
        <p:grpSpPr>
          <a:xfrm rot="0">
            <a:off x="9716929" y="5687885"/>
            <a:ext cx="1110891" cy="384048"/>
            <a:chOff x="0" y="0"/>
            <a:chExt cx="1481188" cy="512064"/>
          </a:xfrm>
        </p:grpSpPr>
        <p:sp>
          <p:nvSpPr>
            <p:cNvPr name="Freeform 57" id="57"/>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8" id="58"/>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20</a:t>
              </a:r>
            </a:p>
          </p:txBody>
        </p:sp>
      </p:grpSp>
      <p:grpSp>
        <p:nvGrpSpPr>
          <p:cNvPr name="Group 59" id="59"/>
          <p:cNvGrpSpPr/>
          <p:nvPr/>
        </p:nvGrpSpPr>
        <p:grpSpPr>
          <a:xfrm rot="0">
            <a:off x="10708567" y="7356208"/>
            <a:ext cx="800757" cy="242526"/>
            <a:chOff x="0" y="0"/>
            <a:chExt cx="1067676" cy="323367"/>
          </a:xfrm>
        </p:grpSpPr>
        <p:sp>
          <p:nvSpPr>
            <p:cNvPr name="Freeform 60" id="60"/>
            <p:cNvSpPr/>
            <p:nvPr/>
          </p:nvSpPr>
          <p:spPr>
            <a:xfrm flipH="false" flipV="false" rot="0">
              <a:off x="0" y="0"/>
              <a:ext cx="1067689" cy="323342"/>
            </a:xfrm>
            <a:custGeom>
              <a:avLst/>
              <a:gdLst/>
              <a:ahLst/>
              <a:cxnLst/>
              <a:rect r="r" b="b" t="t" l="l"/>
              <a:pathLst>
                <a:path h="323342" w="1067689">
                  <a:moveTo>
                    <a:pt x="0" y="0"/>
                  </a:moveTo>
                  <a:lnTo>
                    <a:pt x="1067689" y="0"/>
                  </a:lnTo>
                  <a:lnTo>
                    <a:pt x="1067689" y="323342"/>
                  </a:lnTo>
                  <a:lnTo>
                    <a:pt x="0" y="323342"/>
                  </a:lnTo>
                  <a:close/>
                </a:path>
              </a:pathLst>
            </a:custGeom>
            <a:solidFill>
              <a:srgbClr val="1BA97C"/>
            </a:solidFill>
            <a:ln w="19050" cap="sq">
              <a:solidFill>
                <a:srgbClr val="1BA97C"/>
              </a:solidFill>
              <a:prstDash val="solid"/>
              <a:miter/>
            </a:ln>
          </p:spPr>
        </p:sp>
      </p:grpSp>
      <p:grpSp>
        <p:nvGrpSpPr>
          <p:cNvPr name="Group 61" id="61"/>
          <p:cNvGrpSpPr/>
          <p:nvPr/>
        </p:nvGrpSpPr>
        <p:grpSpPr>
          <a:xfrm rot="0">
            <a:off x="10553500" y="6954253"/>
            <a:ext cx="1110891" cy="384048"/>
            <a:chOff x="0" y="0"/>
            <a:chExt cx="1481188" cy="512064"/>
          </a:xfrm>
        </p:grpSpPr>
        <p:sp>
          <p:nvSpPr>
            <p:cNvPr name="Freeform 62" id="62"/>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3" id="63"/>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a:t>
              </a:r>
            </a:p>
          </p:txBody>
        </p:sp>
      </p:grpSp>
      <p:sp>
        <p:nvSpPr>
          <p:cNvPr name="TextBox 64" id="64"/>
          <p:cNvSpPr txBox="true"/>
          <p:nvPr/>
        </p:nvSpPr>
        <p:spPr>
          <a:xfrm rot="0">
            <a:off x="9341348" y="7698936"/>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8-14 Sep</a:t>
            </a:r>
          </a:p>
        </p:txBody>
      </p:sp>
      <p:grpSp>
        <p:nvGrpSpPr>
          <p:cNvPr name="Group 65" id="65"/>
          <p:cNvGrpSpPr/>
          <p:nvPr/>
        </p:nvGrpSpPr>
        <p:grpSpPr>
          <a:xfrm rot="0">
            <a:off x="12570619" y="6536791"/>
            <a:ext cx="800757" cy="1061942"/>
            <a:chOff x="0" y="0"/>
            <a:chExt cx="1067676" cy="1415923"/>
          </a:xfrm>
        </p:grpSpPr>
        <p:sp>
          <p:nvSpPr>
            <p:cNvPr name="Freeform 66" id="66"/>
            <p:cNvSpPr/>
            <p:nvPr/>
          </p:nvSpPr>
          <p:spPr>
            <a:xfrm flipH="false" flipV="false" rot="0">
              <a:off x="0" y="0"/>
              <a:ext cx="1067689" cy="1415923"/>
            </a:xfrm>
            <a:custGeom>
              <a:avLst/>
              <a:gdLst/>
              <a:ahLst/>
              <a:cxnLst/>
              <a:rect r="r" b="b" t="t" l="l"/>
              <a:pathLst>
                <a:path h="1415923" w="1067689">
                  <a:moveTo>
                    <a:pt x="0" y="0"/>
                  </a:moveTo>
                  <a:lnTo>
                    <a:pt x="1067689" y="0"/>
                  </a:lnTo>
                  <a:lnTo>
                    <a:pt x="1067689" y="1415923"/>
                  </a:lnTo>
                  <a:lnTo>
                    <a:pt x="0" y="1415923"/>
                  </a:lnTo>
                  <a:close/>
                </a:path>
              </a:pathLst>
            </a:custGeom>
            <a:solidFill>
              <a:srgbClr val="132257"/>
            </a:solidFill>
            <a:ln w="19050" cap="sq">
              <a:solidFill>
                <a:srgbClr val="132257"/>
              </a:solidFill>
              <a:prstDash val="solid"/>
              <a:miter/>
            </a:ln>
          </p:spPr>
        </p:sp>
      </p:grpSp>
      <p:grpSp>
        <p:nvGrpSpPr>
          <p:cNvPr name="Group 67" id="67"/>
          <p:cNvGrpSpPr/>
          <p:nvPr/>
        </p:nvGrpSpPr>
        <p:grpSpPr>
          <a:xfrm rot="0">
            <a:off x="12415552" y="6134836"/>
            <a:ext cx="1110891" cy="384048"/>
            <a:chOff x="0" y="0"/>
            <a:chExt cx="1481188" cy="512064"/>
          </a:xfrm>
        </p:grpSpPr>
        <p:sp>
          <p:nvSpPr>
            <p:cNvPr name="Freeform 68" id="68"/>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9" id="69"/>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14</a:t>
              </a:r>
            </a:p>
          </p:txBody>
        </p:sp>
      </p:grpSp>
      <p:grpSp>
        <p:nvGrpSpPr>
          <p:cNvPr name="Group 70" id="70"/>
          <p:cNvGrpSpPr/>
          <p:nvPr/>
        </p:nvGrpSpPr>
        <p:grpSpPr>
          <a:xfrm rot="0">
            <a:off x="13407190" y="7207227"/>
            <a:ext cx="800757" cy="391506"/>
            <a:chOff x="0" y="0"/>
            <a:chExt cx="1067676" cy="522008"/>
          </a:xfrm>
        </p:grpSpPr>
        <p:sp>
          <p:nvSpPr>
            <p:cNvPr name="Freeform 71" id="71"/>
            <p:cNvSpPr/>
            <p:nvPr/>
          </p:nvSpPr>
          <p:spPr>
            <a:xfrm flipH="false" flipV="false" rot="0">
              <a:off x="0" y="0"/>
              <a:ext cx="1067689" cy="521970"/>
            </a:xfrm>
            <a:custGeom>
              <a:avLst/>
              <a:gdLst/>
              <a:ahLst/>
              <a:cxnLst/>
              <a:rect r="r" b="b" t="t" l="l"/>
              <a:pathLst>
                <a:path h="521970" w="1067689">
                  <a:moveTo>
                    <a:pt x="0" y="0"/>
                  </a:moveTo>
                  <a:lnTo>
                    <a:pt x="1067689" y="0"/>
                  </a:lnTo>
                  <a:lnTo>
                    <a:pt x="1067689" y="521970"/>
                  </a:lnTo>
                  <a:lnTo>
                    <a:pt x="0" y="521970"/>
                  </a:lnTo>
                  <a:close/>
                </a:path>
              </a:pathLst>
            </a:custGeom>
            <a:solidFill>
              <a:srgbClr val="1BA97C"/>
            </a:solidFill>
            <a:ln w="19050" cap="sq">
              <a:solidFill>
                <a:srgbClr val="1BA97C"/>
              </a:solidFill>
              <a:prstDash val="solid"/>
              <a:miter/>
            </a:ln>
          </p:spPr>
        </p:sp>
      </p:grpSp>
      <p:grpSp>
        <p:nvGrpSpPr>
          <p:cNvPr name="Group 72" id="72"/>
          <p:cNvGrpSpPr/>
          <p:nvPr/>
        </p:nvGrpSpPr>
        <p:grpSpPr>
          <a:xfrm rot="0">
            <a:off x="13252123" y="6805272"/>
            <a:ext cx="1110891" cy="384048"/>
            <a:chOff x="0" y="0"/>
            <a:chExt cx="1481188" cy="512064"/>
          </a:xfrm>
        </p:grpSpPr>
        <p:sp>
          <p:nvSpPr>
            <p:cNvPr name="Freeform 73" id="73"/>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74" id="74"/>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a:t>
              </a:r>
            </a:p>
          </p:txBody>
        </p:sp>
      </p:grpSp>
      <p:sp>
        <p:nvSpPr>
          <p:cNvPr name="TextBox 75" id="75"/>
          <p:cNvSpPr txBox="true"/>
          <p:nvPr/>
        </p:nvSpPr>
        <p:spPr>
          <a:xfrm rot="0">
            <a:off x="12039971" y="7698936"/>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14-21 Sep</a:t>
            </a:r>
          </a:p>
        </p:txBody>
      </p:sp>
      <p:grpSp>
        <p:nvGrpSpPr>
          <p:cNvPr name="Group 76" id="76"/>
          <p:cNvGrpSpPr/>
          <p:nvPr/>
        </p:nvGrpSpPr>
        <p:grpSpPr>
          <a:xfrm rot="0">
            <a:off x="15269242" y="3631599"/>
            <a:ext cx="800757" cy="3967134"/>
            <a:chOff x="0" y="0"/>
            <a:chExt cx="1067676" cy="5289512"/>
          </a:xfrm>
        </p:grpSpPr>
        <p:sp>
          <p:nvSpPr>
            <p:cNvPr name="Freeform 77" id="77"/>
            <p:cNvSpPr/>
            <p:nvPr/>
          </p:nvSpPr>
          <p:spPr>
            <a:xfrm flipH="false" flipV="false" rot="0">
              <a:off x="0" y="0"/>
              <a:ext cx="1067689" cy="5289550"/>
            </a:xfrm>
            <a:custGeom>
              <a:avLst/>
              <a:gdLst/>
              <a:ahLst/>
              <a:cxnLst/>
              <a:rect r="r" b="b" t="t" l="l"/>
              <a:pathLst>
                <a:path h="5289550" w="1067689">
                  <a:moveTo>
                    <a:pt x="0" y="0"/>
                  </a:moveTo>
                  <a:lnTo>
                    <a:pt x="1067689" y="0"/>
                  </a:lnTo>
                  <a:lnTo>
                    <a:pt x="1067689" y="5289550"/>
                  </a:lnTo>
                  <a:lnTo>
                    <a:pt x="0" y="5289550"/>
                  </a:lnTo>
                  <a:close/>
                </a:path>
              </a:pathLst>
            </a:custGeom>
            <a:solidFill>
              <a:srgbClr val="132257"/>
            </a:solidFill>
            <a:ln w="19050" cap="sq">
              <a:solidFill>
                <a:srgbClr val="132257"/>
              </a:solidFill>
              <a:prstDash val="solid"/>
              <a:miter/>
            </a:ln>
          </p:spPr>
        </p:sp>
      </p:grpSp>
      <p:grpSp>
        <p:nvGrpSpPr>
          <p:cNvPr name="Group 78" id="78"/>
          <p:cNvGrpSpPr/>
          <p:nvPr/>
        </p:nvGrpSpPr>
        <p:grpSpPr>
          <a:xfrm rot="0">
            <a:off x="15114175" y="3229644"/>
            <a:ext cx="1110891" cy="384048"/>
            <a:chOff x="0" y="0"/>
            <a:chExt cx="1481188" cy="512064"/>
          </a:xfrm>
        </p:grpSpPr>
        <p:sp>
          <p:nvSpPr>
            <p:cNvPr name="Freeform 79" id="79"/>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0" id="80"/>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53</a:t>
              </a:r>
            </a:p>
          </p:txBody>
        </p:sp>
      </p:grpSp>
      <p:grpSp>
        <p:nvGrpSpPr>
          <p:cNvPr name="Group 81" id="81"/>
          <p:cNvGrpSpPr/>
          <p:nvPr/>
        </p:nvGrpSpPr>
        <p:grpSpPr>
          <a:xfrm rot="0">
            <a:off x="16105813" y="7281713"/>
            <a:ext cx="800757" cy="317021"/>
            <a:chOff x="0" y="0"/>
            <a:chExt cx="1067676" cy="422694"/>
          </a:xfrm>
        </p:grpSpPr>
        <p:sp>
          <p:nvSpPr>
            <p:cNvPr name="Freeform 82" id="82"/>
            <p:cNvSpPr/>
            <p:nvPr/>
          </p:nvSpPr>
          <p:spPr>
            <a:xfrm flipH="false" flipV="false" rot="0">
              <a:off x="0" y="0"/>
              <a:ext cx="1067689" cy="422656"/>
            </a:xfrm>
            <a:custGeom>
              <a:avLst/>
              <a:gdLst/>
              <a:ahLst/>
              <a:cxnLst/>
              <a:rect r="r" b="b" t="t" l="l"/>
              <a:pathLst>
                <a:path h="422656" w="1067689">
                  <a:moveTo>
                    <a:pt x="0" y="0"/>
                  </a:moveTo>
                  <a:lnTo>
                    <a:pt x="1067689" y="0"/>
                  </a:lnTo>
                  <a:lnTo>
                    <a:pt x="1067689" y="422656"/>
                  </a:lnTo>
                  <a:lnTo>
                    <a:pt x="0" y="422656"/>
                  </a:lnTo>
                  <a:close/>
                </a:path>
              </a:pathLst>
            </a:custGeom>
            <a:solidFill>
              <a:srgbClr val="1BA97C"/>
            </a:solidFill>
            <a:ln w="19050" cap="sq">
              <a:solidFill>
                <a:srgbClr val="1BA97C"/>
              </a:solidFill>
              <a:prstDash val="solid"/>
              <a:miter/>
            </a:ln>
          </p:spPr>
        </p:sp>
      </p:grpSp>
      <p:grpSp>
        <p:nvGrpSpPr>
          <p:cNvPr name="Group 83" id="83"/>
          <p:cNvGrpSpPr/>
          <p:nvPr/>
        </p:nvGrpSpPr>
        <p:grpSpPr>
          <a:xfrm rot="0">
            <a:off x="15950746" y="6879758"/>
            <a:ext cx="1110891" cy="384048"/>
            <a:chOff x="0" y="0"/>
            <a:chExt cx="1481188" cy="512064"/>
          </a:xfrm>
        </p:grpSpPr>
        <p:sp>
          <p:nvSpPr>
            <p:cNvPr name="Freeform 84" id="84"/>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5" id="85"/>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4</a:t>
              </a:r>
            </a:p>
          </p:txBody>
        </p:sp>
      </p:grpSp>
      <p:sp>
        <p:nvSpPr>
          <p:cNvPr name="TextBox 86" id="86"/>
          <p:cNvSpPr txBox="true"/>
          <p:nvPr/>
        </p:nvSpPr>
        <p:spPr>
          <a:xfrm rot="0">
            <a:off x="14738594" y="7698936"/>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21-29 Sep (paid live)</a:t>
            </a:r>
          </a:p>
        </p:txBody>
      </p:sp>
      <p:grpSp>
        <p:nvGrpSpPr>
          <p:cNvPr name="Group 87" id="87"/>
          <p:cNvGrpSpPr/>
          <p:nvPr/>
        </p:nvGrpSpPr>
        <p:grpSpPr>
          <a:xfrm rot="0">
            <a:off x="9870176" y="8279199"/>
            <a:ext cx="211074" cy="211074"/>
            <a:chOff x="0" y="0"/>
            <a:chExt cx="281432" cy="281432"/>
          </a:xfrm>
        </p:grpSpPr>
        <p:sp>
          <p:nvSpPr>
            <p:cNvPr name="Freeform 88" id="88"/>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89" id="89"/>
          <p:cNvGrpSpPr/>
          <p:nvPr/>
        </p:nvGrpSpPr>
        <p:grpSpPr>
          <a:xfrm rot="0">
            <a:off x="10154021" y="8178996"/>
            <a:ext cx="2091690" cy="411480"/>
            <a:chOff x="0" y="0"/>
            <a:chExt cx="2788920" cy="548640"/>
          </a:xfrm>
        </p:grpSpPr>
        <p:sp>
          <p:nvSpPr>
            <p:cNvPr name="Freeform 90" id="90"/>
            <p:cNvSpPr/>
            <p:nvPr/>
          </p:nvSpPr>
          <p:spPr>
            <a:xfrm flipH="false" flipV="false" rot="0">
              <a:off x="0" y="0"/>
              <a:ext cx="2788920" cy="548640"/>
            </a:xfrm>
            <a:custGeom>
              <a:avLst/>
              <a:gdLst/>
              <a:ahLst/>
              <a:cxnLst/>
              <a:rect r="r" b="b" t="t" l="l"/>
              <a:pathLst>
                <a:path h="548640" w="2788920">
                  <a:moveTo>
                    <a:pt x="0" y="0"/>
                  </a:moveTo>
                  <a:lnTo>
                    <a:pt x="2788920" y="0"/>
                  </a:lnTo>
                  <a:lnTo>
                    <a:pt x="2788920" y="548640"/>
                  </a:lnTo>
                  <a:lnTo>
                    <a:pt x="0" y="548640"/>
                  </a:lnTo>
                  <a:close/>
                </a:path>
              </a:pathLst>
            </a:custGeom>
            <a:blipFill>
              <a:blip r:embed="rId4">
                <a:alphaModFix amt="0"/>
              </a:blip>
              <a:stretch>
                <a:fillRect l="0" t="-49048" r="0" b="-49048"/>
              </a:stretch>
            </a:blipFill>
          </p:spPr>
        </p:sp>
        <p:sp>
          <p:nvSpPr>
            <p:cNvPr name="TextBox 91" id="91"/>
            <p:cNvSpPr txBox="true"/>
            <p:nvPr/>
          </p:nvSpPr>
          <p:spPr>
            <a:xfrm>
              <a:off x="0" y="-9525"/>
              <a:ext cx="278892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App downloads added</a:t>
              </a:r>
            </a:p>
          </p:txBody>
        </p:sp>
      </p:grpSp>
      <p:grpSp>
        <p:nvGrpSpPr>
          <p:cNvPr name="Group 92" id="92"/>
          <p:cNvGrpSpPr/>
          <p:nvPr/>
        </p:nvGrpSpPr>
        <p:grpSpPr>
          <a:xfrm rot="0">
            <a:off x="12236186" y="8279199"/>
            <a:ext cx="211074" cy="211074"/>
            <a:chOff x="0" y="0"/>
            <a:chExt cx="281432" cy="281432"/>
          </a:xfrm>
        </p:grpSpPr>
        <p:sp>
          <p:nvSpPr>
            <p:cNvPr name="Freeform 93" id="93"/>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BA97C"/>
            </a:solidFill>
            <a:ln w="19050" cap="sq">
              <a:solidFill>
                <a:srgbClr val="1BA97C"/>
              </a:solidFill>
              <a:prstDash val="solid"/>
              <a:miter/>
            </a:ln>
          </p:spPr>
        </p:sp>
      </p:grpSp>
      <p:grpSp>
        <p:nvGrpSpPr>
          <p:cNvPr name="Group 94" id="94"/>
          <p:cNvGrpSpPr/>
          <p:nvPr/>
        </p:nvGrpSpPr>
        <p:grpSpPr>
          <a:xfrm rot="0">
            <a:off x="12520031" y="8178996"/>
            <a:ext cx="1680210" cy="411480"/>
            <a:chOff x="0" y="0"/>
            <a:chExt cx="2240280" cy="548640"/>
          </a:xfrm>
        </p:grpSpPr>
        <p:sp>
          <p:nvSpPr>
            <p:cNvPr name="Freeform 95" id="95"/>
            <p:cNvSpPr/>
            <p:nvPr/>
          </p:nvSpPr>
          <p:spPr>
            <a:xfrm flipH="false" flipV="false" rot="0">
              <a:off x="0" y="0"/>
              <a:ext cx="2240280" cy="548640"/>
            </a:xfrm>
            <a:custGeom>
              <a:avLst/>
              <a:gdLst/>
              <a:ahLst/>
              <a:cxnLst/>
              <a:rect r="r" b="b" t="t" l="l"/>
              <a:pathLst>
                <a:path h="548640" w="2240280">
                  <a:moveTo>
                    <a:pt x="0" y="0"/>
                  </a:moveTo>
                  <a:lnTo>
                    <a:pt x="2240280" y="0"/>
                  </a:lnTo>
                  <a:lnTo>
                    <a:pt x="2240280" y="548640"/>
                  </a:lnTo>
                  <a:lnTo>
                    <a:pt x="0" y="548640"/>
                  </a:lnTo>
                  <a:close/>
                </a:path>
              </a:pathLst>
            </a:custGeom>
            <a:blipFill>
              <a:blip r:embed="rId4">
                <a:alphaModFix amt="0"/>
              </a:blip>
              <a:stretch>
                <a:fillRect l="0" t="-29563" r="0" b="-29563"/>
              </a:stretch>
            </a:blipFill>
          </p:spPr>
        </p:sp>
        <p:sp>
          <p:nvSpPr>
            <p:cNvPr name="TextBox 96" id="96"/>
            <p:cNvSpPr txBox="true"/>
            <p:nvPr/>
          </p:nvSpPr>
          <p:spPr>
            <a:xfrm>
              <a:off x="0" y="-9525"/>
              <a:ext cx="224028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Users onboarded</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56083"/>
            <a:chOff x="0" y="0"/>
            <a:chExt cx="24408790" cy="74778"/>
          </a:xfrm>
        </p:grpSpPr>
        <p:sp>
          <p:nvSpPr>
            <p:cNvPr name="Freeform 5" id="5"/>
            <p:cNvSpPr/>
            <p:nvPr/>
          </p:nvSpPr>
          <p:spPr>
            <a:xfrm flipH="false" flipV="false" rot="0">
              <a:off x="0" y="0"/>
              <a:ext cx="24408764" cy="74803"/>
            </a:xfrm>
            <a:custGeom>
              <a:avLst/>
              <a:gdLst/>
              <a:ahLst/>
              <a:cxnLst/>
              <a:rect r="r" b="b" t="t" l="l"/>
              <a:pathLst>
                <a:path h="74803" w="24408764">
                  <a:moveTo>
                    <a:pt x="0" y="0"/>
                  </a:moveTo>
                  <a:lnTo>
                    <a:pt x="24408764" y="0"/>
                  </a:lnTo>
                  <a:lnTo>
                    <a:pt x="24408764" y="74803"/>
                  </a:lnTo>
                  <a:lnTo>
                    <a:pt x="0" y="74803"/>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283845"/>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ENGLISH VS ARABIC</a:t>
            </a:r>
          </a:p>
        </p:txBody>
      </p:sp>
      <p:grpSp>
        <p:nvGrpSpPr>
          <p:cNvPr name="Group 7" id="7"/>
          <p:cNvGrpSpPr/>
          <p:nvPr/>
        </p:nvGrpSpPr>
        <p:grpSpPr>
          <a:xfrm rot="0">
            <a:off x="850392" y="713232"/>
            <a:ext cx="13990320" cy="1124712"/>
            <a:chOff x="0" y="0"/>
            <a:chExt cx="18653760" cy="1499616"/>
          </a:xfrm>
        </p:grpSpPr>
        <p:sp>
          <p:nvSpPr>
            <p:cNvPr name="Freeform 8" id="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9" id="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English ads lead Arabic on traffic and engagement</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2" id="12"/>
          <p:cNvGrpSpPr/>
          <p:nvPr/>
        </p:nvGrpSpPr>
        <p:grpSpPr>
          <a:xfrm rot="0">
            <a:off x="15910560" y="9505188"/>
            <a:ext cx="1536192" cy="548640"/>
            <a:chOff x="0" y="0"/>
            <a:chExt cx="2048256" cy="731520"/>
          </a:xfrm>
        </p:grpSpPr>
        <p:sp>
          <p:nvSpPr>
            <p:cNvPr name="Freeform 13" id="13"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4" id="14"/>
          <p:cNvGrpSpPr/>
          <p:nvPr/>
        </p:nvGrpSpPr>
        <p:grpSpPr>
          <a:xfrm rot="0">
            <a:off x="852773" y="2759373"/>
            <a:ext cx="6323647" cy="2757488"/>
            <a:chOff x="0" y="0"/>
            <a:chExt cx="8431530" cy="3676650"/>
          </a:xfrm>
        </p:grpSpPr>
        <p:sp>
          <p:nvSpPr>
            <p:cNvPr name="Freeform 15" id="15"/>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16" id="16"/>
          <p:cNvGrpSpPr/>
          <p:nvPr/>
        </p:nvGrpSpPr>
        <p:grpSpPr>
          <a:xfrm rot="0">
            <a:off x="850392" y="2756992"/>
            <a:ext cx="6328410" cy="67056"/>
            <a:chOff x="0" y="0"/>
            <a:chExt cx="8437880" cy="89408"/>
          </a:xfrm>
        </p:grpSpPr>
        <p:sp>
          <p:nvSpPr>
            <p:cNvPr name="Freeform 17" id="17"/>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132257"/>
            </a:solidFill>
            <a:ln w="19050" cap="sq">
              <a:solidFill>
                <a:srgbClr val="132257"/>
              </a:solidFill>
              <a:prstDash val="solid"/>
              <a:miter/>
            </a:ln>
          </p:spPr>
        </p:sp>
      </p:grpSp>
      <p:sp>
        <p:nvSpPr>
          <p:cNvPr name="TextBox 18" id="18"/>
          <p:cNvSpPr txBox="true"/>
          <p:nvPr/>
        </p:nvSpPr>
        <p:spPr>
          <a:xfrm rot="0">
            <a:off x="1202817" y="3031312"/>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ENGLISH CAMPAIGN</a:t>
            </a:r>
          </a:p>
        </p:txBody>
      </p:sp>
      <p:sp>
        <p:nvSpPr>
          <p:cNvPr name="TextBox 19" id="19"/>
          <p:cNvSpPr txBox="true"/>
          <p:nvPr/>
        </p:nvSpPr>
        <p:spPr>
          <a:xfrm rot="0">
            <a:off x="1202817" y="3511372"/>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212</a:t>
            </a:r>
          </a:p>
        </p:txBody>
      </p:sp>
      <p:sp>
        <p:nvSpPr>
          <p:cNvPr name="TextBox 20" id="20"/>
          <p:cNvSpPr txBox="true"/>
          <p:nvPr/>
        </p:nvSpPr>
        <p:spPr>
          <a:xfrm rot="0">
            <a:off x="1202817" y="401467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21" id="21"/>
          <p:cNvSpPr txBox="true"/>
          <p:nvPr/>
        </p:nvSpPr>
        <p:spPr>
          <a:xfrm rot="0">
            <a:off x="4220337" y="3511372"/>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97.2%</a:t>
            </a:r>
          </a:p>
        </p:txBody>
      </p:sp>
      <p:sp>
        <p:nvSpPr>
          <p:cNvPr name="TextBox 22" id="22"/>
          <p:cNvSpPr txBox="true"/>
          <p:nvPr/>
        </p:nvSpPr>
        <p:spPr>
          <a:xfrm rot="0">
            <a:off x="4220337" y="401467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23" id="23"/>
          <p:cNvSpPr txBox="true"/>
          <p:nvPr/>
        </p:nvSpPr>
        <p:spPr>
          <a:xfrm rot="0">
            <a:off x="1202817" y="4471492"/>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19.9s</a:t>
            </a:r>
          </a:p>
        </p:txBody>
      </p:sp>
      <p:sp>
        <p:nvSpPr>
          <p:cNvPr name="TextBox 24" id="24"/>
          <p:cNvSpPr txBox="true"/>
          <p:nvPr/>
        </p:nvSpPr>
        <p:spPr>
          <a:xfrm rot="0">
            <a:off x="1202817" y="497479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grpSp>
        <p:nvGrpSpPr>
          <p:cNvPr name="Group 25" id="25"/>
          <p:cNvGrpSpPr/>
          <p:nvPr/>
        </p:nvGrpSpPr>
        <p:grpSpPr>
          <a:xfrm rot="0">
            <a:off x="852773" y="5776893"/>
            <a:ext cx="6323647" cy="2757488"/>
            <a:chOff x="0" y="0"/>
            <a:chExt cx="8431530" cy="3676650"/>
          </a:xfrm>
        </p:grpSpPr>
        <p:sp>
          <p:nvSpPr>
            <p:cNvPr name="Freeform 26" id="26"/>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27" id="27"/>
          <p:cNvGrpSpPr/>
          <p:nvPr/>
        </p:nvGrpSpPr>
        <p:grpSpPr>
          <a:xfrm rot="0">
            <a:off x="850392" y="5774512"/>
            <a:ext cx="6328410" cy="67056"/>
            <a:chOff x="0" y="0"/>
            <a:chExt cx="8437880" cy="89408"/>
          </a:xfrm>
        </p:grpSpPr>
        <p:sp>
          <p:nvSpPr>
            <p:cNvPr name="Freeform 28" id="28"/>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D4AF37"/>
            </a:solidFill>
            <a:ln w="19050" cap="sq">
              <a:solidFill>
                <a:srgbClr val="D4AF37"/>
              </a:solidFill>
              <a:prstDash val="solid"/>
              <a:miter/>
            </a:ln>
          </p:spPr>
        </p:sp>
      </p:grpSp>
      <p:sp>
        <p:nvSpPr>
          <p:cNvPr name="TextBox 29" id="29"/>
          <p:cNvSpPr txBox="true"/>
          <p:nvPr/>
        </p:nvSpPr>
        <p:spPr>
          <a:xfrm rot="0">
            <a:off x="1202817" y="6048832"/>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ARABIC CAMPAIGN</a:t>
            </a:r>
          </a:p>
        </p:txBody>
      </p:sp>
      <p:sp>
        <p:nvSpPr>
          <p:cNvPr name="TextBox 30" id="30"/>
          <p:cNvSpPr txBox="true"/>
          <p:nvPr/>
        </p:nvSpPr>
        <p:spPr>
          <a:xfrm rot="0">
            <a:off x="1202817" y="6528892"/>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176</a:t>
            </a:r>
          </a:p>
        </p:txBody>
      </p:sp>
      <p:sp>
        <p:nvSpPr>
          <p:cNvPr name="TextBox 31" id="31"/>
          <p:cNvSpPr txBox="true"/>
          <p:nvPr/>
        </p:nvSpPr>
        <p:spPr>
          <a:xfrm rot="0">
            <a:off x="1202817" y="703219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32" id="32"/>
          <p:cNvSpPr txBox="true"/>
          <p:nvPr/>
        </p:nvSpPr>
        <p:spPr>
          <a:xfrm rot="0">
            <a:off x="4220337" y="6528892"/>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86.9%</a:t>
            </a:r>
          </a:p>
        </p:txBody>
      </p:sp>
      <p:sp>
        <p:nvSpPr>
          <p:cNvPr name="TextBox 33" id="33"/>
          <p:cNvSpPr txBox="true"/>
          <p:nvPr/>
        </p:nvSpPr>
        <p:spPr>
          <a:xfrm rot="0">
            <a:off x="4220337" y="703219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34" id="34"/>
          <p:cNvSpPr txBox="true"/>
          <p:nvPr/>
        </p:nvSpPr>
        <p:spPr>
          <a:xfrm rot="0">
            <a:off x="1202817" y="7489012"/>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16.0s</a:t>
            </a:r>
          </a:p>
        </p:txBody>
      </p:sp>
      <p:sp>
        <p:nvSpPr>
          <p:cNvPr name="TextBox 35" id="35"/>
          <p:cNvSpPr txBox="true"/>
          <p:nvPr/>
        </p:nvSpPr>
        <p:spPr>
          <a:xfrm rot="0">
            <a:off x="1202817" y="7992313"/>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sp>
        <p:nvSpPr>
          <p:cNvPr name="TextBox 36" id="36"/>
          <p:cNvSpPr txBox="true"/>
          <p:nvPr/>
        </p:nvSpPr>
        <p:spPr>
          <a:xfrm rot="0">
            <a:off x="7621905" y="2670505"/>
            <a:ext cx="983437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English relative to Arabic, % difference, 1-28 Sep</a:t>
            </a:r>
          </a:p>
        </p:txBody>
      </p:sp>
      <p:sp>
        <p:nvSpPr>
          <p:cNvPr name="AutoShape 37" id="37"/>
          <p:cNvSpPr/>
          <p:nvPr/>
        </p:nvSpPr>
        <p:spPr>
          <a:xfrm>
            <a:off x="12278572" y="3209619"/>
            <a:ext cx="0" cy="4406266"/>
          </a:xfrm>
          <a:prstGeom prst="line">
            <a:avLst/>
          </a:prstGeom>
          <a:ln cap="rnd" w="9525">
            <a:solidFill>
              <a:srgbClr val="C6CFE4"/>
            </a:solidFill>
            <a:prstDash val="solid"/>
            <a:headEnd type="none" len="sm" w="sm"/>
            <a:tailEnd type="none" len="sm" w="sm"/>
          </a:ln>
        </p:spPr>
      </p:sp>
      <p:grpSp>
        <p:nvGrpSpPr>
          <p:cNvPr name="Group 38" id="38"/>
          <p:cNvGrpSpPr/>
          <p:nvPr/>
        </p:nvGrpSpPr>
        <p:grpSpPr>
          <a:xfrm rot="0">
            <a:off x="7621905" y="3287725"/>
            <a:ext cx="2674620" cy="541020"/>
            <a:chOff x="0" y="0"/>
            <a:chExt cx="3566160" cy="721360"/>
          </a:xfrm>
        </p:grpSpPr>
        <p:sp>
          <p:nvSpPr>
            <p:cNvPr name="Freeform 39" id="39"/>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0" id="40"/>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Sessions</a:t>
              </a:r>
            </a:p>
          </p:txBody>
        </p:sp>
      </p:grpSp>
      <p:grpSp>
        <p:nvGrpSpPr>
          <p:cNvPr name="Group 41" id="41"/>
          <p:cNvGrpSpPr/>
          <p:nvPr/>
        </p:nvGrpSpPr>
        <p:grpSpPr>
          <a:xfrm rot="0">
            <a:off x="12278563" y="3380994"/>
            <a:ext cx="1919811" cy="354482"/>
            <a:chOff x="0" y="0"/>
            <a:chExt cx="2559748" cy="472643"/>
          </a:xfrm>
        </p:grpSpPr>
        <p:sp>
          <p:nvSpPr>
            <p:cNvPr name="Freeform 42" id="42"/>
            <p:cNvSpPr/>
            <p:nvPr/>
          </p:nvSpPr>
          <p:spPr>
            <a:xfrm flipH="false" flipV="false" rot="0">
              <a:off x="0" y="0"/>
              <a:ext cx="2559812" cy="472694"/>
            </a:xfrm>
            <a:custGeom>
              <a:avLst/>
              <a:gdLst/>
              <a:ahLst/>
              <a:cxnLst/>
              <a:rect r="r" b="b" t="t" l="l"/>
              <a:pathLst>
                <a:path h="472694" w="2559812">
                  <a:moveTo>
                    <a:pt x="0" y="0"/>
                  </a:moveTo>
                  <a:lnTo>
                    <a:pt x="2559812" y="0"/>
                  </a:lnTo>
                  <a:lnTo>
                    <a:pt x="2559812" y="472694"/>
                  </a:lnTo>
                  <a:lnTo>
                    <a:pt x="0" y="472694"/>
                  </a:lnTo>
                  <a:close/>
                </a:path>
              </a:pathLst>
            </a:custGeom>
            <a:solidFill>
              <a:srgbClr val="132257"/>
            </a:solidFill>
            <a:ln w="19050" cap="sq">
              <a:solidFill>
                <a:srgbClr val="132257"/>
              </a:solidFill>
              <a:prstDash val="solid"/>
              <a:miter/>
            </a:ln>
          </p:spPr>
        </p:sp>
      </p:grpSp>
      <p:grpSp>
        <p:nvGrpSpPr>
          <p:cNvPr name="Group 43" id="43"/>
          <p:cNvGrpSpPr/>
          <p:nvPr/>
        </p:nvGrpSpPr>
        <p:grpSpPr>
          <a:xfrm rot="0">
            <a:off x="14257430" y="3390519"/>
            <a:ext cx="1097280" cy="335432"/>
            <a:chOff x="0" y="0"/>
            <a:chExt cx="1463040" cy="447243"/>
          </a:xfrm>
        </p:grpSpPr>
        <p:sp>
          <p:nvSpPr>
            <p:cNvPr name="Freeform 44" id="44"/>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45" id="45"/>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+20.5%</a:t>
              </a:r>
            </a:p>
          </p:txBody>
        </p:sp>
      </p:grpSp>
      <p:grpSp>
        <p:nvGrpSpPr>
          <p:cNvPr name="Group 46" id="46"/>
          <p:cNvGrpSpPr/>
          <p:nvPr/>
        </p:nvGrpSpPr>
        <p:grpSpPr>
          <a:xfrm rot="0">
            <a:off x="7621905" y="3828745"/>
            <a:ext cx="2674620" cy="541020"/>
            <a:chOff x="0" y="0"/>
            <a:chExt cx="3566160" cy="721360"/>
          </a:xfrm>
        </p:grpSpPr>
        <p:sp>
          <p:nvSpPr>
            <p:cNvPr name="Freeform 47" id="47"/>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8" id="48"/>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Active users</a:t>
              </a:r>
            </a:p>
          </p:txBody>
        </p:sp>
      </p:grpSp>
      <p:grpSp>
        <p:nvGrpSpPr>
          <p:cNvPr name="Group 49" id="49"/>
          <p:cNvGrpSpPr/>
          <p:nvPr/>
        </p:nvGrpSpPr>
        <p:grpSpPr>
          <a:xfrm rot="0">
            <a:off x="12278563" y="3922014"/>
            <a:ext cx="1771459" cy="354482"/>
            <a:chOff x="0" y="0"/>
            <a:chExt cx="2361946" cy="472643"/>
          </a:xfrm>
        </p:grpSpPr>
        <p:sp>
          <p:nvSpPr>
            <p:cNvPr name="Freeform 50" id="50"/>
            <p:cNvSpPr/>
            <p:nvPr/>
          </p:nvSpPr>
          <p:spPr>
            <a:xfrm flipH="false" flipV="false" rot="0">
              <a:off x="0" y="0"/>
              <a:ext cx="2361946" cy="472694"/>
            </a:xfrm>
            <a:custGeom>
              <a:avLst/>
              <a:gdLst/>
              <a:ahLst/>
              <a:cxnLst/>
              <a:rect r="r" b="b" t="t" l="l"/>
              <a:pathLst>
                <a:path h="472694" w="2361946">
                  <a:moveTo>
                    <a:pt x="0" y="0"/>
                  </a:moveTo>
                  <a:lnTo>
                    <a:pt x="2361946" y="0"/>
                  </a:lnTo>
                  <a:lnTo>
                    <a:pt x="2361946" y="472694"/>
                  </a:lnTo>
                  <a:lnTo>
                    <a:pt x="0" y="472694"/>
                  </a:lnTo>
                  <a:close/>
                </a:path>
              </a:pathLst>
            </a:custGeom>
            <a:solidFill>
              <a:srgbClr val="132257"/>
            </a:solidFill>
            <a:ln w="19050" cap="sq">
              <a:solidFill>
                <a:srgbClr val="132257"/>
              </a:solidFill>
              <a:prstDash val="solid"/>
              <a:miter/>
            </a:ln>
          </p:spPr>
        </p:sp>
      </p:grpSp>
      <p:grpSp>
        <p:nvGrpSpPr>
          <p:cNvPr name="Group 51" id="51"/>
          <p:cNvGrpSpPr/>
          <p:nvPr/>
        </p:nvGrpSpPr>
        <p:grpSpPr>
          <a:xfrm rot="0">
            <a:off x="14109078" y="3931539"/>
            <a:ext cx="1097280" cy="335432"/>
            <a:chOff x="0" y="0"/>
            <a:chExt cx="1463040" cy="447243"/>
          </a:xfrm>
        </p:grpSpPr>
        <p:sp>
          <p:nvSpPr>
            <p:cNvPr name="Freeform 52" id="52"/>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53" id="53"/>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+18.9%</a:t>
              </a:r>
            </a:p>
          </p:txBody>
        </p:sp>
      </p:grpSp>
      <p:grpSp>
        <p:nvGrpSpPr>
          <p:cNvPr name="Group 54" id="54"/>
          <p:cNvGrpSpPr/>
          <p:nvPr/>
        </p:nvGrpSpPr>
        <p:grpSpPr>
          <a:xfrm rot="0">
            <a:off x="7621905" y="4369765"/>
            <a:ext cx="2674620" cy="541020"/>
            <a:chOff x="0" y="0"/>
            <a:chExt cx="3566160" cy="721360"/>
          </a:xfrm>
        </p:grpSpPr>
        <p:sp>
          <p:nvSpPr>
            <p:cNvPr name="Freeform 55" id="55"/>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56" id="56"/>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Engaged sessions</a:t>
              </a:r>
            </a:p>
          </p:txBody>
        </p:sp>
      </p:grpSp>
      <p:grpSp>
        <p:nvGrpSpPr>
          <p:cNvPr name="Group 57" id="57"/>
          <p:cNvGrpSpPr/>
          <p:nvPr/>
        </p:nvGrpSpPr>
        <p:grpSpPr>
          <a:xfrm rot="0">
            <a:off x="12278563" y="4463034"/>
            <a:ext cx="3227165" cy="354482"/>
            <a:chOff x="0" y="0"/>
            <a:chExt cx="4302887" cy="472643"/>
          </a:xfrm>
        </p:grpSpPr>
        <p:sp>
          <p:nvSpPr>
            <p:cNvPr name="Freeform 58" id="58"/>
            <p:cNvSpPr/>
            <p:nvPr/>
          </p:nvSpPr>
          <p:spPr>
            <a:xfrm flipH="false" flipV="false" rot="0">
              <a:off x="0" y="0"/>
              <a:ext cx="4302887" cy="472694"/>
            </a:xfrm>
            <a:custGeom>
              <a:avLst/>
              <a:gdLst/>
              <a:ahLst/>
              <a:cxnLst/>
              <a:rect r="r" b="b" t="t" l="l"/>
              <a:pathLst>
                <a:path h="472694" w="4302887">
                  <a:moveTo>
                    <a:pt x="0" y="0"/>
                  </a:moveTo>
                  <a:lnTo>
                    <a:pt x="4302887" y="0"/>
                  </a:lnTo>
                  <a:lnTo>
                    <a:pt x="4302887" y="472694"/>
                  </a:lnTo>
                  <a:lnTo>
                    <a:pt x="0" y="472694"/>
                  </a:lnTo>
                  <a:close/>
                </a:path>
              </a:pathLst>
            </a:custGeom>
            <a:solidFill>
              <a:srgbClr val="132257"/>
            </a:solidFill>
            <a:ln w="19050" cap="sq">
              <a:solidFill>
                <a:srgbClr val="132257"/>
              </a:solidFill>
              <a:prstDash val="solid"/>
              <a:miter/>
            </a:ln>
          </p:spPr>
        </p:sp>
      </p:grpSp>
      <p:grpSp>
        <p:nvGrpSpPr>
          <p:cNvPr name="Group 59" id="59"/>
          <p:cNvGrpSpPr/>
          <p:nvPr/>
        </p:nvGrpSpPr>
        <p:grpSpPr>
          <a:xfrm rot="0">
            <a:off x="15564783" y="4472559"/>
            <a:ext cx="1097280" cy="335432"/>
            <a:chOff x="0" y="0"/>
            <a:chExt cx="1463040" cy="447243"/>
          </a:xfrm>
        </p:grpSpPr>
        <p:sp>
          <p:nvSpPr>
            <p:cNvPr name="Freeform 60" id="60"/>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1" id="61"/>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+34.6%</a:t>
              </a:r>
            </a:p>
          </p:txBody>
        </p:sp>
      </p:grpSp>
      <p:grpSp>
        <p:nvGrpSpPr>
          <p:cNvPr name="Group 62" id="62"/>
          <p:cNvGrpSpPr/>
          <p:nvPr/>
        </p:nvGrpSpPr>
        <p:grpSpPr>
          <a:xfrm rot="0">
            <a:off x="7621905" y="4910785"/>
            <a:ext cx="2674620" cy="541020"/>
            <a:chOff x="0" y="0"/>
            <a:chExt cx="3566160" cy="721360"/>
          </a:xfrm>
        </p:grpSpPr>
        <p:sp>
          <p:nvSpPr>
            <p:cNvPr name="Freeform 63" id="63"/>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64" id="64"/>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Engagement rate</a:t>
              </a:r>
            </a:p>
          </p:txBody>
        </p:sp>
      </p:grpSp>
      <p:grpSp>
        <p:nvGrpSpPr>
          <p:cNvPr name="Group 65" id="65"/>
          <p:cNvGrpSpPr/>
          <p:nvPr/>
        </p:nvGrpSpPr>
        <p:grpSpPr>
          <a:xfrm rot="0">
            <a:off x="12278563" y="5004054"/>
            <a:ext cx="1113149" cy="354482"/>
            <a:chOff x="0" y="0"/>
            <a:chExt cx="1484198" cy="472643"/>
          </a:xfrm>
        </p:grpSpPr>
        <p:sp>
          <p:nvSpPr>
            <p:cNvPr name="Freeform 66" id="66"/>
            <p:cNvSpPr/>
            <p:nvPr/>
          </p:nvSpPr>
          <p:spPr>
            <a:xfrm flipH="false" flipV="false" rot="0">
              <a:off x="0" y="0"/>
              <a:ext cx="1484249" cy="472694"/>
            </a:xfrm>
            <a:custGeom>
              <a:avLst/>
              <a:gdLst/>
              <a:ahLst/>
              <a:cxnLst/>
              <a:rect r="r" b="b" t="t" l="l"/>
              <a:pathLst>
                <a:path h="472694" w="1484249">
                  <a:moveTo>
                    <a:pt x="0" y="0"/>
                  </a:moveTo>
                  <a:lnTo>
                    <a:pt x="1484249" y="0"/>
                  </a:lnTo>
                  <a:lnTo>
                    <a:pt x="1484249" y="472694"/>
                  </a:lnTo>
                  <a:lnTo>
                    <a:pt x="0" y="472694"/>
                  </a:lnTo>
                  <a:close/>
                </a:path>
              </a:pathLst>
            </a:custGeom>
            <a:solidFill>
              <a:srgbClr val="132257"/>
            </a:solidFill>
            <a:ln w="19050" cap="sq">
              <a:solidFill>
                <a:srgbClr val="132257"/>
              </a:solidFill>
              <a:prstDash val="solid"/>
              <a:miter/>
            </a:ln>
          </p:spPr>
        </p:sp>
      </p:grpSp>
      <p:grpSp>
        <p:nvGrpSpPr>
          <p:cNvPr name="Group 67" id="67"/>
          <p:cNvGrpSpPr/>
          <p:nvPr/>
        </p:nvGrpSpPr>
        <p:grpSpPr>
          <a:xfrm rot="0">
            <a:off x="13450767" y="5013579"/>
            <a:ext cx="1097280" cy="335432"/>
            <a:chOff x="0" y="0"/>
            <a:chExt cx="1463040" cy="447243"/>
          </a:xfrm>
        </p:grpSpPr>
        <p:sp>
          <p:nvSpPr>
            <p:cNvPr name="Freeform 68" id="68"/>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9" id="69"/>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+11.8%</a:t>
              </a:r>
            </a:p>
          </p:txBody>
        </p:sp>
      </p:grpSp>
      <p:grpSp>
        <p:nvGrpSpPr>
          <p:cNvPr name="Group 70" id="70"/>
          <p:cNvGrpSpPr/>
          <p:nvPr/>
        </p:nvGrpSpPr>
        <p:grpSpPr>
          <a:xfrm rot="0">
            <a:off x="7621905" y="5451805"/>
            <a:ext cx="2674620" cy="541020"/>
            <a:chOff x="0" y="0"/>
            <a:chExt cx="3566160" cy="721360"/>
          </a:xfrm>
        </p:grpSpPr>
        <p:sp>
          <p:nvSpPr>
            <p:cNvPr name="Freeform 71" id="71"/>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72" id="72"/>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Time per session</a:t>
              </a:r>
            </a:p>
          </p:txBody>
        </p:sp>
      </p:grpSp>
      <p:grpSp>
        <p:nvGrpSpPr>
          <p:cNvPr name="Group 73" id="73"/>
          <p:cNvGrpSpPr/>
          <p:nvPr/>
        </p:nvGrpSpPr>
        <p:grpSpPr>
          <a:xfrm rot="0">
            <a:off x="12278563" y="5545074"/>
            <a:ext cx="2262873" cy="354482"/>
            <a:chOff x="0" y="0"/>
            <a:chExt cx="3017164" cy="472643"/>
          </a:xfrm>
        </p:grpSpPr>
        <p:sp>
          <p:nvSpPr>
            <p:cNvPr name="Freeform 74" id="74"/>
            <p:cNvSpPr/>
            <p:nvPr/>
          </p:nvSpPr>
          <p:spPr>
            <a:xfrm flipH="false" flipV="false" rot="0">
              <a:off x="0" y="0"/>
              <a:ext cx="3017139" cy="472694"/>
            </a:xfrm>
            <a:custGeom>
              <a:avLst/>
              <a:gdLst/>
              <a:ahLst/>
              <a:cxnLst/>
              <a:rect r="r" b="b" t="t" l="l"/>
              <a:pathLst>
                <a:path h="472694" w="3017139">
                  <a:moveTo>
                    <a:pt x="0" y="0"/>
                  </a:moveTo>
                  <a:lnTo>
                    <a:pt x="3017139" y="0"/>
                  </a:lnTo>
                  <a:lnTo>
                    <a:pt x="3017139" y="472694"/>
                  </a:lnTo>
                  <a:lnTo>
                    <a:pt x="0" y="472694"/>
                  </a:lnTo>
                  <a:close/>
                </a:path>
              </a:pathLst>
            </a:custGeom>
            <a:solidFill>
              <a:srgbClr val="132257"/>
            </a:solidFill>
            <a:ln w="19050" cap="sq">
              <a:solidFill>
                <a:srgbClr val="132257"/>
              </a:solidFill>
              <a:prstDash val="solid"/>
              <a:miter/>
            </a:ln>
          </p:spPr>
        </p:sp>
      </p:grpSp>
      <p:grpSp>
        <p:nvGrpSpPr>
          <p:cNvPr name="Group 75" id="75"/>
          <p:cNvGrpSpPr/>
          <p:nvPr/>
        </p:nvGrpSpPr>
        <p:grpSpPr>
          <a:xfrm rot="0">
            <a:off x="14600492" y="5554599"/>
            <a:ext cx="1097280" cy="335432"/>
            <a:chOff x="0" y="0"/>
            <a:chExt cx="1463040" cy="447243"/>
          </a:xfrm>
        </p:grpSpPr>
        <p:sp>
          <p:nvSpPr>
            <p:cNvPr name="Freeform 76" id="76"/>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77" id="77"/>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+24.2%</a:t>
              </a:r>
            </a:p>
          </p:txBody>
        </p:sp>
      </p:grpSp>
      <p:grpSp>
        <p:nvGrpSpPr>
          <p:cNvPr name="Group 78" id="78"/>
          <p:cNvGrpSpPr/>
          <p:nvPr/>
        </p:nvGrpSpPr>
        <p:grpSpPr>
          <a:xfrm rot="0">
            <a:off x="7621905" y="5992825"/>
            <a:ext cx="2674620" cy="541020"/>
            <a:chOff x="0" y="0"/>
            <a:chExt cx="3566160" cy="721360"/>
          </a:xfrm>
        </p:grpSpPr>
        <p:sp>
          <p:nvSpPr>
            <p:cNvPr name="Freeform 79" id="79"/>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0" id="80"/>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Events per session</a:t>
              </a:r>
            </a:p>
          </p:txBody>
        </p:sp>
      </p:grpSp>
      <p:grpSp>
        <p:nvGrpSpPr>
          <p:cNvPr name="Group 81" id="81"/>
          <p:cNvGrpSpPr/>
          <p:nvPr/>
        </p:nvGrpSpPr>
        <p:grpSpPr>
          <a:xfrm rot="0">
            <a:off x="12278563" y="6086094"/>
            <a:ext cx="1799273" cy="354482"/>
            <a:chOff x="0" y="0"/>
            <a:chExt cx="2399030" cy="472643"/>
          </a:xfrm>
        </p:grpSpPr>
        <p:sp>
          <p:nvSpPr>
            <p:cNvPr name="Freeform 82" id="82"/>
            <p:cNvSpPr/>
            <p:nvPr/>
          </p:nvSpPr>
          <p:spPr>
            <a:xfrm flipH="false" flipV="false" rot="0">
              <a:off x="0" y="0"/>
              <a:ext cx="2399030" cy="472694"/>
            </a:xfrm>
            <a:custGeom>
              <a:avLst/>
              <a:gdLst/>
              <a:ahLst/>
              <a:cxnLst/>
              <a:rect r="r" b="b" t="t" l="l"/>
              <a:pathLst>
                <a:path h="472694" w="2399030">
                  <a:moveTo>
                    <a:pt x="0" y="0"/>
                  </a:moveTo>
                  <a:lnTo>
                    <a:pt x="2399030" y="0"/>
                  </a:lnTo>
                  <a:lnTo>
                    <a:pt x="2399030" y="472694"/>
                  </a:lnTo>
                  <a:lnTo>
                    <a:pt x="0" y="472694"/>
                  </a:lnTo>
                  <a:close/>
                </a:path>
              </a:pathLst>
            </a:custGeom>
            <a:solidFill>
              <a:srgbClr val="132257"/>
            </a:solidFill>
            <a:ln w="19050" cap="sq">
              <a:solidFill>
                <a:srgbClr val="132257"/>
              </a:solidFill>
              <a:prstDash val="solid"/>
              <a:miter/>
            </a:ln>
          </p:spPr>
        </p:sp>
      </p:grpSp>
      <p:grpSp>
        <p:nvGrpSpPr>
          <p:cNvPr name="Group 83" id="83"/>
          <p:cNvGrpSpPr/>
          <p:nvPr/>
        </p:nvGrpSpPr>
        <p:grpSpPr>
          <a:xfrm rot="0">
            <a:off x="14136900" y="6095619"/>
            <a:ext cx="1097280" cy="335432"/>
            <a:chOff x="0" y="0"/>
            <a:chExt cx="1463040" cy="447243"/>
          </a:xfrm>
        </p:grpSpPr>
        <p:sp>
          <p:nvSpPr>
            <p:cNvPr name="Freeform 84" id="84"/>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85" id="85"/>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+19.2%</a:t>
              </a:r>
            </a:p>
          </p:txBody>
        </p:sp>
      </p:grpSp>
      <p:grpSp>
        <p:nvGrpSpPr>
          <p:cNvPr name="Group 86" id="86"/>
          <p:cNvGrpSpPr/>
          <p:nvPr/>
        </p:nvGrpSpPr>
        <p:grpSpPr>
          <a:xfrm rot="0">
            <a:off x="7621905" y="6533845"/>
            <a:ext cx="2674620" cy="541020"/>
            <a:chOff x="0" y="0"/>
            <a:chExt cx="3566160" cy="721360"/>
          </a:xfrm>
        </p:grpSpPr>
        <p:sp>
          <p:nvSpPr>
            <p:cNvPr name="Freeform 87" id="87"/>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8" id="88"/>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Total events</a:t>
              </a:r>
            </a:p>
          </p:txBody>
        </p:sp>
      </p:grpSp>
      <p:grpSp>
        <p:nvGrpSpPr>
          <p:cNvPr name="Group 89" id="89"/>
          <p:cNvGrpSpPr/>
          <p:nvPr/>
        </p:nvGrpSpPr>
        <p:grpSpPr>
          <a:xfrm rot="0">
            <a:off x="12278563" y="6627114"/>
            <a:ext cx="4061650" cy="354482"/>
            <a:chOff x="0" y="0"/>
            <a:chExt cx="5415534" cy="472643"/>
          </a:xfrm>
        </p:grpSpPr>
        <p:sp>
          <p:nvSpPr>
            <p:cNvPr name="Freeform 90" id="90"/>
            <p:cNvSpPr/>
            <p:nvPr/>
          </p:nvSpPr>
          <p:spPr>
            <a:xfrm flipH="false" flipV="false" rot="0">
              <a:off x="0" y="0"/>
              <a:ext cx="5415534" cy="472694"/>
            </a:xfrm>
            <a:custGeom>
              <a:avLst/>
              <a:gdLst/>
              <a:ahLst/>
              <a:cxnLst/>
              <a:rect r="r" b="b" t="t" l="l"/>
              <a:pathLst>
                <a:path h="472694" w="5415534">
                  <a:moveTo>
                    <a:pt x="0" y="0"/>
                  </a:moveTo>
                  <a:lnTo>
                    <a:pt x="5415534" y="0"/>
                  </a:lnTo>
                  <a:lnTo>
                    <a:pt x="5415534" y="472694"/>
                  </a:lnTo>
                  <a:lnTo>
                    <a:pt x="0" y="472694"/>
                  </a:lnTo>
                  <a:close/>
                </a:path>
              </a:pathLst>
            </a:custGeom>
            <a:solidFill>
              <a:srgbClr val="132257"/>
            </a:solidFill>
            <a:ln w="19050" cap="sq">
              <a:solidFill>
                <a:srgbClr val="132257"/>
              </a:solidFill>
              <a:prstDash val="solid"/>
              <a:miter/>
            </a:ln>
          </p:spPr>
        </p:sp>
      </p:grpSp>
      <p:grpSp>
        <p:nvGrpSpPr>
          <p:cNvPr name="Group 91" id="91"/>
          <p:cNvGrpSpPr/>
          <p:nvPr/>
        </p:nvGrpSpPr>
        <p:grpSpPr>
          <a:xfrm rot="0">
            <a:off x="16399269" y="6636639"/>
            <a:ext cx="1097280" cy="335432"/>
            <a:chOff x="0" y="0"/>
            <a:chExt cx="1463040" cy="447243"/>
          </a:xfrm>
        </p:grpSpPr>
        <p:sp>
          <p:nvSpPr>
            <p:cNvPr name="Freeform 92" id="92"/>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93" id="93"/>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+43.6%</a:t>
              </a:r>
            </a:p>
          </p:txBody>
        </p:sp>
      </p:grpSp>
      <p:grpSp>
        <p:nvGrpSpPr>
          <p:cNvPr name="Group 94" id="94"/>
          <p:cNvGrpSpPr/>
          <p:nvPr/>
        </p:nvGrpSpPr>
        <p:grpSpPr>
          <a:xfrm rot="0">
            <a:off x="7621905" y="7074865"/>
            <a:ext cx="2674620" cy="541020"/>
            <a:chOff x="0" y="0"/>
            <a:chExt cx="3566160" cy="721360"/>
          </a:xfrm>
        </p:grpSpPr>
        <p:sp>
          <p:nvSpPr>
            <p:cNvPr name="Freeform 95" id="95"/>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96" id="96"/>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Key events</a:t>
              </a:r>
            </a:p>
          </p:txBody>
        </p:sp>
      </p:grpSp>
      <p:grpSp>
        <p:nvGrpSpPr>
          <p:cNvPr name="Group 97" id="97"/>
          <p:cNvGrpSpPr/>
          <p:nvPr/>
        </p:nvGrpSpPr>
        <p:grpSpPr>
          <a:xfrm rot="0">
            <a:off x="12278563" y="7168134"/>
            <a:ext cx="770087" cy="354482"/>
            <a:chOff x="0" y="0"/>
            <a:chExt cx="1026782" cy="472643"/>
          </a:xfrm>
        </p:grpSpPr>
        <p:sp>
          <p:nvSpPr>
            <p:cNvPr name="Freeform 98" id="98"/>
            <p:cNvSpPr/>
            <p:nvPr/>
          </p:nvSpPr>
          <p:spPr>
            <a:xfrm flipH="false" flipV="false" rot="0">
              <a:off x="0" y="0"/>
              <a:ext cx="1026795" cy="472694"/>
            </a:xfrm>
            <a:custGeom>
              <a:avLst/>
              <a:gdLst/>
              <a:ahLst/>
              <a:cxnLst/>
              <a:rect r="r" b="b" t="t" l="l"/>
              <a:pathLst>
                <a:path h="472694" w="1026795">
                  <a:moveTo>
                    <a:pt x="0" y="0"/>
                  </a:moveTo>
                  <a:lnTo>
                    <a:pt x="1026795" y="0"/>
                  </a:lnTo>
                  <a:lnTo>
                    <a:pt x="1026795" y="472694"/>
                  </a:lnTo>
                  <a:lnTo>
                    <a:pt x="0" y="472694"/>
                  </a:lnTo>
                  <a:close/>
                </a:path>
              </a:pathLst>
            </a:custGeom>
            <a:solidFill>
              <a:srgbClr val="132257"/>
            </a:solidFill>
            <a:ln w="19050" cap="sq">
              <a:solidFill>
                <a:srgbClr val="132257"/>
              </a:solidFill>
              <a:prstDash val="solid"/>
              <a:miter/>
            </a:ln>
          </p:spPr>
        </p:sp>
      </p:grpSp>
      <p:grpSp>
        <p:nvGrpSpPr>
          <p:cNvPr name="Group 99" id="99"/>
          <p:cNvGrpSpPr/>
          <p:nvPr/>
        </p:nvGrpSpPr>
        <p:grpSpPr>
          <a:xfrm rot="0">
            <a:off x="13107705" y="7177659"/>
            <a:ext cx="1097280" cy="335432"/>
            <a:chOff x="0" y="0"/>
            <a:chExt cx="1463040" cy="447243"/>
          </a:xfrm>
        </p:grpSpPr>
        <p:sp>
          <p:nvSpPr>
            <p:cNvPr name="Freeform 100" id="100"/>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101" id="101"/>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+8.1%</a:t>
              </a:r>
            </a:p>
          </p:txBody>
        </p:sp>
      </p:grpSp>
      <p:grpSp>
        <p:nvGrpSpPr>
          <p:cNvPr name="Group 102" id="102"/>
          <p:cNvGrpSpPr/>
          <p:nvPr/>
        </p:nvGrpSpPr>
        <p:grpSpPr>
          <a:xfrm rot="0">
            <a:off x="10016916" y="8023533"/>
            <a:ext cx="280459" cy="280459"/>
            <a:chOff x="0" y="0"/>
            <a:chExt cx="281432" cy="281432"/>
          </a:xfrm>
        </p:grpSpPr>
        <p:sp>
          <p:nvSpPr>
            <p:cNvPr name="Freeform 103" id="103"/>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104" id="104"/>
          <p:cNvGrpSpPr/>
          <p:nvPr/>
        </p:nvGrpSpPr>
        <p:grpSpPr>
          <a:xfrm rot="0">
            <a:off x="10394068" y="7890391"/>
            <a:ext cx="1959167" cy="546744"/>
            <a:chOff x="0" y="0"/>
            <a:chExt cx="1965960" cy="548640"/>
          </a:xfrm>
        </p:grpSpPr>
        <p:sp>
          <p:nvSpPr>
            <p:cNvPr name="Freeform 105" id="105"/>
            <p:cNvSpPr/>
            <p:nvPr/>
          </p:nvSpPr>
          <p:spPr>
            <a:xfrm flipH="false" flipV="false" rot="0">
              <a:off x="0" y="0"/>
              <a:ext cx="1965960" cy="548640"/>
            </a:xfrm>
            <a:custGeom>
              <a:avLst/>
              <a:gdLst/>
              <a:ahLst/>
              <a:cxnLst/>
              <a:rect r="r" b="b" t="t" l="l"/>
              <a:pathLst>
                <a:path h="548640" w="1965960">
                  <a:moveTo>
                    <a:pt x="0" y="0"/>
                  </a:moveTo>
                  <a:lnTo>
                    <a:pt x="1965960" y="0"/>
                  </a:lnTo>
                  <a:lnTo>
                    <a:pt x="1965960" y="548640"/>
                  </a:lnTo>
                  <a:lnTo>
                    <a:pt x="0" y="548640"/>
                  </a:lnTo>
                  <a:close/>
                </a:path>
              </a:pathLst>
            </a:custGeom>
            <a:blipFill>
              <a:blip r:embed="rId4">
                <a:alphaModFix amt="0"/>
              </a:blip>
              <a:stretch>
                <a:fillRect l="0" t="-19821" r="0" b="-19821"/>
              </a:stretch>
            </a:blipFill>
          </p:spPr>
        </p:sp>
        <p:sp>
          <p:nvSpPr>
            <p:cNvPr name="TextBox 106" id="106"/>
            <p:cNvSpPr txBox="true"/>
            <p:nvPr/>
          </p:nvSpPr>
          <p:spPr>
            <a:xfrm>
              <a:off x="0" y="-9525"/>
              <a:ext cx="196596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English ahead</a:t>
              </a:r>
            </a:p>
          </p:txBody>
        </p:sp>
      </p:grpSp>
      <p:grpSp>
        <p:nvGrpSpPr>
          <p:cNvPr name="Group 107" id="107"/>
          <p:cNvGrpSpPr/>
          <p:nvPr/>
        </p:nvGrpSpPr>
        <p:grpSpPr>
          <a:xfrm rot="0">
            <a:off x="12340578" y="8023533"/>
            <a:ext cx="280459" cy="280459"/>
            <a:chOff x="0" y="0"/>
            <a:chExt cx="281432" cy="281432"/>
          </a:xfrm>
        </p:grpSpPr>
        <p:sp>
          <p:nvSpPr>
            <p:cNvPr name="Freeform 108" id="108"/>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D4AF37"/>
            </a:solidFill>
            <a:ln w="19050" cap="sq">
              <a:solidFill>
                <a:srgbClr val="D4AF37"/>
              </a:solidFill>
              <a:prstDash val="solid"/>
              <a:miter/>
            </a:ln>
          </p:spPr>
        </p:sp>
      </p:grpSp>
      <p:grpSp>
        <p:nvGrpSpPr>
          <p:cNvPr name="Group 109" id="109"/>
          <p:cNvGrpSpPr/>
          <p:nvPr/>
        </p:nvGrpSpPr>
        <p:grpSpPr>
          <a:xfrm rot="0">
            <a:off x="12717730" y="7890391"/>
            <a:ext cx="1822480" cy="546744"/>
            <a:chOff x="0" y="0"/>
            <a:chExt cx="1828800" cy="548640"/>
          </a:xfrm>
        </p:grpSpPr>
        <p:sp>
          <p:nvSpPr>
            <p:cNvPr name="Freeform 110" id="11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11" id="111"/>
            <p:cNvSpPr txBox="true"/>
            <p:nvPr/>
          </p:nvSpPr>
          <p:spPr>
            <a:xfrm>
              <a:off x="0" y="-9525"/>
              <a:ext cx="182880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Arabic ahead</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389102"/>
            <a:chOff x="0" y="0"/>
            <a:chExt cx="24383390" cy="1852136"/>
          </a:xfrm>
        </p:grpSpPr>
        <p:sp>
          <p:nvSpPr>
            <p:cNvPr name="Freeform 3" id="3"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4"/>
          <p:cNvGrpSpPr/>
          <p:nvPr/>
        </p:nvGrpSpPr>
        <p:grpSpPr>
          <a:xfrm rot="0">
            <a:off x="-9525" y="1374683"/>
            <a:ext cx="18306593" cy="47625"/>
            <a:chOff x="0" y="0"/>
            <a:chExt cx="24408790" cy="63500"/>
          </a:xfrm>
        </p:grpSpPr>
        <p:sp>
          <p:nvSpPr>
            <p:cNvPr name="Freeform 5" id="5"/>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6" id="6"/>
          <p:cNvGrpSpPr/>
          <p:nvPr/>
        </p:nvGrpSpPr>
        <p:grpSpPr>
          <a:xfrm rot="0">
            <a:off x="850392" y="297596"/>
            <a:ext cx="13990320" cy="1124712"/>
            <a:chOff x="0" y="0"/>
            <a:chExt cx="18653760" cy="1499616"/>
          </a:xfrm>
        </p:grpSpPr>
        <p:sp>
          <p:nvSpPr>
            <p:cNvPr name="Freeform 7" id="7"/>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8"/>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Abdulelah Masterclass &amp; Google Ads Update only for WealthTech Eyes</a:t>
              </a:r>
            </a:p>
          </p:txBody>
        </p:sp>
      </p:grpSp>
      <p:grpSp>
        <p:nvGrpSpPr>
          <p:cNvPr name="Group 9" id="9"/>
          <p:cNvGrpSpPr/>
          <p:nvPr/>
        </p:nvGrpSpPr>
        <p:grpSpPr>
          <a:xfrm rot="0">
            <a:off x="15457932" y="571916"/>
            <a:ext cx="1988820" cy="576072"/>
            <a:chOff x="0" y="0"/>
            <a:chExt cx="2651760" cy="768096"/>
          </a:xfrm>
        </p:grpSpPr>
        <p:sp>
          <p:nvSpPr>
            <p:cNvPr name="Freeform 10" id="10"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1" id="11"/>
          <p:cNvGrpSpPr/>
          <p:nvPr/>
        </p:nvGrpSpPr>
        <p:grpSpPr>
          <a:xfrm rot="0">
            <a:off x="15910560" y="9505188"/>
            <a:ext cx="1536192" cy="548640"/>
            <a:chOff x="0" y="0"/>
            <a:chExt cx="2048256" cy="731520"/>
          </a:xfrm>
        </p:grpSpPr>
        <p:sp>
          <p:nvSpPr>
            <p:cNvPr name="Freeform 12" id="12"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pic>
        <p:nvPicPr>
          <p:cNvPr name="Picture 13" id="13">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2238272" y="1743075"/>
            <a:ext cx="4629150" cy="8229600"/>
          </a:xfrm>
          <a:prstGeom prst="rect">
            <a:avLst/>
          </a:prstGeom>
        </p:spPr>
      </p:pic>
      <p:sp>
        <p:nvSpPr>
          <p:cNvPr name="TextBox 14" id="14"/>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INFLUENCER VIDEO</a:t>
            </a:r>
          </a:p>
        </p:txBody>
      </p:sp>
      <p:grpSp>
        <p:nvGrpSpPr>
          <p:cNvPr name="Group 15" id="15"/>
          <p:cNvGrpSpPr/>
          <p:nvPr/>
        </p:nvGrpSpPr>
        <p:grpSpPr>
          <a:xfrm rot="5400000">
            <a:off x="5300415" y="5531821"/>
            <a:ext cx="7687990" cy="258744"/>
            <a:chOff x="0" y="0"/>
            <a:chExt cx="10250654" cy="344992"/>
          </a:xfrm>
        </p:grpSpPr>
        <p:sp>
          <p:nvSpPr>
            <p:cNvPr name="Freeform 16" id="16"/>
            <p:cNvSpPr/>
            <p:nvPr/>
          </p:nvSpPr>
          <p:spPr>
            <a:xfrm flipH="false" flipV="false" rot="0">
              <a:off x="0" y="0"/>
              <a:ext cx="10250643" cy="345017"/>
            </a:xfrm>
            <a:custGeom>
              <a:avLst/>
              <a:gdLst/>
              <a:ahLst/>
              <a:cxnLst/>
              <a:rect r="r" b="b" t="t" l="l"/>
              <a:pathLst>
                <a:path h="345017" w="10250643">
                  <a:moveTo>
                    <a:pt x="0" y="0"/>
                  </a:moveTo>
                  <a:lnTo>
                    <a:pt x="10250643" y="0"/>
                  </a:lnTo>
                  <a:lnTo>
                    <a:pt x="10250643" y="345017"/>
                  </a:lnTo>
                  <a:lnTo>
                    <a:pt x="0" y="345017"/>
                  </a:lnTo>
                  <a:close/>
                </a:path>
              </a:pathLst>
            </a:custGeom>
            <a:solidFill>
              <a:srgbClr val="D4AF37"/>
            </a:solidFill>
            <a:ln w="19050" cap="sq">
              <a:solidFill>
                <a:srgbClr val="D4AF37"/>
              </a:solidFill>
              <a:prstDash val="solid"/>
              <a:miter/>
            </a:ln>
          </p:spPr>
        </p:sp>
      </p:grpSp>
      <p:sp>
        <p:nvSpPr>
          <p:cNvPr name="TextBox 17" id="17"/>
          <p:cNvSpPr txBox="true"/>
          <p:nvPr/>
        </p:nvSpPr>
        <p:spPr>
          <a:xfrm rot="0">
            <a:off x="10035357" y="2446858"/>
            <a:ext cx="5448895" cy="457200"/>
          </a:xfrm>
          <a:prstGeom prst="rect">
            <a:avLst/>
          </a:prstGeom>
        </p:spPr>
        <p:txBody>
          <a:bodyPr anchor="t" rtlCol="false" tIns="0" lIns="0" bIns="0" rIns="0">
            <a:spAutoFit/>
          </a:bodyPr>
          <a:lstStyle/>
          <a:p>
            <a:pPr algn="l">
              <a:lnSpc>
                <a:spcPts val="3510"/>
              </a:lnSpc>
            </a:pP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Campaign Updat</a:t>
            </a: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e, Google Ads</a:t>
            </a:r>
          </a:p>
        </p:txBody>
      </p:sp>
      <p:grpSp>
        <p:nvGrpSpPr>
          <p:cNvPr name="Group 18" id="18"/>
          <p:cNvGrpSpPr/>
          <p:nvPr/>
        </p:nvGrpSpPr>
        <p:grpSpPr>
          <a:xfrm rot="0">
            <a:off x="9614466" y="5103086"/>
            <a:ext cx="7945074" cy="1423376"/>
            <a:chOff x="0" y="0"/>
            <a:chExt cx="10593432" cy="1897835"/>
          </a:xfrm>
        </p:grpSpPr>
        <p:grpSp>
          <p:nvGrpSpPr>
            <p:cNvPr name="Group 19" id="19"/>
            <p:cNvGrpSpPr/>
            <p:nvPr/>
          </p:nvGrpSpPr>
          <p:grpSpPr>
            <a:xfrm rot="0">
              <a:off x="527960" y="0"/>
              <a:ext cx="10065471" cy="1897835"/>
              <a:chOff x="0" y="0"/>
              <a:chExt cx="10065471" cy="1897835"/>
            </a:xfrm>
          </p:grpSpPr>
          <p:sp>
            <p:nvSpPr>
              <p:cNvPr name="Freeform 20" id="20"/>
              <p:cNvSpPr/>
              <p:nvPr/>
            </p:nvSpPr>
            <p:spPr>
              <a:xfrm flipH="false" flipV="false" rot="0">
                <a:off x="0" y="0"/>
                <a:ext cx="10065471" cy="1897826"/>
              </a:xfrm>
              <a:custGeom>
                <a:avLst/>
                <a:gdLst/>
                <a:ahLst/>
                <a:cxnLst/>
                <a:rect r="r" b="b" t="t" l="l"/>
                <a:pathLst>
                  <a:path h="1897826" w="10065471">
                    <a:moveTo>
                      <a:pt x="0" y="0"/>
                    </a:moveTo>
                    <a:lnTo>
                      <a:pt x="10065471" y="0"/>
                    </a:lnTo>
                    <a:lnTo>
                      <a:pt x="10065471" y="1897826"/>
                    </a:lnTo>
                    <a:lnTo>
                      <a:pt x="0" y="1897826"/>
                    </a:lnTo>
                    <a:close/>
                  </a:path>
                </a:pathLst>
              </a:custGeom>
              <a:blipFill>
                <a:blip r:embed="rId4">
                  <a:alphaModFix amt="0"/>
                </a:blip>
                <a:stretch>
                  <a:fillRect l="0" t="-194685" r="-114758" b="-149187"/>
                </a:stretch>
              </a:blipFill>
            </p:spPr>
          </p:sp>
          <p:sp>
            <p:nvSpPr>
              <p:cNvPr name="TextBox 21" id="21"/>
              <p:cNvSpPr txBox="true"/>
              <p:nvPr/>
            </p:nvSpPr>
            <p:spPr>
              <a:xfrm>
                <a:off x="0" y="0"/>
                <a:ext cx="10065471" cy="18978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Keyword Report:</a:t>
                </a:r>
              </a:p>
              <a:p>
                <a:pPr algn="l">
                  <a:lnSpc>
                    <a:spcPts val="2578"/>
                  </a:lnSpc>
                </a:pPr>
                <a:r>
                  <a:rPr lang="en-US" sz="2148">
                    <a:solidFill>
                      <a:srgbClr val="5A6A85"/>
                    </a:solidFill>
                    <a:latin typeface="Exo 2"/>
                    <a:ea typeface="Exo 2"/>
                    <a:cs typeface="Exo 2"/>
                    <a:sym typeface="Exo 2"/>
                  </a:rPr>
                  <a:t>Terence will share a full keyword performance report by Sunday. This will give the team more data to work with before any next decisions.</a:t>
                </a:r>
              </a:p>
            </p:txBody>
          </p:sp>
        </p:grpSp>
        <p:grpSp>
          <p:nvGrpSpPr>
            <p:cNvPr name="Group 22" id="22"/>
            <p:cNvGrpSpPr/>
            <p:nvPr/>
          </p:nvGrpSpPr>
          <p:grpSpPr>
            <a:xfrm rot="0">
              <a:off x="0" y="164452"/>
              <a:ext cx="373049" cy="324441"/>
              <a:chOff x="0" y="0"/>
              <a:chExt cx="817751" cy="711200"/>
            </a:xfrm>
          </p:grpSpPr>
          <p:sp>
            <p:nvSpPr>
              <p:cNvPr name="Freeform 23" id="23"/>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24" id="24"/>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25" id="25"/>
          <p:cNvGrpSpPr/>
          <p:nvPr/>
        </p:nvGrpSpPr>
        <p:grpSpPr>
          <a:xfrm rot="0">
            <a:off x="9614466" y="3342799"/>
            <a:ext cx="7945074" cy="1099526"/>
            <a:chOff x="0" y="0"/>
            <a:chExt cx="10593432" cy="1466035"/>
          </a:xfrm>
        </p:grpSpPr>
        <p:grpSp>
          <p:nvGrpSpPr>
            <p:cNvPr name="Group 26" id="26"/>
            <p:cNvGrpSpPr/>
            <p:nvPr/>
          </p:nvGrpSpPr>
          <p:grpSpPr>
            <a:xfrm rot="0">
              <a:off x="527960" y="0"/>
              <a:ext cx="10065471" cy="1466035"/>
              <a:chOff x="0" y="0"/>
              <a:chExt cx="10065471" cy="1466035"/>
            </a:xfrm>
          </p:grpSpPr>
          <p:sp>
            <p:nvSpPr>
              <p:cNvPr name="Freeform 27" id="27"/>
              <p:cNvSpPr/>
              <p:nvPr/>
            </p:nvSpPr>
            <p:spPr>
              <a:xfrm flipH="false" flipV="false" rot="0">
                <a:off x="0" y="0"/>
                <a:ext cx="10065471" cy="1466028"/>
              </a:xfrm>
              <a:custGeom>
                <a:avLst/>
                <a:gdLst/>
                <a:ahLst/>
                <a:cxnLst/>
                <a:rect r="r" b="b" t="t" l="l"/>
                <a:pathLst>
                  <a:path h="1466028" w="10065471">
                    <a:moveTo>
                      <a:pt x="0" y="0"/>
                    </a:moveTo>
                    <a:lnTo>
                      <a:pt x="10065471" y="0"/>
                    </a:lnTo>
                    <a:lnTo>
                      <a:pt x="10065471" y="1466028"/>
                    </a:lnTo>
                    <a:lnTo>
                      <a:pt x="0" y="1466028"/>
                    </a:lnTo>
                    <a:close/>
                  </a:path>
                </a:pathLst>
              </a:custGeom>
              <a:blipFill>
                <a:blip r:embed="rId4">
                  <a:alphaModFix amt="0"/>
                </a:blip>
                <a:stretch>
                  <a:fillRect l="0" t="-252027" r="-114758" b="-222582"/>
                </a:stretch>
              </a:blipFill>
            </p:spPr>
          </p:sp>
          <p:sp>
            <p:nvSpPr>
              <p:cNvPr name="TextBox 28" id="28"/>
              <p:cNvSpPr txBox="true"/>
              <p:nvPr/>
            </p:nvSpPr>
            <p:spPr>
              <a:xfrm>
                <a:off x="0" y="0"/>
                <a:ext cx="10065471" cy="14660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Learning Phase</a:t>
                </a:r>
              </a:p>
              <a:p>
                <a:pPr algn="l">
                  <a:lnSpc>
                    <a:spcPts val="2578"/>
                  </a:lnSpc>
                </a:pPr>
                <a:r>
                  <a:rPr lang="en-US" sz="2148">
                    <a:solidFill>
                      <a:srgbClr val="5A6A85"/>
                    </a:solidFill>
                    <a:latin typeface="Exo 2"/>
                    <a:ea typeface="Exo 2"/>
                    <a:cs typeface="Exo 2"/>
                    <a:sym typeface="Exo 2"/>
                  </a:rPr>
                  <a:t>No reset required. The current learning phase does not need to be repeated.</a:t>
                </a:r>
              </a:p>
            </p:txBody>
          </p:sp>
        </p:grpSp>
        <p:grpSp>
          <p:nvGrpSpPr>
            <p:cNvPr name="Group 29" id="29"/>
            <p:cNvGrpSpPr/>
            <p:nvPr/>
          </p:nvGrpSpPr>
          <p:grpSpPr>
            <a:xfrm rot="0">
              <a:off x="0" y="164449"/>
              <a:ext cx="373049" cy="324441"/>
              <a:chOff x="0" y="0"/>
              <a:chExt cx="817751" cy="711200"/>
            </a:xfrm>
          </p:grpSpPr>
          <p:sp>
            <p:nvSpPr>
              <p:cNvPr name="Freeform 30" id="30"/>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31" id="31"/>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32" id="32"/>
          <p:cNvGrpSpPr/>
          <p:nvPr/>
        </p:nvGrpSpPr>
        <p:grpSpPr>
          <a:xfrm rot="0">
            <a:off x="9614466" y="7187224"/>
            <a:ext cx="7945074" cy="2071076"/>
            <a:chOff x="0" y="0"/>
            <a:chExt cx="10593432" cy="2761435"/>
          </a:xfrm>
        </p:grpSpPr>
        <p:grpSp>
          <p:nvGrpSpPr>
            <p:cNvPr name="Group 33" id="33"/>
            <p:cNvGrpSpPr/>
            <p:nvPr/>
          </p:nvGrpSpPr>
          <p:grpSpPr>
            <a:xfrm rot="0">
              <a:off x="588899" y="0"/>
              <a:ext cx="10004533" cy="2761435"/>
              <a:chOff x="0" y="0"/>
              <a:chExt cx="10004533" cy="2761435"/>
            </a:xfrm>
          </p:grpSpPr>
          <p:sp>
            <p:nvSpPr>
              <p:cNvPr name="Freeform 34" id="34"/>
              <p:cNvSpPr/>
              <p:nvPr/>
            </p:nvSpPr>
            <p:spPr>
              <a:xfrm flipH="false" flipV="false" rot="0">
                <a:off x="0" y="0"/>
                <a:ext cx="10004533" cy="2761422"/>
              </a:xfrm>
              <a:custGeom>
                <a:avLst/>
                <a:gdLst/>
                <a:ahLst/>
                <a:cxnLst/>
                <a:rect r="r" b="b" t="t" l="l"/>
                <a:pathLst>
                  <a:path h="2761422" w="10004533">
                    <a:moveTo>
                      <a:pt x="0" y="0"/>
                    </a:moveTo>
                    <a:lnTo>
                      <a:pt x="10004533" y="0"/>
                    </a:lnTo>
                    <a:lnTo>
                      <a:pt x="10004533" y="2761422"/>
                    </a:lnTo>
                    <a:lnTo>
                      <a:pt x="0" y="2761422"/>
                    </a:lnTo>
                    <a:close/>
                  </a:path>
                </a:pathLst>
              </a:custGeom>
              <a:blipFill>
                <a:blip r:embed="rId4">
                  <a:alphaModFix amt="0"/>
                </a:blip>
                <a:stretch>
                  <a:fillRect l="0" t="-133800" r="-116066" b="-71257"/>
                </a:stretch>
              </a:blipFill>
            </p:spPr>
          </p:sp>
          <p:sp>
            <p:nvSpPr>
              <p:cNvPr name="TextBox 35" id="35"/>
              <p:cNvSpPr txBox="true"/>
              <p:nvPr/>
            </p:nvSpPr>
            <p:spPr>
              <a:xfrm>
                <a:off x="0" y="0"/>
                <a:ext cx="10004533" cy="27614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Conversion Tracking Issue:</a:t>
                </a:r>
              </a:p>
              <a:p>
                <a:pPr algn="l">
                  <a:lnSpc>
                    <a:spcPts val="2578"/>
                  </a:lnSpc>
                </a:pPr>
                <a:r>
                  <a:rPr lang="en-US" sz="2148">
                    <a:solidFill>
                      <a:srgbClr val="5A6A85"/>
                    </a:solidFill>
                    <a:latin typeface="Exo 2"/>
                    <a:ea typeface="Exo 2"/>
                    <a:cs typeface="Exo 2"/>
                    <a:sym typeface="Exo 2"/>
                  </a:rPr>
                  <a:t>An issue has been identified with Android Firebase conversion tracking. Despite over 62,000 impressions and 3,000 clicks, zero conversions were recorded. Terence is investigating and has advised holding off on scaling the campaign until this is resolved.</a:t>
                </a:r>
              </a:p>
            </p:txBody>
          </p:sp>
        </p:grpSp>
        <p:grpSp>
          <p:nvGrpSpPr>
            <p:cNvPr name="Group 36" id="36"/>
            <p:cNvGrpSpPr/>
            <p:nvPr/>
          </p:nvGrpSpPr>
          <p:grpSpPr>
            <a:xfrm rot="0">
              <a:off x="0" y="164455"/>
              <a:ext cx="370790" cy="324441"/>
              <a:chOff x="0" y="0"/>
              <a:chExt cx="812800" cy="711200"/>
            </a:xfrm>
          </p:grpSpPr>
          <p:sp>
            <p:nvSpPr>
              <p:cNvPr name="Freeform 37" id="3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38" id="38"/>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389102"/>
            <a:chOff x="0" y="0"/>
            <a:chExt cx="24383390" cy="1852136"/>
          </a:xfrm>
        </p:grpSpPr>
        <p:sp>
          <p:nvSpPr>
            <p:cNvPr name="Freeform 3" id="3"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4"/>
          <p:cNvGrpSpPr/>
          <p:nvPr/>
        </p:nvGrpSpPr>
        <p:grpSpPr>
          <a:xfrm rot="0">
            <a:off x="-9525" y="1374683"/>
            <a:ext cx="18306593" cy="47625"/>
            <a:chOff x="0" y="0"/>
            <a:chExt cx="24408790" cy="63500"/>
          </a:xfrm>
        </p:grpSpPr>
        <p:sp>
          <p:nvSpPr>
            <p:cNvPr name="Freeform 5" id="5"/>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6" id="6"/>
          <p:cNvGrpSpPr/>
          <p:nvPr/>
        </p:nvGrpSpPr>
        <p:grpSpPr>
          <a:xfrm rot="0">
            <a:off x="850392" y="297596"/>
            <a:ext cx="13990320" cy="1124712"/>
            <a:chOff x="0" y="0"/>
            <a:chExt cx="18653760" cy="1499616"/>
          </a:xfrm>
        </p:grpSpPr>
        <p:sp>
          <p:nvSpPr>
            <p:cNvPr name="Freeform 7" id="7"/>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8"/>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Screenshot of Google Ads SEO Ranking</a:t>
              </a:r>
            </a:p>
          </p:txBody>
        </p:sp>
      </p:grpSp>
      <p:grpSp>
        <p:nvGrpSpPr>
          <p:cNvPr name="Group 9" id="9"/>
          <p:cNvGrpSpPr/>
          <p:nvPr/>
        </p:nvGrpSpPr>
        <p:grpSpPr>
          <a:xfrm rot="0">
            <a:off x="15457932" y="571916"/>
            <a:ext cx="1988820" cy="576072"/>
            <a:chOff x="0" y="0"/>
            <a:chExt cx="2651760" cy="768096"/>
          </a:xfrm>
        </p:grpSpPr>
        <p:sp>
          <p:nvSpPr>
            <p:cNvPr name="Freeform 10" id="10"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1" id="11"/>
          <p:cNvGrpSpPr/>
          <p:nvPr/>
        </p:nvGrpSpPr>
        <p:grpSpPr>
          <a:xfrm rot="0">
            <a:off x="15910560" y="9505188"/>
            <a:ext cx="1536192" cy="548640"/>
            <a:chOff x="0" y="0"/>
            <a:chExt cx="2048256" cy="731520"/>
          </a:xfrm>
        </p:grpSpPr>
        <p:sp>
          <p:nvSpPr>
            <p:cNvPr name="Freeform 12" id="12"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sp>
        <p:nvSpPr>
          <p:cNvPr name="TextBox 13" id="13"/>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INFLUENCER VIDEO</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grpSp>
        <p:nvGrpSpPr>
          <p:cNvPr name="Group 4" id="4"/>
          <p:cNvGrpSpPr/>
          <p:nvPr/>
        </p:nvGrpSpPr>
        <p:grpSpPr>
          <a:xfrm rot="0">
            <a:off x="14630340" y="1028700"/>
            <a:ext cx="2628960" cy="757148"/>
            <a:chOff x="0" y="0"/>
            <a:chExt cx="6614516" cy="1905000"/>
          </a:xfrm>
        </p:grpSpPr>
        <p:sp>
          <p:nvSpPr>
            <p:cNvPr name="Freeform 5" id="5"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6" id="6"/>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292489" y="3780565"/>
            <a:ext cx="15703023" cy="1285875"/>
          </a:xfrm>
          <a:prstGeom prst="rect">
            <a:avLst/>
          </a:prstGeom>
        </p:spPr>
        <p:txBody>
          <a:bodyPr anchor="t" rtlCol="false" tIns="0" lIns="0" bIns="0" rIns="0">
            <a:spAutoFit/>
          </a:bodyPr>
          <a:lstStyle/>
          <a:p>
            <a:pPr algn="ctr">
              <a:lnSpc>
                <a:spcPts val="10079"/>
              </a:lnSpc>
            </a:pPr>
            <a:r>
              <a:rPr lang="en-US" b="true" sz="8399">
                <a:solidFill>
                  <a:srgbClr val="FFFFFF"/>
                </a:solidFill>
                <a:latin typeface="Exo 2 Bold"/>
                <a:ea typeface="Exo 2 Bold"/>
                <a:cs typeface="Exo 2 Bold"/>
                <a:sym typeface="Exo 2 Bold"/>
              </a:rPr>
              <a:t>Thank You</a:t>
            </a:r>
          </a:p>
        </p:txBody>
      </p:sp>
      <p:sp>
        <p:nvSpPr>
          <p:cNvPr name="TextBox 8" id="8"/>
          <p:cNvSpPr txBox="true"/>
          <p:nvPr/>
        </p:nvSpPr>
        <p:spPr>
          <a:xfrm rot="0">
            <a:off x="6321387" y="5649399"/>
            <a:ext cx="5555060" cy="485775"/>
          </a:xfrm>
          <a:prstGeom prst="rect">
            <a:avLst/>
          </a:prstGeom>
        </p:spPr>
        <p:txBody>
          <a:bodyPr anchor="t" rtlCol="false" tIns="0" lIns="0" bIns="0" rIns="0">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Appendix</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0551" y="1766411"/>
            <a:ext cx="17041177" cy="2071688"/>
          </a:xfrm>
          <a:custGeom>
            <a:avLst/>
            <a:gdLst/>
            <a:ahLst/>
            <a:cxnLst/>
            <a:rect r="r" b="b" t="t" l="l"/>
            <a:pathLst>
              <a:path h="2071688" w="17041177">
                <a:moveTo>
                  <a:pt x="0" y="0"/>
                </a:moveTo>
                <a:lnTo>
                  <a:pt x="17041178" y="0"/>
                </a:lnTo>
                <a:lnTo>
                  <a:pt x="17041178" y="2071688"/>
                </a:lnTo>
                <a:lnTo>
                  <a:pt x="0" y="2071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32688" y="2057400"/>
            <a:ext cx="2057400" cy="438912"/>
            <a:chOff x="0" y="0"/>
            <a:chExt cx="2743200" cy="585216"/>
          </a:xfrm>
        </p:grpSpPr>
        <p:sp>
          <p:nvSpPr>
            <p:cNvPr name="Freeform 4" id="4"/>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65098"/>
              </a:srgbClr>
            </a:solidFill>
          </p:spPr>
        </p:sp>
      </p:grpSp>
      <p:grpSp>
        <p:nvGrpSpPr>
          <p:cNvPr name="Group 5" id="5"/>
          <p:cNvGrpSpPr/>
          <p:nvPr/>
        </p:nvGrpSpPr>
        <p:grpSpPr>
          <a:xfrm rot="0">
            <a:off x="932688" y="2057400"/>
            <a:ext cx="2057400" cy="438912"/>
            <a:chOff x="0" y="0"/>
            <a:chExt cx="2743200" cy="585216"/>
          </a:xfrm>
        </p:grpSpPr>
        <p:sp>
          <p:nvSpPr>
            <p:cNvPr name="Freeform 6" id="6"/>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solidFill>
              <a:srgbClr val="1E9E6B"/>
            </a:solidFill>
          </p:spPr>
        </p:sp>
      </p:grpSp>
      <p:grpSp>
        <p:nvGrpSpPr>
          <p:cNvPr name="Group 7" id="7"/>
          <p:cNvGrpSpPr/>
          <p:nvPr/>
        </p:nvGrpSpPr>
        <p:grpSpPr>
          <a:xfrm rot="0">
            <a:off x="932688" y="2050256"/>
            <a:ext cx="2057400" cy="446056"/>
            <a:chOff x="0" y="0"/>
            <a:chExt cx="2743200" cy="594741"/>
          </a:xfrm>
        </p:grpSpPr>
        <p:sp>
          <p:nvSpPr>
            <p:cNvPr name="Freeform 8" id="8"/>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9" id="9"/>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DONE</a:t>
              </a:r>
            </a:p>
          </p:txBody>
        </p:sp>
      </p:grpSp>
      <p:grpSp>
        <p:nvGrpSpPr>
          <p:cNvPr name="Group 10" id="10"/>
          <p:cNvGrpSpPr/>
          <p:nvPr/>
        </p:nvGrpSpPr>
        <p:grpSpPr>
          <a:xfrm rot="0">
            <a:off x="3223260" y="2002536"/>
            <a:ext cx="13441680" cy="548640"/>
            <a:chOff x="0" y="0"/>
            <a:chExt cx="17922240" cy="731520"/>
          </a:xfrm>
        </p:grpSpPr>
        <p:sp>
          <p:nvSpPr>
            <p:cNvPr name="Freeform 11" id="11"/>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12" id="12"/>
          <p:cNvGrpSpPr/>
          <p:nvPr/>
        </p:nvGrpSpPr>
        <p:grpSpPr>
          <a:xfrm rot="0">
            <a:off x="3223260" y="1995392"/>
            <a:ext cx="13441680" cy="555784"/>
            <a:chOff x="0" y="0"/>
            <a:chExt cx="17922240" cy="741045"/>
          </a:xfrm>
        </p:grpSpPr>
        <p:sp>
          <p:nvSpPr>
            <p:cNvPr name="Freeform 13" id="13"/>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14" id="14"/>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Helpdesk Deployment - Frappe Helpdesk</a:t>
              </a:r>
            </a:p>
          </p:txBody>
        </p:sp>
      </p:grpSp>
      <p:grpSp>
        <p:nvGrpSpPr>
          <p:cNvPr name="Group 15" id="15"/>
          <p:cNvGrpSpPr/>
          <p:nvPr/>
        </p:nvGrpSpPr>
        <p:grpSpPr>
          <a:xfrm rot="0">
            <a:off x="932688" y="2633472"/>
            <a:ext cx="16322040" cy="822960"/>
            <a:chOff x="0" y="0"/>
            <a:chExt cx="21762720" cy="1097280"/>
          </a:xfrm>
        </p:grpSpPr>
        <p:sp>
          <p:nvSpPr>
            <p:cNvPr name="Freeform 16" id="16"/>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17" id="17"/>
          <p:cNvGrpSpPr/>
          <p:nvPr/>
        </p:nvGrpSpPr>
        <p:grpSpPr>
          <a:xfrm rot="0">
            <a:off x="932688" y="2612041"/>
            <a:ext cx="16322040" cy="844391"/>
            <a:chOff x="0" y="0"/>
            <a:chExt cx="21762720" cy="1125855"/>
          </a:xfrm>
        </p:grpSpPr>
        <p:sp>
          <p:nvSpPr>
            <p:cNvPr name="Freeform 18" id="18"/>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19" id="19"/>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Deployed by WealthTech IT on 17 Sep 2026, ahead of the 20 Sep target. Cybersecurity approval was received on 20 August.</a:t>
              </a:r>
            </a:p>
          </p:txBody>
        </p:sp>
      </p:grpSp>
      <p:sp>
        <p:nvSpPr>
          <p:cNvPr name="Freeform 20" id="20"/>
          <p:cNvSpPr/>
          <p:nvPr/>
        </p:nvSpPr>
        <p:spPr>
          <a:xfrm flipH="false" flipV="false" rot="0">
            <a:off x="600551" y="41613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932688" y="4452366"/>
            <a:ext cx="2057400" cy="438912"/>
            <a:chOff x="0" y="0"/>
            <a:chExt cx="2743200" cy="585216"/>
          </a:xfrm>
        </p:grpSpPr>
        <p:sp>
          <p:nvSpPr>
            <p:cNvPr name="Freeform 22" id="22"/>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65098"/>
              </a:srgbClr>
            </a:solidFill>
          </p:spPr>
        </p:sp>
      </p:grpSp>
      <p:grpSp>
        <p:nvGrpSpPr>
          <p:cNvPr name="Group 23" id="23"/>
          <p:cNvGrpSpPr/>
          <p:nvPr/>
        </p:nvGrpSpPr>
        <p:grpSpPr>
          <a:xfrm rot="0">
            <a:off x="932688" y="4452366"/>
            <a:ext cx="2057400" cy="438912"/>
            <a:chOff x="0" y="0"/>
            <a:chExt cx="2743200" cy="585216"/>
          </a:xfrm>
        </p:grpSpPr>
        <p:sp>
          <p:nvSpPr>
            <p:cNvPr name="Freeform 24" id="24"/>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25" id="25"/>
          <p:cNvGrpSpPr/>
          <p:nvPr/>
        </p:nvGrpSpPr>
        <p:grpSpPr>
          <a:xfrm rot="0">
            <a:off x="932688" y="4445222"/>
            <a:ext cx="2057400" cy="446056"/>
            <a:chOff x="0" y="0"/>
            <a:chExt cx="2743200" cy="594741"/>
          </a:xfrm>
        </p:grpSpPr>
        <p:sp>
          <p:nvSpPr>
            <p:cNvPr name="Freeform 26" id="26"/>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27" id="27"/>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PLANNED</a:t>
              </a:r>
            </a:p>
          </p:txBody>
        </p:sp>
      </p:grpSp>
      <p:grpSp>
        <p:nvGrpSpPr>
          <p:cNvPr name="Group 28" id="28"/>
          <p:cNvGrpSpPr/>
          <p:nvPr/>
        </p:nvGrpSpPr>
        <p:grpSpPr>
          <a:xfrm rot="0">
            <a:off x="3223260" y="4397502"/>
            <a:ext cx="13441680" cy="548640"/>
            <a:chOff x="0" y="0"/>
            <a:chExt cx="17922240" cy="731520"/>
          </a:xfrm>
        </p:grpSpPr>
        <p:sp>
          <p:nvSpPr>
            <p:cNvPr name="Freeform 29" id="29"/>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30" id="30"/>
          <p:cNvGrpSpPr/>
          <p:nvPr/>
        </p:nvGrpSpPr>
        <p:grpSpPr>
          <a:xfrm rot="0">
            <a:off x="3223260" y="4390358"/>
            <a:ext cx="13441680" cy="555784"/>
            <a:chOff x="0" y="0"/>
            <a:chExt cx="17922240" cy="741045"/>
          </a:xfrm>
        </p:grpSpPr>
        <p:sp>
          <p:nvSpPr>
            <p:cNvPr name="Freeform 31" id="31"/>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32" id="32"/>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WealthTech CRM - Frappe CRM</a:t>
              </a:r>
            </a:p>
          </p:txBody>
        </p:sp>
      </p:grpSp>
      <p:grpSp>
        <p:nvGrpSpPr>
          <p:cNvPr name="Group 33" id="33"/>
          <p:cNvGrpSpPr/>
          <p:nvPr/>
        </p:nvGrpSpPr>
        <p:grpSpPr>
          <a:xfrm rot="0">
            <a:off x="932688" y="5028438"/>
            <a:ext cx="16322040" cy="822960"/>
            <a:chOff x="0" y="0"/>
            <a:chExt cx="21762720" cy="1097280"/>
          </a:xfrm>
        </p:grpSpPr>
        <p:sp>
          <p:nvSpPr>
            <p:cNvPr name="Freeform 34" id="34"/>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35" id="35"/>
          <p:cNvGrpSpPr/>
          <p:nvPr/>
        </p:nvGrpSpPr>
        <p:grpSpPr>
          <a:xfrm rot="0">
            <a:off x="932688" y="5007007"/>
            <a:ext cx="16322040" cy="844391"/>
            <a:chOff x="0" y="0"/>
            <a:chExt cx="21762720" cy="1125855"/>
          </a:xfrm>
        </p:grpSpPr>
        <p:sp>
          <p:nvSpPr>
            <p:cNvPr name="Freeform 36" id="36"/>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37" id="37"/>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Cybersecurity has approved Frappe applications. Frappe's CRM module will hold one customer base. Starts now that Helpdesk is live.</a:t>
              </a:r>
            </a:p>
          </p:txBody>
        </p:sp>
      </p:grpSp>
      <p:sp>
        <p:nvSpPr>
          <p:cNvPr name="Freeform 38" id="38"/>
          <p:cNvSpPr/>
          <p:nvPr/>
        </p:nvSpPr>
        <p:spPr>
          <a:xfrm flipH="false" flipV="false" rot="0">
            <a:off x="600551" y="62187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9" id="39"/>
          <p:cNvGrpSpPr/>
          <p:nvPr/>
        </p:nvGrpSpPr>
        <p:grpSpPr>
          <a:xfrm rot="0">
            <a:off x="932688" y="6509766"/>
            <a:ext cx="2057400" cy="438912"/>
            <a:chOff x="0" y="0"/>
            <a:chExt cx="2743200" cy="585216"/>
          </a:xfrm>
        </p:grpSpPr>
        <p:sp>
          <p:nvSpPr>
            <p:cNvPr name="Freeform 40" id="40"/>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65098"/>
              </a:srgbClr>
            </a:solidFill>
          </p:spPr>
        </p:sp>
      </p:grpSp>
      <p:grpSp>
        <p:nvGrpSpPr>
          <p:cNvPr name="Group 41" id="41"/>
          <p:cNvGrpSpPr/>
          <p:nvPr/>
        </p:nvGrpSpPr>
        <p:grpSpPr>
          <a:xfrm rot="0">
            <a:off x="932688" y="6509766"/>
            <a:ext cx="2057400" cy="438912"/>
            <a:chOff x="0" y="0"/>
            <a:chExt cx="2743200" cy="585216"/>
          </a:xfrm>
        </p:grpSpPr>
        <p:sp>
          <p:nvSpPr>
            <p:cNvPr name="Freeform 42" id="42"/>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43" id="43"/>
          <p:cNvGrpSpPr/>
          <p:nvPr/>
        </p:nvGrpSpPr>
        <p:grpSpPr>
          <a:xfrm rot="0">
            <a:off x="932688" y="6502622"/>
            <a:ext cx="2057400" cy="446056"/>
            <a:chOff x="0" y="0"/>
            <a:chExt cx="2743200" cy="594741"/>
          </a:xfrm>
        </p:grpSpPr>
        <p:sp>
          <p:nvSpPr>
            <p:cNvPr name="Freeform 44" id="44"/>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45" id="45"/>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EXPLORING</a:t>
              </a:r>
            </a:p>
          </p:txBody>
        </p:sp>
      </p:grpSp>
      <p:grpSp>
        <p:nvGrpSpPr>
          <p:cNvPr name="Group 46" id="46"/>
          <p:cNvGrpSpPr/>
          <p:nvPr/>
        </p:nvGrpSpPr>
        <p:grpSpPr>
          <a:xfrm rot="0">
            <a:off x="3223260" y="6454902"/>
            <a:ext cx="13441680" cy="548640"/>
            <a:chOff x="0" y="0"/>
            <a:chExt cx="17922240" cy="731520"/>
          </a:xfrm>
        </p:grpSpPr>
        <p:sp>
          <p:nvSpPr>
            <p:cNvPr name="Freeform 47" id="47"/>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48" id="48"/>
          <p:cNvGrpSpPr/>
          <p:nvPr/>
        </p:nvGrpSpPr>
        <p:grpSpPr>
          <a:xfrm rot="0">
            <a:off x="3223260" y="6447758"/>
            <a:ext cx="13441680" cy="555784"/>
            <a:chOff x="0" y="0"/>
            <a:chExt cx="17922240" cy="741045"/>
          </a:xfrm>
        </p:grpSpPr>
        <p:sp>
          <p:nvSpPr>
            <p:cNvPr name="Freeform 49" id="49"/>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50" id="50"/>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Reporting Dashboard</a:t>
              </a:r>
            </a:p>
          </p:txBody>
        </p:sp>
      </p:grpSp>
      <p:grpSp>
        <p:nvGrpSpPr>
          <p:cNvPr name="Group 51" id="51"/>
          <p:cNvGrpSpPr/>
          <p:nvPr/>
        </p:nvGrpSpPr>
        <p:grpSpPr>
          <a:xfrm rot="0">
            <a:off x="932688" y="7085838"/>
            <a:ext cx="16322040" cy="822960"/>
            <a:chOff x="0" y="0"/>
            <a:chExt cx="21762720" cy="1097280"/>
          </a:xfrm>
        </p:grpSpPr>
        <p:sp>
          <p:nvSpPr>
            <p:cNvPr name="Freeform 52" id="52"/>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53" id="53"/>
          <p:cNvGrpSpPr/>
          <p:nvPr/>
        </p:nvGrpSpPr>
        <p:grpSpPr>
          <a:xfrm rot="0">
            <a:off x="932688" y="7064407"/>
            <a:ext cx="16322040" cy="844391"/>
            <a:chOff x="0" y="0"/>
            <a:chExt cx="21762720" cy="1125855"/>
          </a:xfrm>
        </p:grpSpPr>
        <p:sp>
          <p:nvSpPr>
            <p:cNvPr name="Freeform 54" id="54"/>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55" id="55"/>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name="Group 56" id="56"/>
          <p:cNvGrpSpPr/>
          <p:nvPr/>
        </p:nvGrpSpPr>
        <p:grpSpPr>
          <a:xfrm rot="0">
            <a:off x="804862" y="603561"/>
            <a:ext cx="13241569" cy="822855"/>
            <a:chOff x="0" y="0"/>
            <a:chExt cx="17655426" cy="1097140"/>
          </a:xfrm>
        </p:grpSpPr>
        <p:sp>
          <p:nvSpPr>
            <p:cNvPr name="Freeform 57" id="57"/>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5">
                <a:alphaModFix amt="0"/>
              </a:blip>
              <a:stretch>
                <a:fillRect l="0" t="-263337" r="0" b="-263334"/>
              </a:stretch>
            </a:blipFill>
          </p:spPr>
        </p:sp>
      </p:grpSp>
      <p:grpSp>
        <p:nvGrpSpPr>
          <p:cNvPr name="Group 58" id="58"/>
          <p:cNvGrpSpPr/>
          <p:nvPr/>
        </p:nvGrpSpPr>
        <p:grpSpPr>
          <a:xfrm rot="0">
            <a:off x="804862" y="596417"/>
            <a:ext cx="13241569" cy="829999"/>
            <a:chOff x="0" y="0"/>
            <a:chExt cx="17655426" cy="1106665"/>
          </a:xfrm>
        </p:grpSpPr>
        <p:sp>
          <p:nvSpPr>
            <p:cNvPr name="Freeform 59" id="59"/>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60" id="60"/>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Platform Initiatives Roadmap</a:t>
              </a:r>
            </a:p>
          </p:txBody>
        </p:sp>
      </p:grpSp>
      <p:sp>
        <p:nvSpPr>
          <p:cNvPr name="Freeform 61" id="61"/>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2" id="62"/>
          <p:cNvGrpSpPr/>
          <p:nvPr/>
        </p:nvGrpSpPr>
        <p:grpSpPr>
          <a:xfrm rot="0">
            <a:off x="15441806" y="505082"/>
            <a:ext cx="1817494" cy="523618"/>
            <a:chOff x="0" y="0"/>
            <a:chExt cx="2423325" cy="698157"/>
          </a:xfrm>
        </p:grpSpPr>
        <p:sp>
          <p:nvSpPr>
            <p:cNvPr name="Freeform 63" id="6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10"/>
              <a:stretch>
                <a:fillRect l="0" t="-74" r="-1" b="-80"/>
              </a:stretch>
            </a:blipFill>
          </p:spPr>
        </p:sp>
      </p:grpSp>
      <p:sp>
        <p:nvSpPr>
          <p:cNvPr name="Freeform 64" id="64"/>
          <p:cNvSpPr/>
          <p:nvPr/>
        </p:nvSpPr>
        <p:spPr>
          <a:xfrm flipH="false" flipV="false" rot="0">
            <a:off x="13573477" y="1976342"/>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5" id="65"/>
          <p:cNvGrpSpPr/>
          <p:nvPr/>
        </p:nvGrpSpPr>
        <p:grpSpPr>
          <a:xfrm rot="0">
            <a:off x="13590146" y="1993011"/>
            <a:ext cx="3703320" cy="493776"/>
            <a:chOff x="0" y="0"/>
            <a:chExt cx="4937760" cy="658368"/>
          </a:xfrm>
        </p:grpSpPr>
        <p:sp>
          <p:nvSpPr>
            <p:cNvPr name="Freeform 66" id="66"/>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67" id="67"/>
          <p:cNvGrpSpPr/>
          <p:nvPr/>
        </p:nvGrpSpPr>
        <p:grpSpPr>
          <a:xfrm rot="0">
            <a:off x="13590146" y="1985867"/>
            <a:ext cx="3703320" cy="500920"/>
            <a:chOff x="0" y="0"/>
            <a:chExt cx="4937760" cy="667893"/>
          </a:xfrm>
        </p:grpSpPr>
        <p:sp>
          <p:nvSpPr>
            <p:cNvPr name="Freeform 68" id="68"/>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69" id="69"/>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20 Sep 2026</a:t>
              </a:r>
            </a:p>
          </p:txBody>
        </p:sp>
      </p:grpSp>
      <p:sp>
        <p:nvSpPr>
          <p:cNvPr name="Freeform 70" id="70"/>
          <p:cNvSpPr/>
          <p:nvPr/>
        </p:nvSpPr>
        <p:spPr>
          <a:xfrm flipH="false" flipV="false" rot="0">
            <a:off x="13573477" y="43903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1" id="71"/>
          <p:cNvGrpSpPr/>
          <p:nvPr/>
        </p:nvGrpSpPr>
        <p:grpSpPr>
          <a:xfrm rot="0">
            <a:off x="13590146" y="4407027"/>
            <a:ext cx="3703320" cy="493776"/>
            <a:chOff x="0" y="0"/>
            <a:chExt cx="4937760" cy="658368"/>
          </a:xfrm>
        </p:grpSpPr>
        <p:sp>
          <p:nvSpPr>
            <p:cNvPr name="Freeform 72" id="72"/>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3" id="73"/>
          <p:cNvGrpSpPr/>
          <p:nvPr/>
        </p:nvGrpSpPr>
        <p:grpSpPr>
          <a:xfrm rot="0">
            <a:off x="13590146" y="4399883"/>
            <a:ext cx="3703320" cy="500920"/>
            <a:chOff x="0" y="0"/>
            <a:chExt cx="4937760" cy="667893"/>
          </a:xfrm>
        </p:grpSpPr>
        <p:sp>
          <p:nvSpPr>
            <p:cNvPr name="Freeform 74" id="74"/>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75" id="75"/>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29 Oct 2026</a:t>
              </a:r>
            </a:p>
          </p:txBody>
        </p:sp>
      </p:grpSp>
      <p:sp>
        <p:nvSpPr>
          <p:cNvPr name="Freeform 76" id="76"/>
          <p:cNvSpPr/>
          <p:nvPr/>
        </p:nvSpPr>
        <p:spPr>
          <a:xfrm flipH="false" flipV="false" rot="0">
            <a:off x="13573477" y="64477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77" id="77"/>
          <p:cNvGrpSpPr/>
          <p:nvPr/>
        </p:nvGrpSpPr>
        <p:grpSpPr>
          <a:xfrm rot="0">
            <a:off x="13590146" y="6464427"/>
            <a:ext cx="3703320" cy="493776"/>
            <a:chOff x="0" y="0"/>
            <a:chExt cx="4937760" cy="658368"/>
          </a:xfrm>
        </p:grpSpPr>
        <p:sp>
          <p:nvSpPr>
            <p:cNvPr name="Freeform 78" id="78"/>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9" id="79"/>
          <p:cNvGrpSpPr/>
          <p:nvPr/>
        </p:nvGrpSpPr>
        <p:grpSpPr>
          <a:xfrm rot="0">
            <a:off x="13590146" y="6457283"/>
            <a:ext cx="3703320" cy="500920"/>
            <a:chOff x="0" y="0"/>
            <a:chExt cx="4937760" cy="667893"/>
          </a:xfrm>
        </p:grpSpPr>
        <p:sp>
          <p:nvSpPr>
            <p:cNvPr name="Freeform 80" id="80"/>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81" id="81"/>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8A7530"/>
                  </a:solidFill>
                  <a:latin typeface="Exo 2 Bold"/>
                  <a:ea typeface="Exo 2 Bold"/>
                  <a:cs typeface="Exo 2 Bold"/>
                  <a:sym typeface="Exo 2 Bold"/>
                </a:rPr>
                <a:t>Under R&amp;D - date TBC</a:t>
              </a:r>
            </a:p>
          </p:txBody>
        </p:sp>
      </p:grpSp>
      <p:grpSp>
        <p:nvGrpSpPr>
          <p:cNvPr name="Group 82" id="82"/>
          <p:cNvGrpSpPr/>
          <p:nvPr/>
        </p:nvGrpSpPr>
        <p:grpSpPr>
          <a:xfrm rot="0">
            <a:off x="932688" y="3122676"/>
            <a:ext cx="16322040" cy="822960"/>
            <a:chOff x="0" y="0"/>
            <a:chExt cx="21762720" cy="1097280"/>
          </a:xfrm>
        </p:grpSpPr>
        <p:sp>
          <p:nvSpPr>
            <p:cNvPr name="Freeform 83" id="83"/>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84" id="84"/>
          <p:cNvGrpSpPr/>
          <p:nvPr/>
        </p:nvGrpSpPr>
        <p:grpSpPr>
          <a:xfrm rot="0">
            <a:off x="932688" y="3101245"/>
            <a:ext cx="16322040" cy="844391"/>
            <a:chOff x="0" y="0"/>
            <a:chExt cx="21762720" cy="1125855"/>
          </a:xfrm>
        </p:grpSpPr>
        <p:sp>
          <p:nvSpPr>
            <p:cNvPr name="Freeform 85" id="85"/>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86" id="86"/>
            <p:cNvSpPr txBox="true"/>
            <p:nvPr/>
          </p:nvSpPr>
          <p:spPr>
            <a:xfrm>
              <a:off x="0" y="-28575"/>
              <a:ext cx="21762720" cy="1154430"/>
            </a:xfrm>
            <a:prstGeom prst="rect">
              <a:avLst/>
            </a:prstGeom>
          </p:spPr>
          <p:txBody>
            <a:bodyPr anchor="ctr" rtlCol="false" tIns="0" lIns="0" bIns="0" rIns="0"/>
            <a:lstStyle/>
            <a:p>
              <a:pPr algn="l">
                <a:lnSpc>
                  <a:spcPts val="2277"/>
                </a:lnSpc>
              </a:pPr>
              <a:r>
                <a:rPr lang="en-US" b="true" sz="1650" i="true">
                  <a:solidFill>
                    <a:srgbClr val="1E9E6B"/>
                  </a:solidFill>
                  <a:latin typeface="Exo 2 Bold Italics"/>
                  <a:ea typeface="Exo 2 Bold Italics"/>
                  <a:cs typeface="Exo 2 Bold Italics"/>
                  <a:sym typeface="Exo 2 Bold Italics"/>
                </a:rPr>
                <a:t>Live since 17 Sep 2026</a:t>
              </a:r>
            </a:p>
          </p:txBody>
        </p:sp>
      </p:grpSp>
      <p:sp>
        <p:nvSpPr>
          <p:cNvPr name="Freeform 87" id="8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Helpdesk: Improvement Backlog</a:t>
              </a:r>
            </a:p>
          </p:txBody>
        </p:sp>
      </p:grpSp>
      <p:sp>
        <p:nvSpPr>
          <p:cNvPr name="Freeform 9" id="9"/>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FEEDBACK FROM THE TEAMS SINCE GO-LIVE ON 17 SEP</a:t>
            </a:r>
          </a:p>
        </p:txBody>
      </p:sp>
      <p:grpSp>
        <p:nvGrpSpPr>
          <p:cNvPr name="Group 11" id="11"/>
          <p:cNvGrpSpPr/>
          <p:nvPr/>
        </p:nvGrpSpPr>
        <p:grpSpPr>
          <a:xfrm rot="0">
            <a:off x="626173" y="2098358"/>
            <a:ext cx="3118485" cy="1307973"/>
            <a:chOff x="0" y="0"/>
            <a:chExt cx="4157980" cy="1743964"/>
          </a:xfrm>
        </p:grpSpPr>
        <p:sp>
          <p:nvSpPr>
            <p:cNvPr name="Freeform 12" id="12"/>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3" id="13"/>
          <p:cNvGrpSpPr/>
          <p:nvPr/>
        </p:nvGrpSpPr>
        <p:grpSpPr>
          <a:xfrm rot="0">
            <a:off x="630936" y="2103120"/>
            <a:ext cx="73152" cy="1298448"/>
            <a:chOff x="0" y="0"/>
            <a:chExt cx="97536" cy="1731264"/>
          </a:xfrm>
        </p:grpSpPr>
        <p:sp>
          <p:nvSpPr>
            <p:cNvPr name="Freeform 14" id="14"/>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21C36"/>
            </a:solidFill>
          </p:spPr>
        </p:sp>
      </p:grpSp>
      <p:sp>
        <p:nvSpPr>
          <p:cNvPr name="TextBox 15" id="15"/>
          <p:cNvSpPr txBox="true"/>
          <p:nvPr/>
        </p:nvSpPr>
        <p:spPr>
          <a:xfrm rot="0">
            <a:off x="914400" y="2203323"/>
            <a:ext cx="2743200" cy="695325"/>
          </a:xfrm>
          <a:prstGeom prst="rect">
            <a:avLst/>
          </a:prstGeom>
        </p:spPr>
        <p:txBody>
          <a:bodyPr anchor="t" rtlCol="false" tIns="0" lIns="0" bIns="0" rIns="0">
            <a:spAutoFit/>
          </a:bodyPr>
          <a:lstStyle/>
          <a:p>
            <a:pPr algn="l">
              <a:lnSpc>
                <a:spcPts val="4320"/>
              </a:lnSpc>
            </a:pPr>
            <a:r>
              <a:rPr lang="en-US" sz="3600" b="true">
                <a:solidFill>
                  <a:srgbClr val="121C36"/>
                </a:solidFill>
                <a:latin typeface="Exo 2 Bold"/>
                <a:ea typeface="Exo 2 Bold"/>
                <a:cs typeface="Exo 2 Bold"/>
                <a:sym typeface="Exo 2 Bold"/>
              </a:rPr>
              <a:t>7</a:t>
            </a:r>
          </a:p>
        </p:txBody>
      </p:sp>
      <p:sp>
        <p:nvSpPr>
          <p:cNvPr name="TextBox 16" id="16"/>
          <p:cNvSpPr txBox="true"/>
          <p:nvPr/>
        </p:nvSpPr>
        <p:spPr>
          <a:xfrm rot="0">
            <a:off x="914400" y="2916555"/>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Items logged</a:t>
            </a:r>
          </a:p>
        </p:txBody>
      </p:sp>
      <p:grpSp>
        <p:nvGrpSpPr>
          <p:cNvPr name="Group 17" id="17"/>
          <p:cNvGrpSpPr/>
          <p:nvPr/>
        </p:nvGrpSpPr>
        <p:grpSpPr>
          <a:xfrm rot="0">
            <a:off x="626173" y="3579686"/>
            <a:ext cx="3118485" cy="1307973"/>
            <a:chOff x="0" y="0"/>
            <a:chExt cx="4157980" cy="1743964"/>
          </a:xfrm>
        </p:grpSpPr>
        <p:sp>
          <p:nvSpPr>
            <p:cNvPr name="Freeform 18" id="18"/>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9" id="19"/>
          <p:cNvGrpSpPr/>
          <p:nvPr/>
        </p:nvGrpSpPr>
        <p:grpSpPr>
          <a:xfrm rot="0">
            <a:off x="630936" y="3584448"/>
            <a:ext cx="73152" cy="1298448"/>
            <a:chOff x="0" y="0"/>
            <a:chExt cx="97536" cy="1731264"/>
          </a:xfrm>
        </p:grpSpPr>
        <p:sp>
          <p:nvSpPr>
            <p:cNvPr name="Freeform 20" id="20"/>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E9E6B"/>
            </a:solidFill>
          </p:spPr>
        </p:sp>
      </p:grpSp>
      <p:sp>
        <p:nvSpPr>
          <p:cNvPr name="TextBox 21" id="21"/>
          <p:cNvSpPr txBox="true"/>
          <p:nvPr/>
        </p:nvSpPr>
        <p:spPr>
          <a:xfrm rot="0">
            <a:off x="914400" y="3684651"/>
            <a:ext cx="2743200" cy="69532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3</a:t>
            </a:r>
          </a:p>
        </p:txBody>
      </p:sp>
      <p:sp>
        <p:nvSpPr>
          <p:cNvPr name="TextBox 22" id="22"/>
          <p:cNvSpPr txBox="true"/>
          <p:nvPr/>
        </p:nvSpPr>
        <p:spPr>
          <a:xfrm rot="0">
            <a:off x="914400" y="4397883"/>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Completed</a:t>
            </a:r>
          </a:p>
        </p:txBody>
      </p:sp>
      <p:grpSp>
        <p:nvGrpSpPr>
          <p:cNvPr name="Group 23" id="23"/>
          <p:cNvGrpSpPr/>
          <p:nvPr/>
        </p:nvGrpSpPr>
        <p:grpSpPr>
          <a:xfrm rot="0">
            <a:off x="626173" y="5061014"/>
            <a:ext cx="3118485" cy="1307973"/>
            <a:chOff x="0" y="0"/>
            <a:chExt cx="4157980" cy="1743964"/>
          </a:xfrm>
        </p:grpSpPr>
        <p:sp>
          <p:nvSpPr>
            <p:cNvPr name="Freeform 24" id="24"/>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25" id="25"/>
          <p:cNvGrpSpPr/>
          <p:nvPr/>
        </p:nvGrpSpPr>
        <p:grpSpPr>
          <a:xfrm rot="0">
            <a:off x="630936" y="5065776"/>
            <a:ext cx="73152" cy="1298448"/>
            <a:chOff x="0" y="0"/>
            <a:chExt cx="97536" cy="1731264"/>
          </a:xfrm>
        </p:grpSpPr>
        <p:sp>
          <p:nvSpPr>
            <p:cNvPr name="Freeform 26" id="26"/>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D98C1F"/>
            </a:solidFill>
          </p:spPr>
        </p:sp>
      </p:grpSp>
      <p:sp>
        <p:nvSpPr>
          <p:cNvPr name="TextBox 27" id="27"/>
          <p:cNvSpPr txBox="true"/>
          <p:nvPr/>
        </p:nvSpPr>
        <p:spPr>
          <a:xfrm rot="0">
            <a:off x="914400" y="5165979"/>
            <a:ext cx="2743200" cy="69532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a:t>
            </a:r>
          </a:p>
        </p:txBody>
      </p:sp>
      <p:sp>
        <p:nvSpPr>
          <p:cNvPr name="TextBox 28" id="28"/>
          <p:cNvSpPr txBox="true"/>
          <p:nvPr/>
        </p:nvSpPr>
        <p:spPr>
          <a:xfrm rot="0">
            <a:off x="914400" y="5879211"/>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In progress</a:t>
            </a:r>
          </a:p>
        </p:txBody>
      </p:sp>
      <p:grpSp>
        <p:nvGrpSpPr>
          <p:cNvPr name="Group 29" id="29"/>
          <p:cNvGrpSpPr/>
          <p:nvPr/>
        </p:nvGrpSpPr>
        <p:grpSpPr>
          <a:xfrm rot="0">
            <a:off x="626173" y="6542342"/>
            <a:ext cx="3118485" cy="1307973"/>
            <a:chOff x="0" y="0"/>
            <a:chExt cx="4157980" cy="1743964"/>
          </a:xfrm>
        </p:grpSpPr>
        <p:sp>
          <p:nvSpPr>
            <p:cNvPr name="Freeform 30" id="30"/>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31" id="31"/>
          <p:cNvGrpSpPr/>
          <p:nvPr/>
        </p:nvGrpSpPr>
        <p:grpSpPr>
          <a:xfrm rot="0">
            <a:off x="630936" y="6547104"/>
            <a:ext cx="73152" cy="1298448"/>
            <a:chOff x="0" y="0"/>
            <a:chExt cx="97536" cy="1731264"/>
          </a:xfrm>
        </p:grpSpPr>
        <p:sp>
          <p:nvSpPr>
            <p:cNvPr name="Freeform 32" id="32"/>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3C61B6"/>
            </a:solidFill>
          </p:spPr>
        </p:sp>
      </p:grpSp>
      <p:sp>
        <p:nvSpPr>
          <p:cNvPr name="TextBox 33" id="33"/>
          <p:cNvSpPr txBox="true"/>
          <p:nvPr/>
        </p:nvSpPr>
        <p:spPr>
          <a:xfrm rot="0">
            <a:off x="914400" y="6647307"/>
            <a:ext cx="2743200" cy="69532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3</a:t>
            </a:r>
          </a:p>
        </p:txBody>
      </p:sp>
      <p:sp>
        <p:nvSpPr>
          <p:cNvPr name="TextBox 34" id="34"/>
          <p:cNvSpPr txBox="true"/>
          <p:nvPr/>
        </p:nvSpPr>
        <p:spPr>
          <a:xfrm rot="0">
            <a:off x="914400" y="7360539"/>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New</a:t>
            </a:r>
          </a:p>
        </p:txBody>
      </p:sp>
      <p:graphicFrame>
        <p:nvGraphicFramePr>
          <p:cNvPr name="Table 35" id="35"/>
          <p:cNvGraphicFramePr>
            <a:graphicFrameLocks noGrp="true"/>
          </p:cNvGraphicFramePr>
          <p:nvPr/>
        </p:nvGraphicFramePr>
        <p:xfrm>
          <a:off x="4069080" y="2103120"/>
          <a:ext cx="13563600" cy="5689600"/>
        </p:xfrm>
        <a:graphic>
          <a:graphicData uri="http://schemas.openxmlformats.org/drawingml/2006/table">
            <a:tbl>
              <a:tblPr/>
              <a:tblGrid>
                <a:gridCol w="9387773"/>
                <a:gridCol w="1742035"/>
                <a:gridCol w="2433792"/>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Improvement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Priority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Standalone desktop app for Client Experience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Auto-acknowledgement email with ticket ID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Notify Client Experience of new tickets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Pause SLA timers on weekends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Knowledge base linked to the eMYAA support page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Create a ticket when a chatbot user picks "Contact a Human"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CRM link: create Helpdesk accounts for new users automatically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bl>
          </a:graphicData>
        </a:graphic>
      </p:graphicFrame>
      <p:sp>
        <p:nvSpPr>
          <p:cNvPr name="Freeform 36" id="3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2"/>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3">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IT Progress Update</a:t>
              </a:r>
            </a:p>
          </p:txBody>
        </p:sp>
      </p:grpSp>
      <p:sp>
        <p:nvSpPr>
          <p:cNvPr name="Freeform 9" id="9"/>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23411" y="2079927"/>
            <a:ext cx="17041177" cy="4760366"/>
          </a:xfrm>
          <a:custGeom>
            <a:avLst/>
            <a:gdLst/>
            <a:ahLst/>
            <a:cxnLst/>
            <a:rect r="r" b="b" t="t" l="l"/>
            <a:pathLst>
              <a:path h="4760366" w="17041177">
                <a:moveTo>
                  <a:pt x="0" y="0"/>
                </a:moveTo>
                <a:lnTo>
                  <a:pt x="17041178" y="0"/>
                </a:lnTo>
                <a:lnTo>
                  <a:pt x="17041178" y="4760366"/>
                </a:lnTo>
                <a:lnTo>
                  <a:pt x="0" y="47603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955548" y="2312622"/>
            <a:ext cx="14813280" cy="548640"/>
            <a:chOff x="0" y="0"/>
            <a:chExt cx="19751040" cy="731520"/>
          </a:xfrm>
        </p:grpSpPr>
        <p:sp>
          <p:nvSpPr>
            <p:cNvPr name="Freeform 12" id="12"/>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3">
                <a:alphaModFix amt="0"/>
              </a:blip>
              <a:stretch>
                <a:fillRect l="0" t="-475730" r="0" b="-475729"/>
              </a:stretch>
            </a:blipFill>
          </p:spPr>
        </p:sp>
      </p:grpSp>
      <p:grpSp>
        <p:nvGrpSpPr>
          <p:cNvPr name="Group 13" id="13"/>
          <p:cNvGrpSpPr/>
          <p:nvPr/>
        </p:nvGrpSpPr>
        <p:grpSpPr>
          <a:xfrm rot="0">
            <a:off x="955548" y="2305479"/>
            <a:ext cx="14813280" cy="555784"/>
            <a:chOff x="0" y="0"/>
            <a:chExt cx="19751040" cy="741045"/>
          </a:xfrm>
        </p:grpSpPr>
        <p:sp>
          <p:nvSpPr>
            <p:cNvPr name="Freeform 14" id="14"/>
            <p:cNvSpPr/>
            <p:nvPr/>
          </p:nvSpPr>
          <p:spPr>
            <a:xfrm flipH="false" flipV="false" rot="0">
              <a:off x="0" y="0"/>
              <a:ext cx="19751039" cy="741045"/>
            </a:xfrm>
            <a:custGeom>
              <a:avLst/>
              <a:gdLst/>
              <a:ahLst/>
              <a:cxnLst/>
              <a:rect r="r" b="b" t="t" l="l"/>
              <a:pathLst>
                <a:path h="741045" w="19751039">
                  <a:moveTo>
                    <a:pt x="0" y="0"/>
                  </a:moveTo>
                  <a:lnTo>
                    <a:pt x="19751039" y="0"/>
                  </a:lnTo>
                  <a:lnTo>
                    <a:pt x="19751039" y="741045"/>
                  </a:lnTo>
                  <a:lnTo>
                    <a:pt x="0" y="741045"/>
                  </a:lnTo>
                  <a:close/>
                </a:path>
              </a:pathLst>
            </a:custGeom>
            <a:blipFill>
              <a:blip r:embed="rId4">
                <a:alphaModFix amt="0"/>
              </a:blip>
              <a:stretch>
                <a:fillRect l="0" t="-469333" r="0" b="-469333"/>
              </a:stretch>
            </a:blipFill>
          </p:spPr>
        </p:sp>
        <p:sp>
          <p:nvSpPr>
            <p:cNvPr name="TextBox 15" id="15"/>
            <p:cNvSpPr txBox="true"/>
            <p:nvPr/>
          </p:nvSpPr>
          <p:spPr>
            <a:xfrm>
              <a:off x="0" y="-9525"/>
              <a:ext cx="19751040" cy="750570"/>
            </a:xfrm>
            <a:prstGeom prst="rect">
              <a:avLst/>
            </a:prstGeom>
          </p:spPr>
          <p:txBody>
            <a:bodyPr anchor="ctr" rtlCol="false" tIns="0" lIns="0" bIns="0" rIns="0"/>
            <a:lstStyle/>
            <a:p>
              <a:pPr algn="l">
                <a:lnSpc>
                  <a:spcPts val="2700"/>
                </a:lnSpc>
              </a:pPr>
              <a:r>
                <a:rPr lang="en-US" sz="2250" b="true">
                  <a:solidFill>
                    <a:srgbClr val="1B1B3A"/>
                  </a:solidFill>
                  <a:latin typeface="Exo 2 Bold"/>
                  <a:ea typeface="Exo 2 Bold"/>
                  <a:cs typeface="Exo 2 Bold"/>
                  <a:sym typeface="Exo 2 Bold"/>
                </a:rPr>
                <a:t>Exante - Status Update</a:t>
              </a:r>
            </a:p>
          </p:txBody>
        </p:sp>
      </p:grpSp>
      <p:grpSp>
        <p:nvGrpSpPr>
          <p:cNvPr name="Group 16" id="16"/>
          <p:cNvGrpSpPr/>
          <p:nvPr/>
        </p:nvGrpSpPr>
        <p:grpSpPr>
          <a:xfrm rot="0">
            <a:off x="937260" y="3256026"/>
            <a:ext cx="246888" cy="246888"/>
            <a:chOff x="0" y="0"/>
            <a:chExt cx="329184" cy="329184"/>
          </a:xfrm>
        </p:grpSpPr>
        <p:sp>
          <p:nvSpPr>
            <p:cNvPr name="Freeform 17" id="17"/>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18" id="18"/>
          <p:cNvSpPr txBox="true"/>
          <p:nvPr/>
        </p:nvSpPr>
        <p:spPr>
          <a:xfrm rot="0">
            <a:off x="1348740" y="3065907"/>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nvGrpSpPr>
          <p:cNvPr name="Group 19" id="19"/>
          <p:cNvGrpSpPr/>
          <p:nvPr/>
        </p:nvGrpSpPr>
        <p:grpSpPr>
          <a:xfrm rot="0">
            <a:off x="937260" y="4348029"/>
            <a:ext cx="246888" cy="246888"/>
            <a:chOff x="0" y="0"/>
            <a:chExt cx="329184" cy="329184"/>
          </a:xfrm>
        </p:grpSpPr>
        <p:sp>
          <p:nvSpPr>
            <p:cNvPr name="Freeform 20" id="20"/>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1" id="21"/>
          <p:cNvSpPr txBox="true"/>
          <p:nvPr/>
        </p:nvSpPr>
        <p:spPr>
          <a:xfrm rot="0">
            <a:off x="1348740" y="4157910"/>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First version of the Next App due 08 Oct 2026. Full release plan to be shared next week.</a:t>
            </a:r>
          </a:p>
        </p:txBody>
      </p:sp>
      <p:grpSp>
        <p:nvGrpSpPr>
          <p:cNvPr name="Group 22" id="22"/>
          <p:cNvGrpSpPr/>
          <p:nvPr/>
        </p:nvGrpSpPr>
        <p:grpSpPr>
          <a:xfrm rot="0">
            <a:off x="937260" y="5440042"/>
            <a:ext cx="246888" cy="246888"/>
            <a:chOff x="0" y="0"/>
            <a:chExt cx="329184" cy="329184"/>
          </a:xfrm>
        </p:grpSpPr>
        <p:sp>
          <p:nvSpPr>
            <p:cNvPr name="Freeform 23" id="23"/>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4" id="24"/>
          <p:cNvSpPr txBox="true"/>
          <p:nvPr/>
        </p:nvSpPr>
        <p:spPr>
          <a:xfrm rot="0">
            <a:off x="1348740" y="5249923"/>
            <a:ext cx="15910560" cy="1022223"/>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Tests</a:t>
            </a:r>
          </a:p>
          <a:p>
            <a:pPr algn="l">
              <a:lnSpc>
                <a:spcPts val="2690"/>
              </a:lnSpc>
            </a:pPr>
            <a:r>
              <a:rPr lang="en-US" sz="1950">
                <a:solidFill>
                  <a:srgbClr val="6B7280"/>
                </a:solidFill>
                <a:latin typeface="Exo 2"/>
                <a:ea typeface="Exo 2"/>
                <a:cs typeface="Exo 2"/>
                <a:sym typeface="Exo 2"/>
              </a:rPr>
              <a:t>The Android security update passed two internal test rounds (99.4%) and went live on Google Play on 29 Sep. Sanity test date for Next App v1: to be confirmed.</a:t>
            </a:r>
          </a:p>
        </p:txBody>
      </p:sp>
      <p:sp>
        <p:nvSpPr>
          <p:cNvPr name="Freeform 25" id="25"/>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56083"/>
            <a:chOff x="0" y="0"/>
            <a:chExt cx="24408790" cy="74778"/>
          </a:xfrm>
        </p:grpSpPr>
        <p:sp>
          <p:nvSpPr>
            <p:cNvPr name="Freeform 5" id="5"/>
            <p:cNvSpPr/>
            <p:nvPr/>
          </p:nvSpPr>
          <p:spPr>
            <a:xfrm flipH="false" flipV="false" rot="0">
              <a:off x="0" y="0"/>
              <a:ext cx="24408764" cy="74803"/>
            </a:xfrm>
            <a:custGeom>
              <a:avLst/>
              <a:gdLst/>
              <a:ahLst/>
              <a:cxnLst/>
              <a:rect r="r" b="b" t="t" l="l"/>
              <a:pathLst>
                <a:path h="74803" w="24408764">
                  <a:moveTo>
                    <a:pt x="0" y="0"/>
                  </a:moveTo>
                  <a:lnTo>
                    <a:pt x="24408764" y="0"/>
                  </a:lnTo>
                  <a:lnTo>
                    <a:pt x="24408764" y="74803"/>
                  </a:lnTo>
                  <a:lnTo>
                    <a:pt x="0" y="74803"/>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283845"/>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GOOGLE ADS AND INSTALLS</a:t>
            </a:r>
          </a:p>
        </p:txBody>
      </p:sp>
      <p:grpSp>
        <p:nvGrpSpPr>
          <p:cNvPr name="Group 7" id="7"/>
          <p:cNvGrpSpPr/>
          <p:nvPr/>
        </p:nvGrpSpPr>
        <p:grpSpPr>
          <a:xfrm rot="0">
            <a:off x="850392" y="713232"/>
            <a:ext cx="13990320" cy="1124712"/>
            <a:chOff x="0" y="0"/>
            <a:chExt cx="18653760" cy="1499616"/>
          </a:xfrm>
        </p:grpSpPr>
        <p:sp>
          <p:nvSpPr>
            <p:cNvPr name="Freeform 8" id="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9" id="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Google Ads went live on 22 September; installs then grew at their fastest weekly pace of the month</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2" id="12"/>
          <p:cNvGrpSpPr/>
          <p:nvPr/>
        </p:nvGrpSpPr>
        <p:grpSpPr>
          <a:xfrm rot="0">
            <a:off x="15910560" y="9505188"/>
            <a:ext cx="1536192" cy="548640"/>
            <a:chOff x="0" y="0"/>
            <a:chExt cx="2048256" cy="731520"/>
          </a:xfrm>
        </p:grpSpPr>
        <p:sp>
          <p:nvSpPr>
            <p:cNvPr name="Freeform 13" id="13"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sp>
        <p:nvSpPr>
          <p:cNvPr name="TextBox 14" id="14"/>
          <p:cNvSpPr txBox="true"/>
          <p:nvPr/>
        </p:nvSpPr>
        <p:spPr>
          <a:xfrm rot="0">
            <a:off x="836104" y="2986447"/>
            <a:ext cx="10081260" cy="24765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App installs, cumulative (Android + iOS)</a:t>
            </a:r>
          </a:p>
        </p:txBody>
      </p:sp>
      <p:sp>
        <p:nvSpPr>
          <p:cNvPr name="AutoShape 15" id="15"/>
          <p:cNvSpPr/>
          <p:nvPr/>
        </p:nvSpPr>
        <p:spPr>
          <a:xfrm>
            <a:off x="1512380" y="8257554"/>
            <a:ext cx="9277349" cy="19107"/>
          </a:xfrm>
          <a:prstGeom prst="line">
            <a:avLst/>
          </a:prstGeom>
          <a:ln cap="rnd" w="9525">
            <a:solidFill>
              <a:srgbClr val="C6CFE4"/>
            </a:solidFill>
            <a:prstDash val="solid"/>
            <a:headEnd type="none" len="sm" w="sm"/>
            <a:tailEnd type="none" len="sm" w="sm"/>
          </a:ln>
        </p:spPr>
      </p:sp>
      <p:grpSp>
        <p:nvGrpSpPr>
          <p:cNvPr name="Group 16" id="16"/>
          <p:cNvGrpSpPr/>
          <p:nvPr/>
        </p:nvGrpSpPr>
        <p:grpSpPr>
          <a:xfrm rot="0">
            <a:off x="836105" y="8102515"/>
            <a:ext cx="576072" cy="329184"/>
            <a:chOff x="0" y="0"/>
            <a:chExt cx="768096" cy="438912"/>
          </a:xfrm>
        </p:grpSpPr>
        <p:sp>
          <p:nvSpPr>
            <p:cNvPr name="Freeform 17" id="17"/>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18" id="18"/>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360</a:t>
              </a:r>
            </a:p>
          </p:txBody>
        </p:sp>
      </p:grpSp>
      <p:sp>
        <p:nvSpPr>
          <p:cNvPr name="AutoShape 19" id="19"/>
          <p:cNvSpPr/>
          <p:nvPr/>
        </p:nvSpPr>
        <p:spPr>
          <a:xfrm>
            <a:off x="1514757" y="7341015"/>
            <a:ext cx="9272586" cy="14242"/>
          </a:xfrm>
          <a:prstGeom prst="line">
            <a:avLst/>
          </a:prstGeom>
          <a:ln cap="rnd" w="9525">
            <a:solidFill>
              <a:srgbClr val="E6EAF2"/>
            </a:solidFill>
            <a:prstDash val="solid"/>
            <a:headEnd type="none" len="sm" w="sm"/>
            <a:tailEnd type="none" len="sm" w="sm"/>
          </a:ln>
        </p:spPr>
      </p:sp>
      <p:grpSp>
        <p:nvGrpSpPr>
          <p:cNvPr name="Group 20" id="20"/>
          <p:cNvGrpSpPr/>
          <p:nvPr/>
        </p:nvGrpSpPr>
        <p:grpSpPr>
          <a:xfrm rot="0">
            <a:off x="836105" y="7183543"/>
            <a:ext cx="576072" cy="329184"/>
            <a:chOff x="0" y="0"/>
            <a:chExt cx="768096" cy="438912"/>
          </a:xfrm>
        </p:grpSpPr>
        <p:sp>
          <p:nvSpPr>
            <p:cNvPr name="Freeform 21" id="21"/>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2" id="22"/>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390</a:t>
              </a:r>
            </a:p>
          </p:txBody>
        </p:sp>
      </p:grpSp>
      <p:sp>
        <p:nvSpPr>
          <p:cNvPr name="AutoShape 23" id="23"/>
          <p:cNvSpPr/>
          <p:nvPr/>
        </p:nvSpPr>
        <p:spPr>
          <a:xfrm>
            <a:off x="1514757" y="6422043"/>
            <a:ext cx="9272586" cy="14242"/>
          </a:xfrm>
          <a:prstGeom prst="line">
            <a:avLst/>
          </a:prstGeom>
          <a:ln cap="rnd" w="9525">
            <a:solidFill>
              <a:srgbClr val="E6EAF2"/>
            </a:solidFill>
            <a:prstDash val="solid"/>
            <a:headEnd type="none" len="sm" w="sm"/>
            <a:tailEnd type="none" len="sm" w="sm"/>
          </a:ln>
        </p:spPr>
      </p:sp>
      <p:grpSp>
        <p:nvGrpSpPr>
          <p:cNvPr name="Group 24" id="24"/>
          <p:cNvGrpSpPr/>
          <p:nvPr/>
        </p:nvGrpSpPr>
        <p:grpSpPr>
          <a:xfrm rot="0">
            <a:off x="836105" y="6264571"/>
            <a:ext cx="576072" cy="329184"/>
            <a:chOff x="0" y="0"/>
            <a:chExt cx="768096" cy="438912"/>
          </a:xfrm>
        </p:grpSpPr>
        <p:sp>
          <p:nvSpPr>
            <p:cNvPr name="Freeform 25" id="25"/>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6" id="26"/>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420</a:t>
              </a:r>
            </a:p>
          </p:txBody>
        </p:sp>
      </p:grpSp>
      <p:sp>
        <p:nvSpPr>
          <p:cNvPr name="AutoShape 27" id="27"/>
          <p:cNvSpPr/>
          <p:nvPr/>
        </p:nvSpPr>
        <p:spPr>
          <a:xfrm>
            <a:off x="1514757" y="5503071"/>
            <a:ext cx="9272586" cy="14242"/>
          </a:xfrm>
          <a:prstGeom prst="line">
            <a:avLst/>
          </a:prstGeom>
          <a:ln cap="rnd" w="9525">
            <a:solidFill>
              <a:srgbClr val="E6EAF2"/>
            </a:solidFill>
            <a:prstDash val="solid"/>
            <a:headEnd type="none" len="sm" w="sm"/>
            <a:tailEnd type="none" len="sm" w="sm"/>
          </a:ln>
        </p:spPr>
      </p:sp>
      <p:grpSp>
        <p:nvGrpSpPr>
          <p:cNvPr name="Group 28" id="28"/>
          <p:cNvGrpSpPr/>
          <p:nvPr/>
        </p:nvGrpSpPr>
        <p:grpSpPr>
          <a:xfrm rot="0">
            <a:off x="836105" y="5345599"/>
            <a:ext cx="576072" cy="329184"/>
            <a:chOff x="0" y="0"/>
            <a:chExt cx="768096" cy="438912"/>
          </a:xfrm>
        </p:grpSpPr>
        <p:sp>
          <p:nvSpPr>
            <p:cNvPr name="Freeform 29" id="29"/>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0" id="30"/>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450</a:t>
              </a:r>
            </a:p>
          </p:txBody>
        </p:sp>
      </p:grpSp>
      <p:sp>
        <p:nvSpPr>
          <p:cNvPr name="AutoShape 31" id="31"/>
          <p:cNvSpPr/>
          <p:nvPr/>
        </p:nvSpPr>
        <p:spPr>
          <a:xfrm>
            <a:off x="1514757" y="4584099"/>
            <a:ext cx="9272586" cy="14242"/>
          </a:xfrm>
          <a:prstGeom prst="line">
            <a:avLst/>
          </a:prstGeom>
          <a:ln cap="rnd" w="9525">
            <a:solidFill>
              <a:srgbClr val="E6EAF2"/>
            </a:solidFill>
            <a:prstDash val="solid"/>
            <a:headEnd type="none" len="sm" w="sm"/>
            <a:tailEnd type="none" len="sm" w="sm"/>
          </a:ln>
        </p:spPr>
      </p:sp>
      <p:grpSp>
        <p:nvGrpSpPr>
          <p:cNvPr name="Group 32" id="32"/>
          <p:cNvGrpSpPr/>
          <p:nvPr/>
        </p:nvGrpSpPr>
        <p:grpSpPr>
          <a:xfrm rot="0">
            <a:off x="836105" y="4426627"/>
            <a:ext cx="576072" cy="329184"/>
            <a:chOff x="0" y="0"/>
            <a:chExt cx="768096" cy="438912"/>
          </a:xfrm>
        </p:grpSpPr>
        <p:sp>
          <p:nvSpPr>
            <p:cNvPr name="Freeform 33" id="33"/>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4" id="34"/>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480</a:t>
              </a:r>
            </a:p>
          </p:txBody>
        </p:sp>
      </p:grpSp>
      <p:sp>
        <p:nvSpPr>
          <p:cNvPr name="AutoShape 35" id="35"/>
          <p:cNvSpPr/>
          <p:nvPr/>
        </p:nvSpPr>
        <p:spPr>
          <a:xfrm>
            <a:off x="1514757" y="3665127"/>
            <a:ext cx="9272586" cy="14242"/>
          </a:xfrm>
          <a:prstGeom prst="line">
            <a:avLst/>
          </a:prstGeom>
          <a:ln cap="rnd" w="9525">
            <a:solidFill>
              <a:srgbClr val="E6EAF2"/>
            </a:solidFill>
            <a:prstDash val="solid"/>
            <a:headEnd type="none" len="sm" w="sm"/>
            <a:tailEnd type="none" len="sm" w="sm"/>
          </a:ln>
        </p:spPr>
      </p:sp>
      <p:grpSp>
        <p:nvGrpSpPr>
          <p:cNvPr name="Group 36" id="36"/>
          <p:cNvGrpSpPr/>
          <p:nvPr/>
        </p:nvGrpSpPr>
        <p:grpSpPr>
          <a:xfrm rot="0">
            <a:off x="836105" y="3507655"/>
            <a:ext cx="576072" cy="329184"/>
            <a:chOff x="0" y="0"/>
            <a:chExt cx="768096" cy="438912"/>
          </a:xfrm>
        </p:grpSpPr>
        <p:sp>
          <p:nvSpPr>
            <p:cNvPr name="Freeform 37" id="37"/>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8" id="38"/>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510</a:t>
              </a:r>
            </a:p>
          </p:txBody>
        </p:sp>
      </p:grpSp>
      <p:sp>
        <p:nvSpPr>
          <p:cNvPr name="AutoShape 39" id="39"/>
          <p:cNvSpPr/>
          <p:nvPr/>
        </p:nvSpPr>
        <p:spPr>
          <a:xfrm>
            <a:off x="7960550" y="3591763"/>
            <a:ext cx="23806" cy="4687249"/>
          </a:xfrm>
          <a:prstGeom prst="line">
            <a:avLst/>
          </a:prstGeom>
          <a:ln cap="rnd" w="9525">
            <a:solidFill>
              <a:srgbClr val="D4AF37"/>
            </a:solidFill>
            <a:prstDash val="solid"/>
            <a:headEnd type="none" len="sm" w="sm"/>
            <a:tailEnd type="none" len="sm" w="sm"/>
          </a:ln>
        </p:spPr>
      </p:sp>
      <p:sp>
        <p:nvSpPr>
          <p:cNvPr name="AutoShape 40" id="40"/>
          <p:cNvSpPr/>
          <p:nvPr/>
        </p:nvSpPr>
        <p:spPr>
          <a:xfrm flipV="true">
            <a:off x="1703833" y="7354956"/>
            <a:ext cx="568031" cy="537742"/>
          </a:xfrm>
          <a:prstGeom prst="line">
            <a:avLst/>
          </a:prstGeom>
          <a:ln cap="rnd" w="28575">
            <a:solidFill>
              <a:srgbClr val="132257"/>
            </a:solidFill>
            <a:prstDash val="solid"/>
            <a:headEnd type="none" len="sm" w="sm"/>
            <a:tailEnd type="none" len="sm" w="sm"/>
          </a:ln>
        </p:spPr>
      </p:sp>
      <p:sp>
        <p:nvSpPr>
          <p:cNvPr name="AutoShape 41" id="41"/>
          <p:cNvSpPr/>
          <p:nvPr/>
        </p:nvSpPr>
        <p:spPr>
          <a:xfrm flipV="true">
            <a:off x="2224238" y="7171158"/>
            <a:ext cx="568028" cy="231426"/>
          </a:xfrm>
          <a:prstGeom prst="line">
            <a:avLst/>
          </a:prstGeom>
          <a:ln cap="rnd" w="28575">
            <a:solidFill>
              <a:srgbClr val="132257"/>
            </a:solidFill>
            <a:prstDash val="solid"/>
            <a:headEnd type="none" len="sm" w="sm"/>
            <a:tailEnd type="none" len="sm" w="sm"/>
          </a:ln>
        </p:spPr>
      </p:sp>
      <p:sp>
        <p:nvSpPr>
          <p:cNvPr name="AutoShape 42" id="42"/>
          <p:cNvSpPr/>
          <p:nvPr/>
        </p:nvSpPr>
        <p:spPr>
          <a:xfrm flipV="true">
            <a:off x="2744635" y="6926100"/>
            <a:ext cx="568021" cy="292688"/>
          </a:xfrm>
          <a:prstGeom prst="line">
            <a:avLst/>
          </a:prstGeom>
          <a:ln cap="rnd" w="28575">
            <a:solidFill>
              <a:srgbClr val="132257"/>
            </a:solidFill>
            <a:prstDash val="solid"/>
            <a:headEnd type="none" len="sm" w="sm"/>
            <a:tailEnd type="none" len="sm" w="sm"/>
          </a:ln>
        </p:spPr>
      </p:sp>
      <p:sp>
        <p:nvSpPr>
          <p:cNvPr name="AutoShape 43" id="43"/>
          <p:cNvSpPr/>
          <p:nvPr/>
        </p:nvSpPr>
        <p:spPr>
          <a:xfrm flipV="true">
            <a:off x="3265039" y="6711672"/>
            <a:ext cx="568028" cy="262057"/>
          </a:xfrm>
          <a:prstGeom prst="line">
            <a:avLst/>
          </a:prstGeom>
          <a:ln cap="rnd" w="28575">
            <a:solidFill>
              <a:srgbClr val="132257"/>
            </a:solidFill>
            <a:prstDash val="solid"/>
            <a:headEnd type="none" len="sm" w="sm"/>
            <a:tailEnd type="none" len="sm" w="sm"/>
          </a:ln>
        </p:spPr>
      </p:sp>
      <p:sp>
        <p:nvSpPr>
          <p:cNvPr name="AutoShape 44" id="44"/>
          <p:cNvSpPr/>
          <p:nvPr/>
        </p:nvSpPr>
        <p:spPr>
          <a:xfrm flipV="true">
            <a:off x="3785436" y="6589145"/>
            <a:ext cx="568022" cy="170155"/>
          </a:xfrm>
          <a:prstGeom prst="line">
            <a:avLst/>
          </a:prstGeom>
          <a:ln cap="rnd" w="28575">
            <a:solidFill>
              <a:srgbClr val="132257"/>
            </a:solidFill>
            <a:prstDash val="solid"/>
            <a:headEnd type="none" len="sm" w="sm"/>
            <a:tailEnd type="none" len="sm" w="sm"/>
          </a:ln>
        </p:spPr>
      </p:sp>
      <p:sp>
        <p:nvSpPr>
          <p:cNvPr name="AutoShape 45" id="45"/>
          <p:cNvSpPr/>
          <p:nvPr/>
        </p:nvSpPr>
        <p:spPr>
          <a:xfrm flipV="true">
            <a:off x="4305844" y="6435982"/>
            <a:ext cx="568021" cy="200790"/>
          </a:xfrm>
          <a:prstGeom prst="line">
            <a:avLst/>
          </a:prstGeom>
          <a:ln cap="rnd" w="28575">
            <a:solidFill>
              <a:srgbClr val="132257"/>
            </a:solidFill>
            <a:prstDash val="solid"/>
            <a:headEnd type="none" len="sm" w="sm"/>
            <a:tailEnd type="none" len="sm" w="sm"/>
          </a:ln>
        </p:spPr>
      </p:sp>
      <p:sp>
        <p:nvSpPr>
          <p:cNvPr name="AutoShape 46" id="46"/>
          <p:cNvSpPr/>
          <p:nvPr/>
        </p:nvSpPr>
        <p:spPr>
          <a:xfrm flipV="true">
            <a:off x="4826242" y="6313453"/>
            <a:ext cx="568022" cy="170155"/>
          </a:xfrm>
          <a:prstGeom prst="line">
            <a:avLst/>
          </a:prstGeom>
          <a:ln cap="rnd" w="28575">
            <a:solidFill>
              <a:srgbClr val="132257"/>
            </a:solidFill>
            <a:prstDash val="solid"/>
            <a:headEnd type="none" len="sm" w="sm"/>
            <a:tailEnd type="none" len="sm" w="sm"/>
          </a:ln>
        </p:spPr>
      </p:sp>
      <p:sp>
        <p:nvSpPr>
          <p:cNvPr name="AutoShape 47" id="47"/>
          <p:cNvSpPr/>
          <p:nvPr/>
        </p:nvSpPr>
        <p:spPr>
          <a:xfrm flipV="true">
            <a:off x="5346642" y="6099024"/>
            <a:ext cx="568028" cy="262057"/>
          </a:xfrm>
          <a:prstGeom prst="line">
            <a:avLst/>
          </a:prstGeom>
          <a:ln cap="rnd" w="28575">
            <a:solidFill>
              <a:srgbClr val="132257"/>
            </a:solidFill>
            <a:prstDash val="solid"/>
            <a:headEnd type="none" len="sm" w="sm"/>
            <a:tailEnd type="none" len="sm" w="sm"/>
          </a:ln>
        </p:spPr>
      </p:sp>
      <p:sp>
        <p:nvSpPr>
          <p:cNvPr name="AutoShape 48" id="48"/>
          <p:cNvSpPr/>
          <p:nvPr/>
        </p:nvSpPr>
        <p:spPr>
          <a:xfrm flipV="true">
            <a:off x="5867038" y="6037762"/>
            <a:ext cx="568024" cy="108891"/>
          </a:xfrm>
          <a:prstGeom prst="line">
            <a:avLst/>
          </a:prstGeom>
          <a:ln cap="rnd" w="28575">
            <a:solidFill>
              <a:srgbClr val="132257"/>
            </a:solidFill>
            <a:prstDash val="solid"/>
            <a:headEnd type="none" len="sm" w="sm"/>
            <a:tailEnd type="none" len="sm" w="sm"/>
          </a:ln>
        </p:spPr>
      </p:sp>
      <p:sp>
        <p:nvSpPr>
          <p:cNvPr name="AutoShape 49" id="49"/>
          <p:cNvSpPr/>
          <p:nvPr/>
        </p:nvSpPr>
        <p:spPr>
          <a:xfrm flipV="true">
            <a:off x="6387447" y="5884599"/>
            <a:ext cx="568021" cy="200790"/>
          </a:xfrm>
          <a:prstGeom prst="line">
            <a:avLst/>
          </a:prstGeom>
          <a:ln cap="rnd" w="28575">
            <a:solidFill>
              <a:srgbClr val="132257"/>
            </a:solidFill>
            <a:prstDash val="solid"/>
            <a:headEnd type="none" len="sm" w="sm"/>
            <a:tailEnd type="none" len="sm" w="sm"/>
          </a:ln>
        </p:spPr>
      </p:sp>
      <p:sp>
        <p:nvSpPr>
          <p:cNvPr name="AutoShape 50" id="50"/>
          <p:cNvSpPr/>
          <p:nvPr/>
        </p:nvSpPr>
        <p:spPr>
          <a:xfrm>
            <a:off x="6907841" y="5884598"/>
            <a:ext cx="568030" cy="47629"/>
          </a:xfrm>
          <a:prstGeom prst="line">
            <a:avLst/>
          </a:prstGeom>
          <a:ln cap="rnd" w="28575">
            <a:solidFill>
              <a:srgbClr val="132257"/>
            </a:solidFill>
            <a:prstDash val="solid"/>
            <a:headEnd type="none" len="sm" w="sm"/>
            <a:tailEnd type="none" len="sm" w="sm"/>
          </a:ln>
        </p:spPr>
      </p:sp>
      <p:sp>
        <p:nvSpPr>
          <p:cNvPr name="AutoShape 51" id="51"/>
          <p:cNvSpPr/>
          <p:nvPr/>
        </p:nvSpPr>
        <p:spPr>
          <a:xfrm flipV="true">
            <a:off x="7428240" y="5425115"/>
            <a:ext cx="568029" cy="507110"/>
          </a:xfrm>
          <a:prstGeom prst="line">
            <a:avLst/>
          </a:prstGeom>
          <a:ln cap="rnd" w="28575">
            <a:solidFill>
              <a:srgbClr val="132257"/>
            </a:solidFill>
            <a:prstDash val="solid"/>
            <a:headEnd type="none" len="sm" w="sm"/>
            <a:tailEnd type="none" len="sm" w="sm"/>
          </a:ln>
        </p:spPr>
      </p:sp>
      <p:sp>
        <p:nvSpPr>
          <p:cNvPr name="AutoShape 52" id="52"/>
          <p:cNvSpPr/>
          <p:nvPr/>
        </p:nvSpPr>
        <p:spPr>
          <a:xfrm flipV="true">
            <a:off x="7948650" y="5363849"/>
            <a:ext cx="568024" cy="108891"/>
          </a:xfrm>
          <a:prstGeom prst="line">
            <a:avLst/>
          </a:prstGeom>
          <a:ln cap="rnd" w="28575">
            <a:solidFill>
              <a:srgbClr val="132257"/>
            </a:solidFill>
            <a:prstDash val="solid"/>
            <a:headEnd type="none" len="sm" w="sm"/>
            <a:tailEnd type="none" len="sm" w="sm"/>
          </a:ln>
        </p:spPr>
      </p:sp>
      <p:sp>
        <p:nvSpPr>
          <p:cNvPr name="AutoShape 53" id="53"/>
          <p:cNvSpPr/>
          <p:nvPr/>
        </p:nvSpPr>
        <p:spPr>
          <a:xfrm flipV="true">
            <a:off x="8469045" y="5333218"/>
            <a:ext cx="568030" cy="78255"/>
          </a:xfrm>
          <a:prstGeom prst="line">
            <a:avLst/>
          </a:prstGeom>
          <a:ln cap="rnd" w="28575">
            <a:solidFill>
              <a:srgbClr val="132257"/>
            </a:solidFill>
            <a:prstDash val="solid"/>
            <a:headEnd type="none" len="sm" w="sm"/>
            <a:tailEnd type="none" len="sm" w="sm"/>
          </a:ln>
        </p:spPr>
      </p:sp>
      <p:sp>
        <p:nvSpPr>
          <p:cNvPr name="AutoShape 54" id="54"/>
          <p:cNvSpPr/>
          <p:nvPr/>
        </p:nvSpPr>
        <p:spPr>
          <a:xfrm flipV="true">
            <a:off x="8989451" y="4781831"/>
            <a:ext cx="568026" cy="599014"/>
          </a:xfrm>
          <a:prstGeom prst="line">
            <a:avLst/>
          </a:prstGeom>
          <a:ln cap="rnd" w="28575">
            <a:solidFill>
              <a:srgbClr val="132257"/>
            </a:solidFill>
            <a:prstDash val="solid"/>
            <a:headEnd type="none" len="sm" w="sm"/>
            <a:tailEnd type="none" len="sm" w="sm"/>
          </a:ln>
        </p:spPr>
      </p:sp>
      <p:sp>
        <p:nvSpPr>
          <p:cNvPr name="AutoShape 55" id="55"/>
          <p:cNvSpPr/>
          <p:nvPr/>
        </p:nvSpPr>
        <p:spPr>
          <a:xfrm flipV="true">
            <a:off x="9509848" y="4567404"/>
            <a:ext cx="568028" cy="262057"/>
          </a:xfrm>
          <a:prstGeom prst="line">
            <a:avLst/>
          </a:prstGeom>
          <a:ln cap="rnd" w="28575">
            <a:solidFill>
              <a:srgbClr val="132257"/>
            </a:solidFill>
            <a:prstDash val="solid"/>
            <a:headEnd type="none" len="sm" w="sm"/>
            <a:tailEnd type="none" len="sm" w="sm"/>
          </a:ln>
        </p:spPr>
      </p:sp>
      <p:sp>
        <p:nvSpPr>
          <p:cNvPr name="AutoShape 56" id="56"/>
          <p:cNvSpPr/>
          <p:nvPr/>
        </p:nvSpPr>
        <p:spPr>
          <a:xfrm flipV="true">
            <a:off x="10030254" y="4261084"/>
            <a:ext cx="568022" cy="353948"/>
          </a:xfrm>
          <a:prstGeom prst="line">
            <a:avLst/>
          </a:prstGeom>
          <a:ln cap="rnd" w="28575">
            <a:solidFill>
              <a:srgbClr val="132257"/>
            </a:solidFill>
            <a:prstDash val="solid"/>
            <a:headEnd type="none" len="sm" w="sm"/>
            <a:tailEnd type="none" len="sm" w="sm"/>
          </a:ln>
        </p:spPr>
      </p:sp>
      <p:grpSp>
        <p:nvGrpSpPr>
          <p:cNvPr name="Group 57" id="57"/>
          <p:cNvGrpSpPr/>
          <p:nvPr/>
        </p:nvGrpSpPr>
        <p:grpSpPr>
          <a:xfrm rot="0">
            <a:off x="1649540" y="7790781"/>
            <a:ext cx="156210" cy="156210"/>
            <a:chOff x="0" y="0"/>
            <a:chExt cx="208280" cy="208280"/>
          </a:xfrm>
        </p:grpSpPr>
        <p:sp>
          <p:nvSpPr>
            <p:cNvPr name="Freeform 58" id="5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59" id="59"/>
          <p:cNvSpPr txBox="true"/>
          <p:nvPr/>
        </p:nvSpPr>
        <p:spPr>
          <a:xfrm rot="0">
            <a:off x="1316164"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 Sep</a:t>
            </a:r>
          </a:p>
        </p:txBody>
      </p:sp>
      <p:grpSp>
        <p:nvGrpSpPr>
          <p:cNvPr name="Group 60" id="60"/>
          <p:cNvGrpSpPr/>
          <p:nvPr/>
        </p:nvGrpSpPr>
        <p:grpSpPr>
          <a:xfrm rot="0">
            <a:off x="2169938" y="7300663"/>
            <a:ext cx="156210" cy="156210"/>
            <a:chOff x="0" y="0"/>
            <a:chExt cx="208280" cy="208280"/>
          </a:xfrm>
        </p:grpSpPr>
        <p:sp>
          <p:nvSpPr>
            <p:cNvPr name="Freeform 61" id="6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2" id="62"/>
          <p:cNvSpPr txBox="true"/>
          <p:nvPr/>
        </p:nvSpPr>
        <p:spPr>
          <a:xfrm rot="0">
            <a:off x="1836563"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a:t>
            </a:r>
          </a:p>
        </p:txBody>
      </p:sp>
      <p:grpSp>
        <p:nvGrpSpPr>
          <p:cNvPr name="Group 63" id="63"/>
          <p:cNvGrpSpPr/>
          <p:nvPr/>
        </p:nvGrpSpPr>
        <p:grpSpPr>
          <a:xfrm rot="0">
            <a:off x="2690346" y="7116868"/>
            <a:ext cx="156210" cy="156210"/>
            <a:chOff x="0" y="0"/>
            <a:chExt cx="208280" cy="208280"/>
          </a:xfrm>
        </p:grpSpPr>
        <p:sp>
          <p:nvSpPr>
            <p:cNvPr name="Freeform 64" id="6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5" id="65"/>
          <p:cNvSpPr txBox="true"/>
          <p:nvPr/>
        </p:nvSpPr>
        <p:spPr>
          <a:xfrm rot="0">
            <a:off x="2356971"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3</a:t>
            </a:r>
          </a:p>
        </p:txBody>
      </p:sp>
      <p:grpSp>
        <p:nvGrpSpPr>
          <p:cNvPr name="Group 66" id="66"/>
          <p:cNvGrpSpPr/>
          <p:nvPr/>
        </p:nvGrpSpPr>
        <p:grpSpPr>
          <a:xfrm rot="0">
            <a:off x="3210744" y="6871809"/>
            <a:ext cx="156210" cy="156210"/>
            <a:chOff x="0" y="0"/>
            <a:chExt cx="208280" cy="208280"/>
          </a:xfrm>
        </p:grpSpPr>
        <p:sp>
          <p:nvSpPr>
            <p:cNvPr name="Freeform 67" id="6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8" id="68"/>
          <p:cNvSpPr txBox="true"/>
          <p:nvPr/>
        </p:nvSpPr>
        <p:spPr>
          <a:xfrm rot="0">
            <a:off x="2877369"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8</a:t>
            </a:r>
          </a:p>
        </p:txBody>
      </p:sp>
      <p:grpSp>
        <p:nvGrpSpPr>
          <p:cNvPr name="Group 69" id="69"/>
          <p:cNvGrpSpPr/>
          <p:nvPr/>
        </p:nvGrpSpPr>
        <p:grpSpPr>
          <a:xfrm rot="0">
            <a:off x="3731143" y="6657382"/>
            <a:ext cx="156210" cy="156210"/>
            <a:chOff x="0" y="0"/>
            <a:chExt cx="208280" cy="208280"/>
          </a:xfrm>
        </p:grpSpPr>
        <p:sp>
          <p:nvSpPr>
            <p:cNvPr name="Freeform 70" id="7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1" id="71"/>
          <p:cNvSpPr txBox="true"/>
          <p:nvPr/>
        </p:nvSpPr>
        <p:spPr>
          <a:xfrm rot="0">
            <a:off x="3397768"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9</a:t>
            </a:r>
          </a:p>
        </p:txBody>
      </p:sp>
      <p:grpSp>
        <p:nvGrpSpPr>
          <p:cNvPr name="Group 72" id="72"/>
          <p:cNvGrpSpPr/>
          <p:nvPr/>
        </p:nvGrpSpPr>
        <p:grpSpPr>
          <a:xfrm rot="0">
            <a:off x="4251550" y="6534853"/>
            <a:ext cx="156210" cy="156210"/>
            <a:chOff x="0" y="0"/>
            <a:chExt cx="208280" cy="208280"/>
          </a:xfrm>
        </p:grpSpPr>
        <p:sp>
          <p:nvSpPr>
            <p:cNvPr name="Freeform 73" id="7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4" id="74"/>
          <p:cNvSpPr txBox="true"/>
          <p:nvPr/>
        </p:nvSpPr>
        <p:spPr>
          <a:xfrm rot="0">
            <a:off x="3918175"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10</a:t>
            </a:r>
          </a:p>
        </p:txBody>
      </p:sp>
      <p:grpSp>
        <p:nvGrpSpPr>
          <p:cNvPr name="Group 75" id="75"/>
          <p:cNvGrpSpPr/>
          <p:nvPr/>
        </p:nvGrpSpPr>
        <p:grpSpPr>
          <a:xfrm rot="0">
            <a:off x="4771949" y="6381691"/>
            <a:ext cx="156210" cy="156210"/>
            <a:chOff x="0" y="0"/>
            <a:chExt cx="208280" cy="208280"/>
          </a:xfrm>
        </p:grpSpPr>
        <p:sp>
          <p:nvSpPr>
            <p:cNvPr name="Freeform 76" id="7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7" id="77"/>
          <p:cNvSpPr txBox="true"/>
          <p:nvPr/>
        </p:nvSpPr>
        <p:spPr>
          <a:xfrm rot="0">
            <a:off x="4438574"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13</a:t>
            </a:r>
          </a:p>
        </p:txBody>
      </p:sp>
      <p:grpSp>
        <p:nvGrpSpPr>
          <p:cNvPr name="Group 78" id="78"/>
          <p:cNvGrpSpPr/>
          <p:nvPr/>
        </p:nvGrpSpPr>
        <p:grpSpPr>
          <a:xfrm rot="0">
            <a:off x="5292347" y="6259161"/>
            <a:ext cx="156210" cy="156210"/>
            <a:chOff x="0" y="0"/>
            <a:chExt cx="208280" cy="208280"/>
          </a:xfrm>
        </p:grpSpPr>
        <p:sp>
          <p:nvSpPr>
            <p:cNvPr name="Freeform 79" id="7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0" id="80"/>
          <p:cNvSpPr txBox="true"/>
          <p:nvPr/>
        </p:nvSpPr>
        <p:spPr>
          <a:xfrm rot="0">
            <a:off x="4958972"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14</a:t>
            </a:r>
          </a:p>
        </p:txBody>
      </p:sp>
      <p:grpSp>
        <p:nvGrpSpPr>
          <p:cNvPr name="Group 81" id="81"/>
          <p:cNvGrpSpPr/>
          <p:nvPr/>
        </p:nvGrpSpPr>
        <p:grpSpPr>
          <a:xfrm rot="0">
            <a:off x="5812746" y="6044734"/>
            <a:ext cx="156210" cy="156210"/>
            <a:chOff x="0" y="0"/>
            <a:chExt cx="208280" cy="208280"/>
          </a:xfrm>
        </p:grpSpPr>
        <p:sp>
          <p:nvSpPr>
            <p:cNvPr name="Freeform 82" id="8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3" id="83"/>
          <p:cNvSpPr txBox="true"/>
          <p:nvPr/>
        </p:nvSpPr>
        <p:spPr>
          <a:xfrm rot="0">
            <a:off x="5479371"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16</a:t>
            </a:r>
          </a:p>
        </p:txBody>
      </p:sp>
      <p:grpSp>
        <p:nvGrpSpPr>
          <p:cNvPr name="Group 84" id="84"/>
          <p:cNvGrpSpPr/>
          <p:nvPr/>
        </p:nvGrpSpPr>
        <p:grpSpPr>
          <a:xfrm rot="0">
            <a:off x="6333153" y="5983470"/>
            <a:ext cx="156210" cy="156210"/>
            <a:chOff x="0" y="0"/>
            <a:chExt cx="208280" cy="208280"/>
          </a:xfrm>
        </p:grpSpPr>
        <p:sp>
          <p:nvSpPr>
            <p:cNvPr name="Freeform 85" id="8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6" id="86"/>
          <p:cNvSpPr txBox="true"/>
          <p:nvPr/>
        </p:nvSpPr>
        <p:spPr>
          <a:xfrm rot="0">
            <a:off x="5999778"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17</a:t>
            </a:r>
          </a:p>
        </p:txBody>
      </p:sp>
      <p:grpSp>
        <p:nvGrpSpPr>
          <p:cNvPr name="Group 87" id="87"/>
          <p:cNvGrpSpPr/>
          <p:nvPr/>
        </p:nvGrpSpPr>
        <p:grpSpPr>
          <a:xfrm rot="0">
            <a:off x="6853552" y="5830308"/>
            <a:ext cx="156210" cy="156210"/>
            <a:chOff x="0" y="0"/>
            <a:chExt cx="208280" cy="208280"/>
          </a:xfrm>
        </p:grpSpPr>
        <p:sp>
          <p:nvSpPr>
            <p:cNvPr name="Freeform 88" id="8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9" id="89"/>
          <p:cNvSpPr txBox="true"/>
          <p:nvPr/>
        </p:nvSpPr>
        <p:spPr>
          <a:xfrm rot="0">
            <a:off x="6520177"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20</a:t>
            </a:r>
          </a:p>
        </p:txBody>
      </p:sp>
      <p:grpSp>
        <p:nvGrpSpPr>
          <p:cNvPr name="Group 90" id="90"/>
          <p:cNvGrpSpPr/>
          <p:nvPr/>
        </p:nvGrpSpPr>
        <p:grpSpPr>
          <a:xfrm rot="0">
            <a:off x="7373950" y="5830308"/>
            <a:ext cx="156210" cy="156210"/>
            <a:chOff x="0" y="0"/>
            <a:chExt cx="208280" cy="208280"/>
          </a:xfrm>
        </p:grpSpPr>
        <p:sp>
          <p:nvSpPr>
            <p:cNvPr name="Freeform 91" id="9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2" id="92"/>
          <p:cNvSpPr txBox="true"/>
          <p:nvPr/>
        </p:nvSpPr>
        <p:spPr>
          <a:xfrm rot="0">
            <a:off x="7040575"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21</a:t>
            </a:r>
          </a:p>
        </p:txBody>
      </p:sp>
      <p:grpSp>
        <p:nvGrpSpPr>
          <p:cNvPr name="Group 93" id="93"/>
          <p:cNvGrpSpPr/>
          <p:nvPr/>
        </p:nvGrpSpPr>
        <p:grpSpPr>
          <a:xfrm rot="0">
            <a:off x="7894349" y="5370822"/>
            <a:ext cx="156210" cy="156210"/>
            <a:chOff x="0" y="0"/>
            <a:chExt cx="208280" cy="208280"/>
          </a:xfrm>
        </p:grpSpPr>
        <p:sp>
          <p:nvSpPr>
            <p:cNvPr name="Freeform 94" id="9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5" id="95"/>
          <p:cNvSpPr txBox="true"/>
          <p:nvPr/>
        </p:nvSpPr>
        <p:spPr>
          <a:xfrm rot="0">
            <a:off x="7560974" y="8339878"/>
            <a:ext cx="822960" cy="338709"/>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22 Sep</a:t>
            </a:r>
          </a:p>
        </p:txBody>
      </p:sp>
      <p:grpSp>
        <p:nvGrpSpPr>
          <p:cNvPr name="Group 96" id="96"/>
          <p:cNvGrpSpPr/>
          <p:nvPr/>
        </p:nvGrpSpPr>
        <p:grpSpPr>
          <a:xfrm rot="0">
            <a:off x="8414756" y="5309557"/>
            <a:ext cx="156210" cy="156210"/>
            <a:chOff x="0" y="0"/>
            <a:chExt cx="208280" cy="208280"/>
          </a:xfrm>
        </p:grpSpPr>
        <p:sp>
          <p:nvSpPr>
            <p:cNvPr name="Freeform 97" id="9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8" id="98"/>
          <p:cNvSpPr txBox="true"/>
          <p:nvPr/>
        </p:nvSpPr>
        <p:spPr>
          <a:xfrm rot="0">
            <a:off x="8081381"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23</a:t>
            </a:r>
          </a:p>
        </p:txBody>
      </p:sp>
      <p:grpSp>
        <p:nvGrpSpPr>
          <p:cNvPr name="Group 99" id="99"/>
          <p:cNvGrpSpPr/>
          <p:nvPr/>
        </p:nvGrpSpPr>
        <p:grpSpPr>
          <a:xfrm rot="0">
            <a:off x="8935155" y="5278924"/>
            <a:ext cx="156210" cy="156210"/>
            <a:chOff x="0" y="0"/>
            <a:chExt cx="208280" cy="208280"/>
          </a:xfrm>
        </p:grpSpPr>
        <p:sp>
          <p:nvSpPr>
            <p:cNvPr name="Freeform 100" id="10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1" id="101"/>
          <p:cNvSpPr txBox="true"/>
          <p:nvPr/>
        </p:nvSpPr>
        <p:spPr>
          <a:xfrm rot="0">
            <a:off x="8601780"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24</a:t>
            </a:r>
          </a:p>
        </p:txBody>
      </p:sp>
      <p:grpSp>
        <p:nvGrpSpPr>
          <p:cNvPr name="Group 102" id="102"/>
          <p:cNvGrpSpPr/>
          <p:nvPr/>
        </p:nvGrpSpPr>
        <p:grpSpPr>
          <a:xfrm rot="0">
            <a:off x="9455553" y="4727541"/>
            <a:ext cx="156210" cy="156210"/>
            <a:chOff x="0" y="0"/>
            <a:chExt cx="208280" cy="208280"/>
          </a:xfrm>
        </p:grpSpPr>
        <p:sp>
          <p:nvSpPr>
            <p:cNvPr name="Freeform 103" id="10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4" id="104"/>
          <p:cNvSpPr txBox="true"/>
          <p:nvPr/>
        </p:nvSpPr>
        <p:spPr>
          <a:xfrm rot="0">
            <a:off x="9122178"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27</a:t>
            </a:r>
          </a:p>
        </p:txBody>
      </p:sp>
      <p:grpSp>
        <p:nvGrpSpPr>
          <p:cNvPr name="Group 105" id="105"/>
          <p:cNvGrpSpPr/>
          <p:nvPr/>
        </p:nvGrpSpPr>
        <p:grpSpPr>
          <a:xfrm rot="0">
            <a:off x="9975961" y="4513114"/>
            <a:ext cx="156210" cy="156210"/>
            <a:chOff x="0" y="0"/>
            <a:chExt cx="208280" cy="208280"/>
          </a:xfrm>
        </p:grpSpPr>
        <p:sp>
          <p:nvSpPr>
            <p:cNvPr name="Freeform 106" id="10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7" id="107"/>
          <p:cNvSpPr txBox="true"/>
          <p:nvPr/>
        </p:nvSpPr>
        <p:spPr>
          <a:xfrm rot="0">
            <a:off x="9642586"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28</a:t>
            </a:r>
          </a:p>
        </p:txBody>
      </p:sp>
      <p:grpSp>
        <p:nvGrpSpPr>
          <p:cNvPr name="Group 108" id="108"/>
          <p:cNvGrpSpPr/>
          <p:nvPr/>
        </p:nvGrpSpPr>
        <p:grpSpPr>
          <a:xfrm rot="0">
            <a:off x="10496360" y="4206790"/>
            <a:ext cx="156210" cy="156210"/>
            <a:chOff x="0" y="0"/>
            <a:chExt cx="208280" cy="208280"/>
          </a:xfrm>
        </p:grpSpPr>
        <p:sp>
          <p:nvSpPr>
            <p:cNvPr name="Freeform 109" id="10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10" id="110"/>
          <p:cNvSpPr txBox="true"/>
          <p:nvPr/>
        </p:nvSpPr>
        <p:spPr>
          <a:xfrm rot="0">
            <a:off x="10162984" y="8339878"/>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29 Sep</a:t>
            </a:r>
          </a:p>
        </p:txBody>
      </p:sp>
      <p:sp>
        <p:nvSpPr>
          <p:cNvPr name="TextBox 111" id="111"/>
          <p:cNvSpPr txBox="true"/>
          <p:nvPr/>
        </p:nvSpPr>
        <p:spPr>
          <a:xfrm rot="0">
            <a:off x="7286654" y="8641630"/>
            <a:ext cx="1371600" cy="311277"/>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Ads live</a:t>
            </a:r>
          </a:p>
        </p:txBody>
      </p:sp>
      <p:sp>
        <p:nvSpPr>
          <p:cNvPr name="TextBox 112" id="112"/>
          <p:cNvSpPr txBox="true"/>
          <p:nvPr/>
        </p:nvSpPr>
        <p:spPr>
          <a:xfrm rot="0">
            <a:off x="9038272" y="5455327"/>
            <a:ext cx="1851660" cy="960120"/>
          </a:xfrm>
          <a:prstGeom prst="rect">
            <a:avLst/>
          </a:prstGeom>
        </p:spPr>
        <p:txBody>
          <a:bodyPr anchor="t" rtlCol="false" tIns="0" lIns="0" bIns="0" rIns="0">
            <a:spAutoFit/>
          </a:bodyPr>
          <a:lstStyle/>
          <a:p>
            <a:pPr algn="l">
              <a:lnSpc>
                <a:spcPts val="1889"/>
              </a:lnSpc>
            </a:pPr>
            <a:r>
              <a:rPr lang="en-US" sz="1575" b="true">
                <a:solidFill>
                  <a:srgbClr val="1BA97C"/>
                </a:solidFill>
                <a:latin typeface="Exo 2 Bold"/>
                <a:ea typeface="Exo 2 Bold"/>
                <a:cs typeface="Exo 2 Bold"/>
                <a:sym typeface="Exo 2 Bold"/>
              </a:rPr>
              <a:t>+53 in 8 days</a:t>
            </a:r>
          </a:p>
          <a:p>
            <a:pPr algn="l">
              <a:lnSpc>
                <a:spcPts val="1889"/>
              </a:lnSpc>
            </a:pPr>
            <a:r>
              <a:rPr lang="en-US" sz="1575">
                <a:solidFill>
                  <a:srgbClr val="7A849C"/>
                </a:solidFill>
                <a:latin typeface="Exo 2"/>
                <a:ea typeface="Exo 2"/>
                <a:cs typeface="Exo 2"/>
                <a:sym typeface="Exo 2"/>
              </a:rPr>
              <a:t>21-29 Sep, after launch</a:t>
            </a:r>
          </a:p>
        </p:txBody>
      </p:sp>
      <p:sp>
        <p:nvSpPr>
          <p:cNvPr name="TextBox 113" id="113"/>
          <p:cNvSpPr txBox="true"/>
          <p:nvPr/>
        </p:nvSpPr>
        <p:spPr>
          <a:xfrm rot="0">
            <a:off x="6089332" y="6278287"/>
            <a:ext cx="3154680" cy="685800"/>
          </a:xfrm>
          <a:prstGeom prst="rect">
            <a:avLst/>
          </a:prstGeom>
        </p:spPr>
        <p:txBody>
          <a:bodyPr anchor="t" rtlCol="false" tIns="0" lIns="0" bIns="0" rIns="0">
            <a:spAutoFit/>
          </a:bodyPr>
          <a:lstStyle/>
          <a:p>
            <a:pPr algn="l">
              <a:lnSpc>
                <a:spcPts val="1889"/>
              </a:lnSpc>
            </a:pPr>
            <a:r>
              <a:rPr lang="en-US" sz="1575" b="true">
                <a:solidFill>
                  <a:srgbClr val="132257"/>
                </a:solidFill>
                <a:latin typeface="Exo 2 Bold"/>
                <a:ea typeface="Exo 2 Bold"/>
                <a:cs typeface="Exo 2 Bold"/>
                <a:sym typeface="Exo 2 Bold"/>
              </a:rPr>
              <a:t>+14 in 7 days</a:t>
            </a:r>
          </a:p>
          <a:p>
            <a:pPr algn="l">
              <a:lnSpc>
                <a:spcPts val="1889"/>
              </a:lnSpc>
            </a:pPr>
            <a:r>
              <a:rPr lang="en-US" sz="1575">
                <a:solidFill>
                  <a:srgbClr val="7A849C"/>
                </a:solidFill>
                <a:latin typeface="Exo 2"/>
                <a:ea typeface="Exo 2"/>
                <a:cs typeface="Exo 2"/>
                <a:sym typeface="Exo 2"/>
              </a:rPr>
              <a:t>14-21 Sep, before launch</a:t>
            </a:r>
          </a:p>
        </p:txBody>
      </p:sp>
      <p:sp>
        <p:nvSpPr>
          <p:cNvPr name="TextBox 114" id="114"/>
          <p:cNvSpPr txBox="true"/>
          <p:nvPr/>
        </p:nvSpPr>
        <p:spPr>
          <a:xfrm rot="0">
            <a:off x="11369993" y="2935774"/>
            <a:ext cx="6062472"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FROM AD TO ACCOUNT</a:t>
            </a:r>
          </a:p>
        </p:txBody>
      </p:sp>
      <p:grpSp>
        <p:nvGrpSpPr>
          <p:cNvPr name="Group 115" id="115"/>
          <p:cNvGrpSpPr/>
          <p:nvPr/>
        </p:nvGrpSpPr>
        <p:grpSpPr>
          <a:xfrm rot="0">
            <a:off x="11355705" y="3424788"/>
            <a:ext cx="6091047" cy="1098423"/>
            <a:chOff x="0" y="0"/>
            <a:chExt cx="8121396" cy="1464564"/>
          </a:xfrm>
        </p:grpSpPr>
        <p:sp>
          <p:nvSpPr>
            <p:cNvPr name="Freeform 116" id="116"/>
            <p:cNvSpPr/>
            <p:nvPr/>
          </p:nvSpPr>
          <p:spPr>
            <a:xfrm flipH="false" flipV="false" rot="0">
              <a:off x="0" y="0"/>
              <a:ext cx="8121396" cy="1464564"/>
            </a:xfrm>
            <a:custGeom>
              <a:avLst/>
              <a:gdLst/>
              <a:ahLst/>
              <a:cxnLst/>
              <a:rect r="r" b="b" t="t" l="l"/>
              <a:pathLst>
                <a:path h="1464564" w="8121396">
                  <a:moveTo>
                    <a:pt x="0" y="0"/>
                  </a:moveTo>
                  <a:lnTo>
                    <a:pt x="8121396" y="0"/>
                  </a:lnTo>
                  <a:lnTo>
                    <a:pt x="8121396" y="1464564"/>
                  </a:lnTo>
                  <a:lnTo>
                    <a:pt x="0" y="1464564"/>
                  </a:lnTo>
                  <a:close/>
                </a:path>
              </a:pathLst>
            </a:custGeom>
            <a:solidFill>
              <a:srgbClr val="132257"/>
            </a:solidFill>
            <a:ln w="28575" cap="sq">
              <a:solidFill>
                <a:srgbClr val="132257"/>
              </a:solidFill>
              <a:prstDash val="solid"/>
              <a:miter/>
            </a:ln>
          </p:spPr>
        </p:sp>
      </p:grpSp>
      <p:grpSp>
        <p:nvGrpSpPr>
          <p:cNvPr name="Group 117" id="117"/>
          <p:cNvGrpSpPr/>
          <p:nvPr/>
        </p:nvGrpSpPr>
        <p:grpSpPr>
          <a:xfrm rot="0">
            <a:off x="11575732" y="3439075"/>
            <a:ext cx="1303020" cy="1069848"/>
            <a:chOff x="0" y="0"/>
            <a:chExt cx="1737360" cy="1426464"/>
          </a:xfrm>
        </p:grpSpPr>
        <p:sp>
          <p:nvSpPr>
            <p:cNvPr name="Freeform 118" id="118"/>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19" id="119"/>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409</a:t>
              </a:r>
            </a:p>
          </p:txBody>
        </p:sp>
      </p:grpSp>
      <p:grpSp>
        <p:nvGrpSpPr>
          <p:cNvPr name="Group 120" id="120"/>
          <p:cNvGrpSpPr/>
          <p:nvPr/>
        </p:nvGrpSpPr>
        <p:grpSpPr>
          <a:xfrm rot="0">
            <a:off x="12878752" y="3439075"/>
            <a:ext cx="4416552" cy="1069848"/>
            <a:chOff x="0" y="0"/>
            <a:chExt cx="5888736" cy="1426464"/>
          </a:xfrm>
        </p:grpSpPr>
        <p:sp>
          <p:nvSpPr>
            <p:cNvPr name="Freeform 121" id="121"/>
            <p:cNvSpPr/>
            <p:nvPr/>
          </p:nvSpPr>
          <p:spPr>
            <a:xfrm flipH="false" flipV="false" rot="0">
              <a:off x="0" y="0"/>
              <a:ext cx="5888736" cy="1426464"/>
            </a:xfrm>
            <a:custGeom>
              <a:avLst/>
              <a:gdLst/>
              <a:ahLst/>
              <a:cxnLst/>
              <a:rect r="r" b="b" t="t" l="l"/>
              <a:pathLst>
                <a:path h="1426464" w="5888736">
                  <a:moveTo>
                    <a:pt x="0" y="0"/>
                  </a:moveTo>
                  <a:lnTo>
                    <a:pt x="5888736" y="0"/>
                  </a:lnTo>
                  <a:lnTo>
                    <a:pt x="5888736" y="1426464"/>
                  </a:lnTo>
                  <a:lnTo>
                    <a:pt x="0" y="1426464"/>
                  </a:lnTo>
                  <a:close/>
                </a:path>
              </a:pathLst>
            </a:custGeom>
            <a:blipFill>
              <a:blip r:embed="rId4">
                <a:alphaModFix amt="0"/>
              </a:blip>
              <a:stretch>
                <a:fillRect l="0" t="-30438" r="0" b="-30438"/>
              </a:stretch>
            </a:blipFill>
          </p:spPr>
        </p:sp>
        <p:sp>
          <p:nvSpPr>
            <p:cNvPr name="TextBox 122" id="122"/>
            <p:cNvSpPr txBox="true"/>
            <p:nvPr/>
          </p:nvSpPr>
          <p:spPr>
            <a:xfrm>
              <a:off x="0" y="-9525"/>
              <a:ext cx="5888736"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Google Ads sessions</a:t>
              </a:r>
            </a:p>
            <a:p>
              <a:pPr algn="l">
                <a:lnSpc>
                  <a:spcPts val="1530"/>
                </a:lnSpc>
              </a:pPr>
              <a:r>
                <a:rPr lang="en-US" sz="1275">
                  <a:solidFill>
                    <a:srgbClr val="FFFFFF"/>
                  </a:solidFill>
                  <a:latin typeface="Exo 2"/>
                  <a:ea typeface="Exo 2"/>
                  <a:cs typeface="Exo 2"/>
                  <a:sym typeface="Exo 2"/>
                </a:rPr>
                <a:t>GA4, 1-28 Sep</a:t>
              </a:r>
            </a:p>
          </p:txBody>
        </p:sp>
      </p:grpSp>
      <p:grpSp>
        <p:nvGrpSpPr>
          <p:cNvPr name="Group 123" id="123"/>
          <p:cNvGrpSpPr/>
          <p:nvPr/>
        </p:nvGrpSpPr>
        <p:grpSpPr>
          <a:xfrm rot="0">
            <a:off x="11712321" y="4768956"/>
            <a:ext cx="5377815" cy="1098423"/>
            <a:chOff x="0" y="0"/>
            <a:chExt cx="7170420" cy="1464564"/>
          </a:xfrm>
        </p:grpSpPr>
        <p:sp>
          <p:nvSpPr>
            <p:cNvPr name="Freeform 124" id="124"/>
            <p:cNvSpPr/>
            <p:nvPr/>
          </p:nvSpPr>
          <p:spPr>
            <a:xfrm flipH="false" flipV="false" rot="0">
              <a:off x="0" y="0"/>
              <a:ext cx="7170420" cy="1464564"/>
            </a:xfrm>
            <a:custGeom>
              <a:avLst/>
              <a:gdLst/>
              <a:ahLst/>
              <a:cxnLst/>
              <a:rect r="r" b="b" t="t" l="l"/>
              <a:pathLst>
                <a:path h="1464564" w="7170420">
                  <a:moveTo>
                    <a:pt x="0" y="0"/>
                  </a:moveTo>
                  <a:lnTo>
                    <a:pt x="7170420" y="0"/>
                  </a:lnTo>
                  <a:lnTo>
                    <a:pt x="7170420" y="1464564"/>
                  </a:lnTo>
                  <a:lnTo>
                    <a:pt x="0" y="1464564"/>
                  </a:lnTo>
                  <a:close/>
                </a:path>
              </a:pathLst>
            </a:custGeom>
            <a:solidFill>
              <a:srgbClr val="132257"/>
            </a:solidFill>
            <a:ln w="28575" cap="sq">
              <a:solidFill>
                <a:srgbClr val="132257"/>
              </a:solidFill>
              <a:prstDash val="solid"/>
              <a:miter/>
            </a:ln>
          </p:spPr>
        </p:sp>
      </p:grpSp>
      <p:grpSp>
        <p:nvGrpSpPr>
          <p:cNvPr name="Group 125" id="125"/>
          <p:cNvGrpSpPr/>
          <p:nvPr/>
        </p:nvGrpSpPr>
        <p:grpSpPr>
          <a:xfrm rot="0">
            <a:off x="11932348" y="4783243"/>
            <a:ext cx="1303020" cy="1069848"/>
            <a:chOff x="0" y="0"/>
            <a:chExt cx="1737360" cy="1426464"/>
          </a:xfrm>
        </p:grpSpPr>
        <p:sp>
          <p:nvSpPr>
            <p:cNvPr name="Freeform 126" id="126"/>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27" id="127"/>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400</a:t>
              </a:r>
            </a:p>
          </p:txBody>
        </p:sp>
      </p:grpSp>
      <p:grpSp>
        <p:nvGrpSpPr>
          <p:cNvPr name="Group 128" id="128"/>
          <p:cNvGrpSpPr/>
          <p:nvPr/>
        </p:nvGrpSpPr>
        <p:grpSpPr>
          <a:xfrm rot="0">
            <a:off x="13235368" y="4783243"/>
            <a:ext cx="3703320" cy="1069848"/>
            <a:chOff x="0" y="0"/>
            <a:chExt cx="4937760" cy="1426464"/>
          </a:xfrm>
        </p:grpSpPr>
        <p:sp>
          <p:nvSpPr>
            <p:cNvPr name="Freeform 129" id="129"/>
            <p:cNvSpPr/>
            <p:nvPr/>
          </p:nvSpPr>
          <p:spPr>
            <a:xfrm flipH="false" flipV="false" rot="0">
              <a:off x="0" y="0"/>
              <a:ext cx="4937760" cy="1426464"/>
            </a:xfrm>
            <a:custGeom>
              <a:avLst/>
              <a:gdLst/>
              <a:ahLst/>
              <a:cxnLst/>
              <a:rect r="r" b="b" t="t" l="l"/>
              <a:pathLst>
                <a:path h="1426464" w="4937760">
                  <a:moveTo>
                    <a:pt x="0" y="0"/>
                  </a:moveTo>
                  <a:lnTo>
                    <a:pt x="4937760" y="0"/>
                  </a:lnTo>
                  <a:lnTo>
                    <a:pt x="4937760" y="1426464"/>
                  </a:lnTo>
                  <a:lnTo>
                    <a:pt x="0" y="1426464"/>
                  </a:lnTo>
                  <a:close/>
                </a:path>
              </a:pathLst>
            </a:custGeom>
            <a:blipFill>
              <a:blip r:embed="rId4">
                <a:alphaModFix amt="0"/>
              </a:blip>
              <a:stretch>
                <a:fillRect l="0" t="-17448" r="0" b="-17448"/>
              </a:stretch>
            </a:blipFill>
          </p:spPr>
        </p:sp>
        <p:sp>
          <p:nvSpPr>
            <p:cNvPr name="TextBox 130" id="130"/>
            <p:cNvSpPr txBox="true"/>
            <p:nvPr/>
          </p:nvSpPr>
          <p:spPr>
            <a:xfrm>
              <a:off x="0" y="-9525"/>
              <a:ext cx="4937760"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key events on those sessions</a:t>
              </a:r>
            </a:p>
            <a:p>
              <a:pPr algn="l">
                <a:lnSpc>
                  <a:spcPts val="1530"/>
                </a:lnSpc>
              </a:pPr>
              <a:r>
                <a:rPr lang="en-US" sz="1275">
                  <a:solidFill>
                    <a:srgbClr val="FFFFFF"/>
                  </a:solidFill>
                  <a:latin typeface="Exo 2"/>
                  <a:ea typeface="Exo 2"/>
                  <a:cs typeface="Exo 2"/>
                  <a:sym typeface="Exo 2"/>
                </a:rPr>
                <a:t>event not yet defined</a:t>
              </a:r>
            </a:p>
          </p:txBody>
        </p:sp>
      </p:grpSp>
      <p:grpSp>
        <p:nvGrpSpPr>
          <p:cNvPr name="Group 131" id="131"/>
          <p:cNvGrpSpPr/>
          <p:nvPr/>
        </p:nvGrpSpPr>
        <p:grpSpPr>
          <a:xfrm rot="0">
            <a:off x="12068937" y="6143604"/>
            <a:ext cx="4664583" cy="1098423"/>
            <a:chOff x="0" y="0"/>
            <a:chExt cx="6219444" cy="1464564"/>
          </a:xfrm>
        </p:grpSpPr>
        <p:sp>
          <p:nvSpPr>
            <p:cNvPr name="Freeform 132" id="132"/>
            <p:cNvSpPr/>
            <p:nvPr/>
          </p:nvSpPr>
          <p:spPr>
            <a:xfrm flipH="false" flipV="false" rot="0">
              <a:off x="0" y="0"/>
              <a:ext cx="6219444" cy="1464564"/>
            </a:xfrm>
            <a:custGeom>
              <a:avLst/>
              <a:gdLst/>
              <a:ahLst/>
              <a:cxnLst/>
              <a:rect r="r" b="b" t="t" l="l"/>
              <a:pathLst>
                <a:path h="1464564" w="6219444">
                  <a:moveTo>
                    <a:pt x="0" y="0"/>
                  </a:moveTo>
                  <a:lnTo>
                    <a:pt x="6219444" y="0"/>
                  </a:lnTo>
                  <a:lnTo>
                    <a:pt x="6219444" y="1464564"/>
                  </a:lnTo>
                  <a:lnTo>
                    <a:pt x="0" y="1464564"/>
                  </a:lnTo>
                  <a:close/>
                </a:path>
              </a:pathLst>
            </a:custGeom>
            <a:solidFill>
              <a:srgbClr val="FFFFFF"/>
            </a:solidFill>
            <a:ln w="28575" cap="sq">
              <a:solidFill>
                <a:srgbClr val="D4AF37"/>
              </a:solidFill>
              <a:prstDash val="solid"/>
              <a:miter/>
            </a:ln>
          </p:spPr>
        </p:sp>
      </p:grpSp>
      <p:grpSp>
        <p:nvGrpSpPr>
          <p:cNvPr name="Group 133" id="133"/>
          <p:cNvGrpSpPr/>
          <p:nvPr/>
        </p:nvGrpSpPr>
        <p:grpSpPr>
          <a:xfrm rot="0">
            <a:off x="12288964" y="6157891"/>
            <a:ext cx="1303020" cy="1069848"/>
            <a:chOff x="0" y="0"/>
            <a:chExt cx="1737360" cy="1426464"/>
          </a:xfrm>
        </p:grpSpPr>
        <p:sp>
          <p:nvSpPr>
            <p:cNvPr name="Freeform 134" id="134"/>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35" id="135"/>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D4AF37"/>
                  </a:solidFill>
                  <a:latin typeface="Exo 2 Bold"/>
                  <a:ea typeface="Exo 2 Bold"/>
                  <a:cs typeface="Exo 2 Bold"/>
                  <a:sym typeface="Exo 2 Bold"/>
                </a:rPr>
                <a:t>+53</a:t>
              </a:r>
            </a:p>
          </p:txBody>
        </p:sp>
      </p:grpSp>
      <p:grpSp>
        <p:nvGrpSpPr>
          <p:cNvPr name="Group 136" id="136"/>
          <p:cNvGrpSpPr/>
          <p:nvPr/>
        </p:nvGrpSpPr>
        <p:grpSpPr>
          <a:xfrm rot="0">
            <a:off x="13591985" y="6157891"/>
            <a:ext cx="2990088" cy="1069848"/>
            <a:chOff x="0" y="0"/>
            <a:chExt cx="3986784" cy="1426464"/>
          </a:xfrm>
        </p:grpSpPr>
        <p:sp>
          <p:nvSpPr>
            <p:cNvPr name="Freeform 137" id="137"/>
            <p:cNvSpPr/>
            <p:nvPr/>
          </p:nvSpPr>
          <p:spPr>
            <a:xfrm flipH="false" flipV="false" rot="0">
              <a:off x="0" y="0"/>
              <a:ext cx="3986784" cy="1426464"/>
            </a:xfrm>
            <a:custGeom>
              <a:avLst/>
              <a:gdLst/>
              <a:ahLst/>
              <a:cxnLst/>
              <a:rect r="r" b="b" t="t" l="l"/>
              <a:pathLst>
                <a:path h="1426464" w="3986784">
                  <a:moveTo>
                    <a:pt x="0" y="0"/>
                  </a:moveTo>
                  <a:lnTo>
                    <a:pt x="3986784" y="0"/>
                  </a:lnTo>
                  <a:lnTo>
                    <a:pt x="3986784" y="1426464"/>
                  </a:lnTo>
                  <a:lnTo>
                    <a:pt x="0" y="1426464"/>
                  </a:lnTo>
                  <a:close/>
                </a:path>
              </a:pathLst>
            </a:custGeom>
            <a:blipFill>
              <a:blip r:embed="rId4">
                <a:alphaModFix amt="0"/>
              </a:blip>
              <a:stretch>
                <a:fillRect l="0" t="-4458" r="0" b="-4458"/>
              </a:stretch>
            </a:blipFill>
          </p:spPr>
        </p:sp>
        <p:sp>
          <p:nvSpPr>
            <p:cNvPr name="TextBox 138" id="138"/>
            <p:cNvSpPr txBox="true"/>
            <p:nvPr/>
          </p:nvSpPr>
          <p:spPr>
            <a:xfrm>
              <a:off x="0" y="-9525"/>
              <a:ext cx="3986784"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app installs, 21-29 Sep</a:t>
              </a:r>
            </a:p>
            <a:p>
              <a:pPr algn="l">
                <a:lnSpc>
                  <a:spcPts val="1530"/>
                </a:lnSpc>
              </a:pPr>
              <a:r>
                <a:rPr lang="en-US" sz="1275">
                  <a:solidFill>
                    <a:srgbClr val="132257"/>
                  </a:solidFill>
                  <a:latin typeface="Exo 2"/>
                  <a:ea typeface="Exo 2"/>
                  <a:cs typeface="Exo 2"/>
                  <a:sym typeface="Exo 2"/>
                </a:rPr>
                <a:t>all sources</a:t>
              </a:r>
            </a:p>
          </p:txBody>
        </p:sp>
      </p:grpSp>
      <p:grpSp>
        <p:nvGrpSpPr>
          <p:cNvPr name="Group 139" id="139"/>
          <p:cNvGrpSpPr/>
          <p:nvPr/>
        </p:nvGrpSpPr>
        <p:grpSpPr>
          <a:xfrm rot="0">
            <a:off x="12425553" y="7487772"/>
            <a:ext cx="3951351" cy="1098423"/>
            <a:chOff x="0" y="0"/>
            <a:chExt cx="5268468" cy="1464564"/>
          </a:xfrm>
        </p:grpSpPr>
        <p:sp>
          <p:nvSpPr>
            <p:cNvPr name="Freeform 140" id="140"/>
            <p:cNvSpPr/>
            <p:nvPr/>
          </p:nvSpPr>
          <p:spPr>
            <a:xfrm flipH="false" flipV="false" rot="0">
              <a:off x="0" y="0"/>
              <a:ext cx="5268468" cy="1464564"/>
            </a:xfrm>
            <a:custGeom>
              <a:avLst/>
              <a:gdLst/>
              <a:ahLst/>
              <a:cxnLst/>
              <a:rect r="r" b="b" t="t" l="l"/>
              <a:pathLst>
                <a:path h="1464564" w="5268468">
                  <a:moveTo>
                    <a:pt x="0" y="0"/>
                  </a:moveTo>
                  <a:lnTo>
                    <a:pt x="5268468" y="0"/>
                  </a:lnTo>
                  <a:lnTo>
                    <a:pt x="5268468" y="1464564"/>
                  </a:lnTo>
                  <a:lnTo>
                    <a:pt x="0" y="1464564"/>
                  </a:lnTo>
                  <a:close/>
                </a:path>
              </a:pathLst>
            </a:custGeom>
            <a:solidFill>
              <a:srgbClr val="FFFFFF"/>
            </a:solidFill>
            <a:ln w="28575" cap="sq">
              <a:solidFill>
                <a:srgbClr val="C53030"/>
              </a:solidFill>
              <a:prstDash val="solid"/>
              <a:miter/>
            </a:ln>
          </p:spPr>
        </p:sp>
      </p:grpSp>
      <p:grpSp>
        <p:nvGrpSpPr>
          <p:cNvPr name="Group 141" id="141"/>
          <p:cNvGrpSpPr/>
          <p:nvPr/>
        </p:nvGrpSpPr>
        <p:grpSpPr>
          <a:xfrm rot="0">
            <a:off x="12645580" y="7502059"/>
            <a:ext cx="1303020" cy="1069848"/>
            <a:chOff x="0" y="0"/>
            <a:chExt cx="1737360" cy="1426464"/>
          </a:xfrm>
        </p:grpSpPr>
        <p:sp>
          <p:nvSpPr>
            <p:cNvPr name="Freeform 142" id="142"/>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43" id="143"/>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C53030"/>
                  </a:solidFill>
                  <a:latin typeface="Exo 2 Bold"/>
                  <a:ea typeface="Exo 2 Bold"/>
                  <a:cs typeface="Exo 2 Bold"/>
                  <a:sym typeface="Exo 2 Bold"/>
                </a:rPr>
                <a:t>+4</a:t>
              </a:r>
            </a:p>
          </p:txBody>
        </p:sp>
      </p:grpSp>
      <p:grpSp>
        <p:nvGrpSpPr>
          <p:cNvPr name="Group 144" id="144"/>
          <p:cNvGrpSpPr/>
          <p:nvPr/>
        </p:nvGrpSpPr>
        <p:grpSpPr>
          <a:xfrm rot="0">
            <a:off x="13948600" y="7502059"/>
            <a:ext cx="2276856" cy="1069848"/>
            <a:chOff x="0" y="0"/>
            <a:chExt cx="3035808" cy="1426464"/>
          </a:xfrm>
        </p:grpSpPr>
        <p:sp>
          <p:nvSpPr>
            <p:cNvPr name="Freeform 145" id="145"/>
            <p:cNvSpPr/>
            <p:nvPr/>
          </p:nvSpPr>
          <p:spPr>
            <a:xfrm flipH="false" flipV="false" rot="0">
              <a:off x="0" y="0"/>
              <a:ext cx="3035808" cy="1426464"/>
            </a:xfrm>
            <a:custGeom>
              <a:avLst/>
              <a:gdLst/>
              <a:ahLst/>
              <a:cxnLst/>
              <a:rect r="r" b="b" t="t" l="l"/>
              <a:pathLst>
                <a:path h="1426464" w="3035808">
                  <a:moveTo>
                    <a:pt x="0" y="0"/>
                  </a:moveTo>
                  <a:lnTo>
                    <a:pt x="3035808" y="0"/>
                  </a:lnTo>
                  <a:lnTo>
                    <a:pt x="3035808" y="1426464"/>
                  </a:lnTo>
                  <a:lnTo>
                    <a:pt x="0" y="1426464"/>
                  </a:lnTo>
                  <a:close/>
                </a:path>
              </a:pathLst>
            </a:custGeom>
            <a:blipFill>
              <a:blip r:embed="rId4">
                <a:alphaModFix amt="0"/>
              </a:blip>
              <a:stretch>
                <a:fillRect l="-10287" t="0" r="-10287" b="0"/>
              </a:stretch>
            </a:blipFill>
          </p:spPr>
        </p:sp>
        <p:sp>
          <p:nvSpPr>
            <p:cNvPr name="TextBox 146" id="146"/>
            <p:cNvSpPr txBox="true"/>
            <p:nvPr/>
          </p:nvSpPr>
          <p:spPr>
            <a:xfrm>
              <a:off x="0" y="-9525"/>
              <a:ext cx="3035808"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onboarded, 21-29 Sep</a:t>
              </a:r>
            </a:p>
            <a:p>
              <a:pPr algn="l">
                <a:lnSpc>
                  <a:spcPts val="1530"/>
                </a:lnSpc>
              </a:pPr>
              <a:r>
                <a:rPr lang="en-US" sz="1275">
                  <a:solidFill>
                    <a:srgbClr val="132257"/>
                  </a:solidFill>
                  <a:latin typeface="Exo 2"/>
                  <a:ea typeface="Exo 2"/>
                  <a:cs typeface="Exo 2"/>
                  <a:sym typeface="Exo 2"/>
                </a:rPr>
                <a:t>all sources</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2291039"/>
            <a:ext cx="5364290" cy="4472940"/>
            <a:chOff x="0" y="0"/>
            <a:chExt cx="7152386" cy="5963920"/>
          </a:xfrm>
        </p:grpSpPr>
        <p:sp>
          <p:nvSpPr>
            <p:cNvPr name="Freeform 3" id="3"/>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4" id="4"/>
          <p:cNvGrpSpPr/>
          <p:nvPr/>
        </p:nvGrpSpPr>
        <p:grpSpPr>
          <a:xfrm rot="0">
            <a:off x="1028700" y="2633939"/>
            <a:ext cx="685800" cy="685800"/>
            <a:chOff x="0" y="0"/>
            <a:chExt cx="914400" cy="914400"/>
          </a:xfrm>
        </p:grpSpPr>
        <p:sp>
          <p:nvSpPr>
            <p:cNvPr name="Freeform 5" id="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6" id="6"/>
          <p:cNvGrpSpPr/>
          <p:nvPr/>
        </p:nvGrpSpPr>
        <p:grpSpPr>
          <a:xfrm rot="0">
            <a:off x="1028700" y="2633939"/>
            <a:ext cx="685800" cy="685800"/>
            <a:chOff x="0" y="0"/>
            <a:chExt cx="914400" cy="914400"/>
          </a:xfrm>
        </p:grpSpPr>
        <p:sp>
          <p:nvSpPr>
            <p:cNvPr name="Freeform 7" id="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 id="8"/>
          <p:cNvGrpSpPr/>
          <p:nvPr/>
        </p:nvGrpSpPr>
        <p:grpSpPr>
          <a:xfrm rot="0">
            <a:off x="1028700" y="2626795"/>
            <a:ext cx="685800" cy="692944"/>
            <a:chOff x="0" y="0"/>
            <a:chExt cx="914400" cy="923925"/>
          </a:xfrm>
        </p:grpSpPr>
        <p:sp>
          <p:nvSpPr>
            <p:cNvPr name="Freeform 9" id="9"/>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0" id="10"/>
          <p:cNvGrpSpPr/>
          <p:nvPr/>
        </p:nvGrpSpPr>
        <p:grpSpPr>
          <a:xfrm rot="0">
            <a:off x="1028700" y="2619651"/>
            <a:ext cx="685800" cy="700088"/>
            <a:chOff x="0" y="0"/>
            <a:chExt cx="914400" cy="933450"/>
          </a:xfrm>
        </p:grpSpPr>
        <p:sp>
          <p:nvSpPr>
            <p:cNvPr name="Freeform 11" id="11"/>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2" id="12"/>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01</a:t>
              </a:r>
            </a:p>
          </p:txBody>
        </p:sp>
      </p:grpSp>
      <p:grpSp>
        <p:nvGrpSpPr>
          <p:cNvPr name="Group 13" id="13"/>
          <p:cNvGrpSpPr/>
          <p:nvPr/>
        </p:nvGrpSpPr>
        <p:grpSpPr>
          <a:xfrm rot="0">
            <a:off x="1920240" y="2592791"/>
            <a:ext cx="3855529" cy="685800"/>
            <a:chOff x="0" y="0"/>
            <a:chExt cx="5140706" cy="914400"/>
          </a:xfrm>
        </p:grpSpPr>
        <p:sp>
          <p:nvSpPr>
            <p:cNvPr name="Freeform 14" id="14"/>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5" id="15"/>
          <p:cNvGrpSpPr/>
          <p:nvPr/>
        </p:nvGrpSpPr>
        <p:grpSpPr>
          <a:xfrm rot="0">
            <a:off x="1920240" y="2585647"/>
            <a:ext cx="3855568" cy="692944"/>
            <a:chOff x="0" y="0"/>
            <a:chExt cx="5140757" cy="923925"/>
          </a:xfrm>
        </p:grpSpPr>
        <p:sp>
          <p:nvSpPr>
            <p:cNvPr name="Freeform 16" id="16"/>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7" id="17"/>
          <p:cNvGrpSpPr/>
          <p:nvPr/>
        </p:nvGrpSpPr>
        <p:grpSpPr>
          <a:xfrm rot="0">
            <a:off x="1920240" y="2578503"/>
            <a:ext cx="3855568" cy="700088"/>
            <a:chOff x="0" y="0"/>
            <a:chExt cx="5140757" cy="933450"/>
          </a:xfrm>
        </p:grpSpPr>
        <p:sp>
          <p:nvSpPr>
            <p:cNvPr name="Freeform 18" id="18"/>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9" id="19"/>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Helpdesk Deployment</a:t>
              </a:r>
            </a:p>
          </p:txBody>
        </p:sp>
      </p:grpSp>
      <p:grpSp>
        <p:nvGrpSpPr>
          <p:cNvPr name="Group 20" id="20"/>
          <p:cNvGrpSpPr/>
          <p:nvPr/>
        </p:nvGrpSpPr>
        <p:grpSpPr>
          <a:xfrm rot="0">
            <a:off x="1028700" y="3456899"/>
            <a:ext cx="4678490" cy="411480"/>
            <a:chOff x="0" y="0"/>
            <a:chExt cx="6237986" cy="548640"/>
          </a:xfrm>
        </p:grpSpPr>
        <p:sp>
          <p:nvSpPr>
            <p:cNvPr name="Freeform 21" id="21"/>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22" id="22"/>
          <p:cNvGrpSpPr/>
          <p:nvPr/>
        </p:nvGrpSpPr>
        <p:grpSpPr>
          <a:xfrm rot="0">
            <a:off x="1028700" y="3456899"/>
            <a:ext cx="4678490" cy="411480"/>
            <a:chOff x="0" y="0"/>
            <a:chExt cx="6237986" cy="548640"/>
          </a:xfrm>
        </p:grpSpPr>
        <p:sp>
          <p:nvSpPr>
            <p:cNvPr name="Freeform 23" id="23"/>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24" id="24"/>
          <p:cNvGrpSpPr/>
          <p:nvPr/>
        </p:nvGrpSpPr>
        <p:grpSpPr>
          <a:xfrm rot="0">
            <a:off x="1028700" y="3449755"/>
            <a:ext cx="4678528" cy="418624"/>
            <a:chOff x="0" y="0"/>
            <a:chExt cx="6238037" cy="558165"/>
          </a:xfrm>
        </p:grpSpPr>
        <p:sp>
          <p:nvSpPr>
            <p:cNvPr name="Freeform 25" id="25"/>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26" id="26"/>
          <p:cNvGrpSpPr/>
          <p:nvPr/>
        </p:nvGrpSpPr>
        <p:grpSpPr>
          <a:xfrm rot="0">
            <a:off x="1028700" y="3442611"/>
            <a:ext cx="4678528" cy="425768"/>
            <a:chOff x="0" y="0"/>
            <a:chExt cx="6238037" cy="567690"/>
          </a:xfrm>
        </p:grpSpPr>
        <p:sp>
          <p:nvSpPr>
            <p:cNvPr name="Freeform 27" id="27"/>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28" id="28"/>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20 Sep 2026</a:t>
              </a:r>
            </a:p>
          </p:txBody>
        </p:sp>
      </p:grpSp>
      <p:grpSp>
        <p:nvGrpSpPr>
          <p:cNvPr name="Group 29" id="29"/>
          <p:cNvGrpSpPr/>
          <p:nvPr/>
        </p:nvGrpSpPr>
        <p:grpSpPr>
          <a:xfrm rot="0">
            <a:off x="1028700" y="5143967"/>
            <a:ext cx="2125980" cy="384048"/>
            <a:chOff x="0" y="0"/>
            <a:chExt cx="2834640" cy="512064"/>
          </a:xfrm>
        </p:grpSpPr>
        <p:sp>
          <p:nvSpPr>
            <p:cNvPr name="Freeform 30" id="30"/>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31" id="31"/>
          <p:cNvGrpSpPr/>
          <p:nvPr/>
        </p:nvGrpSpPr>
        <p:grpSpPr>
          <a:xfrm rot="0">
            <a:off x="1028700" y="5136823"/>
            <a:ext cx="2125980" cy="391192"/>
            <a:chOff x="0" y="0"/>
            <a:chExt cx="2834640" cy="521589"/>
          </a:xfrm>
        </p:grpSpPr>
        <p:sp>
          <p:nvSpPr>
            <p:cNvPr name="Freeform 32" id="32"/>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33" id="33"/>
          <p:cNvGrpSpPr/>
          <p:nvPr/>
        </p:nvGrpSpPr>
        <p:grpSpPr>
          <a:xfrm rot="0">
            <a:off x="1028700" y="5129679"/>
            <a:ext cx="2125980" cy="398336"/>
            <a:chOff x="0" y="0"/>
            <a:chExt cx="2834640" cy="531114"/>
          </a:xfrm>
        </p:grpSpPr>
        <p:sp>
          <p:nvSpPr>
            <p:cNvPr name="Freeform 34" id="34"/>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35" id="35"/>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36" id="36"/>
          <p:cNvGrpSpPr/>
          <p:nvPr/>
        </p:nvGrpSpPr>
        <p:grpSpPr>
          <a:xfrm rot="0">
            <a:off x="3512668" y="5157683"/>
            <a:ext cx="2194560" cy="356616"/>
            <a:chOff x="0" y="0"/>
            <a:chExt cx="2926080" cy="475488"/>
          </a:xfrm>
        </p:grpSpPr>
        <p:sp>
          <p:nvSpPr>
            <p:cNvPr name="Freeform 37" id="37"/>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38" id="38"/>
          <p:cNvGrpSpPr/>
          <p:nvPr/>
        </p:nvGrpSpPr>
        <p:grpSpPr>
          <a:xfrm rot="0">
            <a:off x="3512668" y="5157683"/>
            <a:ext cx="2194560" cy="356616"/>
            <a:chOff x="0" y="0"/>
            <a:chExt cx="2926080" cy="475488"/>
          </a:xfrm>
        </p:grpSpPr>
        <p:sp>
          <p:nvSpPr>
            <p:cNvPr name="Freeform 39" id="39"/>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40" id="40"/>
          <p:cNvGrpSpPr/>
          <p:nvPr/>
        </p:nvGrpSpPr>
        <p:grpSpPr>
          <a:xfrm rot="0">
            <a:off x="3512668" y="5150539"/>
            <a:ext cx="2194560" cy="363760"/>
            <a:chOff x="0" y="0"/>
            <a:chExt cx="2926080" cy="485013"/>
          </a:xfrm>
        </p:grpSpPr>
        <p:sp>
          <p:nvSpPr>
            <p:cNvPr name="Freeform 41" id="41"/>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42" id="42"/>
          <p:cNvGrpSpPr/>
          <p:nvPr/>
        </p:nvGrpSpPr>
        <p:grpSpPr>
          <a:xfrm rot="0">
            <a:off x="3512668" y="5143395"/>
            <a:ext cx="2194560" cy="370904"/>
            <a:chOff x="0" y="0"/>
            <a:chExt cx="2926080" cy="494538"/>
          </a:xfrm>
        </p:grpSpPr>
        <p:sp>
          <p:nvSpPr>
            <p:cNvPr name="Freeform 43" id="43"/>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44" id="44"/>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45" id="45"/>
          <p:cNvGrpSpPr/>
          <p:nvPr/>
        </p:nvGrpSpPr>
        <p:grpSpPr>
          <a:xfrm rot="0">
            <a:off x="1028700" y="5651459"/>
            <a:ext cx="2125980" cy="384048"/>
            <a:chOff x="0" y="0"/>
            <a:chExt cx="2834640" cy="512064"/>
          </a:xfrm>
        </p:grpSpPr>
        <p:sp>
          <p:nvSpPr>
            <p:cNvPr name="Freeform 46" id="46"/>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47" id="47"/>
          <p:cNvGrpSpPr/>
          <p:nvPr/>
        </p:nvGrpSpPr>
        <p:grpSpPr>
          <a:xfrm rot="0">
            <a:off x="1028700" y="5644315"/>
            <a:ext cx="2125980" cy="391192"/>
            <a:chOff x="0" y="0"/>
            <a:chExt cx="2834640" cy="521589"/>
          </a:xfrm>
        </p:grpSpPr>
        <p:sp>
          <p:nvSpPr>
            <p:cNvPr name="Freeform 48" id="48"/>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49" id="49"/>
          <p:cNvGrpSpPr/>
          <p:nvPr/>
        </p:nvGrpSpPr>
        <p:grpSpPr>
          <a:xfrm rot="0">
            <a:off x="1028700" y="5637171"/>
            <a:ext cx="2125980" cy="398336"/>
            <a:chOff x="0" y="0"/>
            <a:chExt cx="2834640" cy="531114"/>
          </a:xfrm>
        </p:grpSpPr>
        <p:sp>
          <p:nvSpPr>
            <p:cNvPr name="Freeform 50" id="50"/>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51" id="51"/>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52" id="52"/>
          <p:cNvGrpSpPr/>
          <p:nvPr/>
        </p:nvGrpSpPr>
        <p:grpSpPr>
          <a:xfrm rot="0">
            <a:off x="3512668" y="5665175"/>
            <a:ext cx="2194560" cy="356616"/>
            <a:chOff x="0" y="0"/>
            <a:chExt cx="2926080" cy="475488"/>
          </a:xfrm>
        </p:grpSpPr>
        <p:sp>
          <p:nvSpPr>
            <p:cNvPr name="Freeform 53" id="53"/>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54" id="54"/>
          <p:cNvGrpSpPr/>
          <p:nvPr/>
        </p:nvGrpSpPr>
        <p:grpSpPr>
          <a:xfrm rot="0">
            <a:off x="3512668" y="5665175"/>
            <a:ext cx="2194560" cy="356616"/>
            <a:chOff x="0" y="0"/>
            <a:chExt cx="2926080" cy="475488"/>
          </a:xfrm>
        </p:grpSpPr>
        <p:sp>
          <p:nvSpPr>
            <p:cNvPr name="Freeform 55" id="55"/>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56" id="56"/>
          <p:cNvGrpSpPr/>
          <p:nvPr/>
        </p:nvGrpSpPr>
        <p:grpSpPr>
          <a:xfrm rot="0">
            <a:off x="3512668" y="5658031"/>
            <a:ext cx="2194560" cy="363760"/>
            <a:chOff x="0" y="0"/>
            <a:chExt cx="2926080" cy="485013"/>
          </a:xfrm>
        </p:grpSpPr>
        <p:sp>
          <p:nvSpPr>
            <p:cNvPr name="Freeform 57" id="57"/>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58" id="58"/>
          <p:cNvGrpSpPr/>
          <p:nvPr/>
        </p:nvGrpSpPr>
        <p:grpSpPr>
          <a:xfrm rot="0">
            <a:off x="3512668" y="5650887"/>
            <a:ext cx="2194560" cy="370904"/>
            <a:chOff x="0" y="0"/>
            <a:chExt cx="2926080" cy="494538"/>
          </a:xfrm>
        </p:grpSpPr>
        <p:sp>
          <p:nvSpPr>
            <p:cNvPr name="Freeform 59" id="59"/>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60" id="60"/>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61" id="61"/>
          <p:cNvGrpSpPr/>
          <p:nvPr/>
        </p:nvGrpSpPr>
        <p:grpSpPr>
          <a:xfrm rot="0">
            <a:off x="1028700" y="6158951"/>
            <a:ext cx="2125980" cy="384048"/>
            <a:chOff x="0" y="0"/>
            <a:chExt cx="2834640" cy="512064"/>
          </a:xfrm>
        </p:grpSpPr>
        <p:sp>
          <p:nvSpPr>
            <p:cNvPr name="Freeform 62" id="62"/>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63" id="63"/>
          <p:cNvGrpSpPr/>
          <p:nvPr/>
        </p:nvGrpSpPr>
        <p:grpSpPr>
          <a:xfrm rot="0">
            <a:off x="1028700" y="6151807"/>
            <a:ext cx="2125980" cy="391192"/>
            <a:chOff x="0" y="0"/>
            <a:chExt cx="2834640" cy="521589"/>
          </a:xfrm>
        </p:grpSpPr>
        <p:sp>
          <p:nvSpPr>
            <p:cNvPr name="Freeform 64" id="64"/>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65" id="65"/>
          <p:cNvGrpSpPr/>
          <p:nvPr/>
        </p:nvGrpSpPr>
        <p:grpSpPr>
          <a:xfrm rot="0">
            <a:off x="1028700" y="6144663"/>
            <a:ext cx="2125980" cy="398336"/>
            <a:chOff x="0" y="0"/>
            <a:chExt cx="2834640" cy="531114"/>
          </a:xfrm>
        </p:grpSpPr>
        <p:sp>
          <p:nvSpPr>
            <p:cNvPr name="Freeform 66" id="66"/>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67" id="67"/>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68" id="68"/>
          <p:cNvGrpSpPr/>
          <p:nvPr/>
        </p:nvGrpSpPr>
        <p:grpSpPr>
          <a:xfrm rot="0">
            <a:off x="3512668" y="6172667"/>
            <a:ext cx="2194560" cy="356616"/>
            <a:chOff x="0" y="0"/>
            <a:chExt cx="2926080" cy="475488"/>
          </a:xfrm>
        </p:grpSpPr>
        <p:sp>
          <p:nvSpPr>
            <p:cNvPr name="Freeform 69" id="69"/>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70" id="70"/>
          <p:cNvGrpSpPr/>
          <p:nvPr/>
        </p:nvGrpSpPr>
        <p:grpSpPr>
          <a:xfrm rot="0">
            <a:off x="3512668" y="6172667"/>
            <a:ext cx="2194560" cy="356616"/>
            <a:chOff x="0" y="0"/>
            <a:chExt cx="2926080" cy="475488"/>
          </a:xfrm>
        </p:grpSpPr>
        <p:sp>
          <p:nvSpPr>
            <p:cNvPr name="Freeform 71" id="71"/>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72" id="72"/>
          <p:cNvGrpSpPr/>
          <p:nvPr/>
        </p:nvGrpSpPr>
        <p:grpSpPr>
          <a:xfrm rot="0">
            <a:off x="3512668" y="6165523"/>
            <a:ext cx="2194560" cy="363760"/>
            <a:chOff x="0" y="0"/>
            <a:chExt cx="2926080" cy="485013"/>
          </a:xfrm>
        </p:grpSpPr>
        <p:sp>
          <p:nvSpPr>
            <p:cNvPr name="Freeform 73" id="73"/>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74" id="74"/>
          <p:cNvGrpSpPr/>
          <p:nvPr/>
        </p:nvGrpSpPr>
        <p:grpSpPr>
          <a:xfrm rot="0">
            <a:off x="3512668" y="6158379"/>
            <a:ext cx="2194560" cy="370904"/>
            <a:chOff x="0" y="0"/>
            <a:chExt cx="2926080" cy="494538"/>
          </a:xfrm>
        </p:grpSpPr>
        <p:sp>
          <p:nvSpPr>
            <p:cNvPr name="Freeform 75" id="75"/>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76" id="76"/>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77" id="77"/>
          <p:cNvGrpSpPr/>
          <p:nvPr/>
        </p:nvGrpSpPr>
        <p:grpSpPr>
          <a:xfrm rot="0">
            <a:off x="6461608" y="2291039"/>
            <a:ext cx="5364290" cy="4472940"/>
            <a:chOff x="0" y="0"/>
            <a:chExt cx="7152386" cy="5963920"/>
          </a:xfrm>
        </p:grpSpPr>
        <p:sp>
          <p:nvSpPr>
            <p:cNvPr name="Freeform 78" id="78"/>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79" id="79"/>
          <p:cNvGrpSpPr/>
          <p:nvPr/>
        </p:nvGrpSpPr>
        <p:grpSpPr>
          <a:xfrm rot="0">
            <a:off x="6804508" y="2633939"/>
            <a:ext cx="685800" cy="685800"/>
            <a:chOff x="0" y="0"/>
            <a:chExt cx="914400" cy="914400"/>
          </a:xfrm>
        </p:grpSpPr>
        <p:sp>
          <p:nvSpPr>
            <p:cNvPr name="Freeform 80" id="8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81" id="81"/>
          <p:cNvGrpSpPr/>
          <p:nvPr/>
        </p:nvGrpSpPr>
        <p:grpSpPr>
          <a:xfrm rot="0">
            <a:off x="6804508" y="2633939"/>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3" id="83"/>
          <p:cNvGrpSpPr/>
          <p:nvPr/>
        </p:nvGrpSpPr>
        <p:grpSpPr>
          <a:xfrm rot="0">
            <a:off x="6804508" y="2626795"/>
            <a:ext cx="685800" cy="692944"/>
            <a:chOff x="0" y="0"/>
            <a:chExt cx="914400" cy="923925"/>
          </a:xfrm>
        </p:grpSpPr>
        <p:sp>
          <p:nvSpPr>
            <p:cNvPr name="Freeform 84" id="84"/>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85" id="85"/>
          <p:cNvGrpSpPr/>
          <p:nvPr/>
        </p:nvGrpSpPr>
        <p:grpSpPr>
          <a:xfrm rot="0">
            <a:off x="6804508" y="2619651"/>
            <a:ext cx="685800" cy="700088"/>
            <a:chOff x="0" y="0"/>
            <a:chExt cx="914400" cy="933450"/>
          </a:xfrm>
        </p:grpSpPr>
        <p:sp>
          <p:nvSpPr>
            <p:cNvPr name="Freeform 86" id="86"/>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87" id="87"/>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02</a:t>
              </a:r>
            </a:p>
          </p:txBody>
        </p:sp>
      </p:grpSp>
      <p:grpSp>
        <p:nvGrpSpPr>
          <p:cNvPr name="Group 88" id="88"/>
          <p:cNvGrpSpPr/>
          <p:nvPr/>
        </p:nvGrpSpPr>
        <p:grpSpPr>
          <a:xfrm rot="0">
            <a:off x="7696048" y="2592791"/>
            <a:ext cx="3855529" cy="685800"/>
            <a:chOff x="0" y="0"/>
            <a:chExt cx="5140706" cy="914400"/>
          </a:xfrm>
        </p:grpSpPr>
        <p:sp>
          <p:nvSpPr>
            <p:cNvPr name="Freeform 89" id="89"/>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90" id="90"/>
          <p:cNvGrpSpPr/>
          <p:nvPr/>
        </p:nvGrpSpPr>
        <p:grpSpPr>
          <a:xfrm rot="0">
            <a:off x="7696048" y="2585647"/>
            <a:ext cx="3855568" cy="692944"/>
            <a:chOff x="0" y="0"/>
            <a:chExt cx="5140757" cy="923925"/>
          </a:xfrm>
        </p:grpSpPr>
        <p:sp>
          <p:nvSpPr>
            <p:cNvPr name="Freeform 91" id="91"/>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92" id="92"/>
          <p:cNvGrpSpPr/>
          <p:nvPr/>
        </p:nvGrpSpPr>
        <p:grpSpPr>
          <a:xfrm rot="0">
            <a:off x="7696048" y="2578503"/>
            <a:ext cx="3855568" cy="700088"/>
            <a:chOff x="0" y="0"/>
            <a:chExt cx="5140757" cy="933450"/>
          </a:xfrm>
        </p:grpSpPr>
        <p:sp>
          <p:nvSpPr>
            <p:cNvPr name="Freeform 93" id="93"/>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94" id="94"/>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WealthTech CRM Rollout</a:t>
              </a:r>
            </a:p>
          </p:txBody>
        </p:sp>
      </p:grpSp>
      <p:grpSp>
        <p:nvGrpSpPr>
          <p:cNvPr name="Group 95" id="95"/>
          <p:cNvGrpSpPr/>
          <p:nvPr/>
        </p:nvGrpSpPr>
        <p:grpSpPr>
          <a:xfrm rot="0">
            <a:off x="6804508" y="3456899"/>
            <a:ext cx="4678490" cy="411480"/>
            <a:chOff x="0" y="0"/>
            <a:chExt cx="6237986" cy="548640"/>
          </a:xfrm>
        </p:grpSpPr>
        <p:sp>
          <p:nvSpPr>
            <p:cNvPr name="Freeform 96" id="96"/>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97" id="97"/>
          <p:cNvGrpSpPr/>
          <p:nvPr/>
        </p:nvGrpSpPr>
        <p:grpSpPr>
          <a:xfrm rot="0">
            <a:off x="6804508" y="3456899"/>
            <a:ext cx="4678490" cy="411480"/>
            <a:chOff x="0" y="0"/>
            <a:chExt cx="6237986" cy="548640"/>
          </a:xfrm>
        </p:grpSpPr>
        <p:sp>
          <p:nvSpPr>
            <p:cNvPr name="Freeform 98" id="98"/>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99" id="99"/>
          <p:cNvGrpSpPr/>
          <p:nvPr/>
        </p:nvGrpSpPr>
        <p:grpSpPr>
          <a:xfrm rot="0">
            <a:off x="6804508" y="3449755"/>
            <a:ext cx="4678528" cy="418624"/>
            <a:chOff x="0" y="0"/>
            <a:chExt cx="6238037" cy="558165"/>
          </a:xfrm>
        </p:grpSpPr>
        <p:sp>
          <p:nvSpPr>
            <p:cNvPr name="Freeform 100" id="100"/>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01" id="101"/>
          <p:cNvGrpSpPr/>
          <p:nvPr/>
        </p:nvGrpSpPr>
        <p:grpSpPr>
          <a:xfrm rot="0">
            <a:off x="6804508" y="3442611"/>
            <a:ext cx="4678528" cy="425768"/>
            <a:chOff x="0" y="0"/>
            <a:chExt cx="6238037" cy="567690"/>
          </a:xfrm>
        </p:grpSpPr>
        <p:sp>
          <p:nvSpPr>
            <p:cNvPr name="Freeform 102" id="102"/>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03" id="103"/>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29 Oct 2026</a:t>
              </a:r>
            </a:p>
          </p:txBody>
        </p:sp>
      </p:grpSp>
      <p:grpSp>
        <p:nvGrpSpPr>
          <p:cNvPr name="Group 104" id="104"/>
          <p:cNvGrpSpPr/>
          <p:nvPr/>
        </p:nvGrpSpPr>
        <p:grpSpPr>
          <a:xfrm rot="0">
            <a:off x="6804508" y="5143967"/>
            <a:ext cx="2125980" cy="384048"/>
            <a:chOff x="0" y="0"/>
            <a:chExt cx="2834640" cy="512064"/>
          </a:xfrm>
        </p:grpSpPr>
        <p:sp>
          <p:nvSpPr>
            <p:cNvPr name="Freeform 105" id="105"/>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06" id="106"/>
          <p:cNvGrpSpPr/>
          <p:nvPr/>
        </p:nvGrpSpPr>
        <p:grpSpPr>
          <a:xfrm rot="0">
            <a:off x="6804508" y="5136823"/>
            <a:ext cx="2125980" cy="391192"/>
            <a:chOff x="0" y="0"/>
            <a:chExt cx="2834640" cy="521589"/>
          </a:xfrm>
        </p:grpSpPr>
        <p:sp>
          <p:nvSpPr>
            <p:cNvPr name="Freeform 107" id="107"/>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08" id="108"/>
          <p:cNvGrpSpPr/>
          <p:nvPr/>
        </p:nvGrpSpPr>
        <p:grpSpPr>
          <a:xfrm rot="0">
            <a:off x="6804508" y="5129679"/>
            <a:ext cx="2125980" cy="398336"/>
            <a:chOff x="0" y="0"/>
            <a:chExt cx="2834640" cy="531114"/>
          </a:xfrm>
        </p:grpSpPr>
        <p:sp>
          <p:nvSpPr>
            <p:cNvPr name="Freeform 109" id="109"/>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10" id="110"/>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11" id="111"/>
          <p:cNvGrpSpPr/>
          <p:nvPr/>
        </p:nvGrpSpPr>
        <p:grpSpPr>
          <a:xfrm rot="0">
            <a:off x="9288475" y="5157683"/>
            <a:ext cx="2194560" cy="356616"/>
            <a:chOff x="0" y="0"/>
            <a:chExt cx="2926080" cy="475488"/>
          </a:xfrm>
        </p:grpSpPr>
        <p:sp>
          <p:nvSpPr>
            <p:cNvPr name="Freeform 112" id="112"/>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13" id="113"/>
          <p:cNvGrpSpPr/>
          <p:nvPr/>
        </p:nvGrpSpPr>
        <p:grpSpPr>
          <a:xfrm rot="0">
            <a:off x="9288475" y="5157683"/>
            <a:ext cx="2194560" cy="356616"/>
            <a:chOff x="0" y="0"/>
            <a:chExt cx="2926080" cy="475488"/>
          </a:xfrm>
        </p:grpSpPr>
        <p:sp>
          <p:nvSpPr>
            <p:cNvPr name="Freeform 114" id="114"/>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15" id="115"/>
          <p:cNvGrpSpPr/>
          <p:nvPr/>
        </p:nvGrpSpPr>
        <p:grpSpPr>
          <a:xfrm rot="0">
            <a:off x="9288475" y="5150539"/>
            <a:ext cx="2194560" cy="363760"/>
            <a:chOff x="0" y="0"/>
            <a:chExt cx="2926080" cy="485013"/>
          </a:xfrm>
        </p:grpSpPr>
        <p:sp>
          <p:nvSpPr>
            <p:cNvPr name="Freeform 116" id="116"/>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17" id="117"/>
          <p:cNvGrpSpPr/>
          <p:nvPr/>
        </p:nvGrpSpPr>
        <p:grpSpPr>
          <a:xfrm rot="0">
            <a:off x="9288475" y="5143395"/>
            <a:ext cx="2194560" cy="370904"/>
            <a:chOff x="0" y="0"/>
            <a:chExt cx="2926080" cy="494538"/>
          </a:xfrm>
        </p:grpSpPr>
        <p:sp>
          <p:nvSpPr>
            <p:cNvPr name="Freeform 118" id="118"/>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19" id="119"/>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20" id="120"/>
          <p:cNvGrpSpPr/>
          <p:nvPr/>
        </p:nvGrpSpPr>
        <p:grpSpPr>
          <a:xfrm rot="0">
            <a:off x="6804508" y="5651459"/>
            <a:ext cx="2125980" cy="384048"/>
            <a:chOff x="0" y="0"/>
            <a:chExt cx="2834640" cy="512064"/>
          </a:xfrm>
        </p:grpSpPr>
        <p:sp>
          <p:nvSpPr>
            <p:cNvPr name="Freeform 121" id="121"/>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22" id="122"/>
          <p:cNvGrpSpPr/>
          <p:nvPr/>
        </p:nvGrpSpPr>
        <p:grpSpPr>
          <a:xfrm rot="0">
            <a:off x="6804508" y="5644315"/>
            <a:ext cx="2125980" cy="391192"/>
            <a:chOff x="0" y="0"/>
            <a:chExt cx="2834640" cy="521589"/>
          </a:xfrm>
        </p:grpSpPr>
        <p:sp>
          <p:nvSpPr>
            <p:cNvPr name="Freeform 123" id="123"/>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24" id="124"/>
          <p:cNvGrpSpPr/>
          <p:nvPr/>
        </p:nvGrpSpPr>
        <p:grpSpPr>
          <a:xfrm rot="0">
            <a:off x="6804508" y="5637171"/>
            <a:ext cx="2125980" cy="398336"/>
            <a:chOff x="0" y="0"/>
            <a:chExt cx="2834640" cy="531114"/>
          </a:xfrm>
        </p:grpSpPr>
        <p:sp>
          <p:nvSpPr>
            <p:cNvPr name="Freeform 125" id="125"/>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26" id="126"/>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127" id="127"/>
          <p:cNvGrpSpPr/>
          <p:nvPr/>
        </p:nvGrpSpPr>
        <p:grpSpPr>
          <a:xfrm rot="0">
            <a:off x="9288475" y="5665175"/>
            <a:ext cx="2194560" cy="356616"/>
            <a:chOff x="0" y="0"/>
            <a:chExt cx="2926080" cy="475488"/>
          </a:xfrm>
        </p:grpSpPr>
        <p:sp>
          <p:nvSpPr>
            <p:cNvPr name="Freeform 128" id="12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29" id="129"/>
          <p:cNvGrpSpPr/>
          <p:nvPr/>
        </p:nvGrpSpPr>
        <p:grpSpPr>
          <a:xfrm rot="0">
            <a:off x="9288475" y="5665175"/>
            <a:ext cx="2194560" cy="356616"/>
            <a:chOff x="0" y="0"/>
            <a:chExt cx="2926080" cy="475488"/>
          </a:xfrm>
        </p:grpSpPr>
        <p:sp>
          <p:nvSpPr>
            <p:cNvPr name="Freeform 130" id="13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31" id="131"/>
          <p:cNvGrpSpPr/>
          <p:nvPr/>
        </p:nvGrpSpPr>
        <p:grpSpPr>
          <a:xfrm rot="0">
            <a:off x="9288475" y="5658031"/>
            <a:ext cx="2194560" cy="363760"/>
            <a:chOff x="0" y="0"/>
            <a:chExt cx="2926080" cy="485013"/>
          </a:xfrm>
        </p:grpSpPr>
        <p:sp>
          <p:nvSpPr>
            <p:cNvPr name="Freeform 132" id="13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33" id="133"/>
          <p:cNvGrpSpPr/>
          <p:nvPr/>
        </p:nvGrpSpPr>
        <p:grpSpPr>
          <a:xfrm rot="0">
            <a:off x="9288475" y="5650887"/>
            <a:ext cx="2194560" cy="370904"/>
            <a:chOff x="0" y="0"/>
            <a:chExt cx="2926080" cy="494538"/>
          </a:xfrm>
        </p:grpSpPr>
        <p:sp>
          <p:nvSpPr>
            <p:cNvPr name="Freeform 134" id="13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35" id="13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36" id="136"/>
          <p:cNvGrpSpPr/>
          <p:nvPr/>
        </p:nvGrpSpPr>
        <p:grpSpPr>
          <a:xfrm rot="0">
            <a:off x="6804508" y="6158951"/>
            <a:ext cx="2125980" cy="384048"/>
            <a:chOff x="0" y="0"/>
            <a:chExt cx="2834640" cy="512064"/>
          </a:xfrm>
        </p:grpSpPr>
        <p:sp>
          <p:nvSpPr>
            <p:cNvPr name="Freeform 137" id="137"/>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38" id="138"/>
          <p:cNvGrpSpPr/>
          <p:nvPr/>
        </p:nvGrpSpPr>
        <p:grpSpPr>
          <a:xfrm rot="0">
            <a:off x="6804508" y="6151807"/>
            <a:ext cx="2125980" cy="391192"/>
            <a:chOff x="0" y="0"/>
            <a:chExt cx="2834640" cy="521589"/>
          </a:xfrm>
        </p:grpSpPr>
        <p:sp>
          <p:nvSpPr>
            <p:cNvPr name="Freeform 139" id="139"/>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40" id="140"/>
          <p:cNvGrpSpPr/>
          <p:nvPr/>
        </p:nvGrpSpPr>
        <p:grpSpPr>
          <a:xfrm rot="0">
            <a:off x="6804508" y="6144663"/>
            <a:ext cx="2125980" cy="398336"/>
            <a:chOff x="0" y="0"/>
            <a:chExt cx="2834640" cy="531114"/>
          </a:xfrm>
        </p:grpSpPr>
        <p:sp>
          <p:nvSpPr>
            <p:cNvPr name="Freeform 141" id="141"/>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42" id="142"/>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143" id="143"/>
          <p:cNvGrpSpPr/>
          <p:nvPr/>
        </p:nvGrpSpPr>
        <p:grpSpPr>
          <a:xfrm rot="0">
            <a:off x="9288475" y="6172667"/>
            <a:ext cx="2194560" cy="356616"/>
            <a:chOff x="0" y="0"/>
            <a:chExt cx="2926080" cy="475488"/>
          </a:xfrm>
        </p:grpSpPr>
        <p:sp>
          <p:nvSpPr>
            <p:cNvPr name="Freeform 144" id="144"/>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145" id="145"/>
          <p:cNvGrpSpPr/>
          <p:nvPr/>
        </p:nvGrpSpPr>
        <p:grpSpPr>
          <a:xfrm rot="0">
            <a:off x="9288475" y="6172667"/>
            <a:ext cx="2194560" cy="356616"/>
            <a:chOff x="0" y="0"/>
            <a:chExt cx="2926080" cy="475488"/>
          </a:xfrm>
        </p:grpSpPr>
        <p:sp>
          <p:nvSpPr>
            <p:cNvPr name="Freeform 146" id="146"/>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47" id="147"/>
          <p:cNvGrpSpPr/>
          <p:nvPr/>
        </p:nvGrpSpPr>
        <p:grpSpPr>
          <a:xfrm rot="0">
            <a:off x="9288475" y="6165523"/>
            <a:ext cx="2194560" cy="363760"/>
            <a:chOff x="0" y="0"/>
            <a:chExt cx="2926080" cy="485013"/>
          </a:xfrm>
        </p:grpSpPr>
        <p:sp>
          <p:nvSpPr>
            <p:cNvPr name="Freeform 148" id="148"/>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49" id="149"/>
          <p:cNvGrpSpPr/>
          <p:nvPr/>
        </p:nvGrpSpPr>
        <p:grpSpPr>
          <a:xfrm rot="0">
            <a:off x="9288475" y="6158379"/>
            <a:ext cx="2194560" cy="370904"/>
            <a:chOff x="0" y="0"/>
            <a:chExt cx="2926080" cy="494538"/>
          </a:xfrm>
        </p:grpSpPr>
        <p:sp>
          <p:nvSpPr>
            <p:cNvPr name="Freeform 150" id="15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51" id="15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152" id="152"/>
          <p:cNvGrpSpPr/>
          <p:nvPr/>
        </p:nvGrpSpPr>
        <p:grpSpPr>
          <a:xfrm rot="0">
            <a:off x="12237415" y="2291039"/>
            <a:ext cx="5364290" cy="4472940"/>
            <a:chOff x="0" y="0"/>
            <a:chExt cx="7152386" cy="5963920"/>
          </a:xfrm>
        </p:grpSpPr>
        <p:sp>
          <p:nvSpPr>
            <p:cNvPr name="Freeform 153" id="153"/>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154" id="154"/>
          <p:cNvGrpSpPr/>
          <p:nvPr/>
        </p:nvGrpSpPr>
        <p:grpSpPr>
          <a:xfrm rot="0">
            <a:off x="12580315" y="2633939"/>
            <a:ext cx="685800" cy="685800"/>
            <a:chOff x="0" y="0"/>
            <a:chExt cx="914400" cy="914400"/>
          </a:xfrm>
        </p:grpSpPr>
        <p:sp>
          <p:nvSpPr>
            <p:cNvPr name="Freeform 155" id="1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56" id="156"/>
          <p:cNvGrpSpPr/>
          <p:nvPr/>
        </p:nvGrpSpPr>
        <p:grpSpPr>
          <a:xfrm rot="0">
            <a:off x="12580315" y="2633939"/>
            <a:ext cx="685800" cy="685800"/>
            <a:chOff x="0" y="0"/>
            <a:chExt cx="914400" cy="914400"/>
          </a:xfrm>
        </p:grpSpPr>
        <p:sp>
          <p:nvSpPr>
            <p:cNvPr name="Freeform 157" id="1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158" id="158"/>
          <p:cNvGrpSpPr/>
          <p:nvPr/>
        </p:nvGrpSpPr>
        <p:grpSpPr>
          <a:xfrm rot="0">
            <a:off x="12580315" y="2626795"/>
            <a:ext cx="685800" cy="692944"/>
            <a:chOff x="0" y="0"/>
            <a:chExt cx="914400" cy="923925"/>
          </a:xfrm>
        </p:grpSpPr>
        <p:sp>
          <p:nvSpPr>
            <p:cNvPr name="Freeform 159" id="159"/>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60" id="160"/>
          <p:cNvGrpSpPr/>
          <p:nvPr/>
        </p:nvGrpSpPr>
        <p:grpSpPr>
          <a:xfrm rot="0">
            <a:off x="12580315" y="2619651"/>
            <a:ext cx="685800" cy="700088"/>
            <a:chOff x="0" y="0"/>
            <a:chExt cx="914400" cy="933450"/>
          </a:xfrm>
        </p:grpSpPr>
        <p:sp>
          <p:nvSpPr>
            <p:cNvPr name="Freeform 161" id="161"/>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62" id="162"/>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03</a:t>
              </a:r>
            </a:p>
          </p:txBody>
        </p:sp>
      </p:grpSp>
      <p:grpSp>
        <p:nvGrpSpPr>
          <p:cNvPr name="Group 163" id="163"/>
          <p:cNvGrpSpPr/>
          <p:nvPr/>
        </p:nvGrpSpPr>
        <p:grpSpPr>
          <a:xfrm rot="0">
            <a:off x="13471855" y="2592791"/>
            <a:ext cx="3855529" cy="685800"/>
            <a:chOff x="0" y="0"/>
            <a:chExt cx="5140706" cy="914400"/>
          </a:xfrm>
        </p:grpSpPr>
        <p:sp>
          <p:nvSpPr>
            <p:cNvPr name="Freeform 164" id="164"/>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65" id="165"/>
          <p:cNvGrpSpPr/>
          <p:nvPr/>
        </p:nvGrpSpPr>
        <p:grpSpPr>
          <a:xfrm rot="0">
            <a:off x="13471855" y="2585647"/>
            <a:ext cx="3855568" cy="692944"/>
            <a:chOff x="0" y="0"/>
            <a:chExt cx="5140757" cy="923925"/>
          </a:xfrm>
        </p:grpSpPr>
        <p:sp>
          <p:nvSpPr>
            <p:cNvPr name="Freeform 166" id="166"/>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67" id="167"/>
          <p:cNvGrpSpPr/>
          <p:nvPr/>
        </p:nvGrpSpPr>
        <p:grpSpPr>
          <a:xfrm rot="0">
            <a:off x="13471855" y="2578503"/>
            <a:ext cx="3855568" cy="700088"/>
            <a:chOff x="0" y="0"/>
            <a:chExt cx="5140757" cy="933450"/>
          </a:xfrm>
        </p:grpSpPr>
        <p:sp>
          <p:nvSpPr>
            <p:cNvPr name="Freeform 168" id="168"/>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69" id="169"/>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Reporting Dashboard</a:t>
              </a:r>
            </a:p>
          </p:txBody>
        </p:sp>
      </p:grpSp>
      <p:grpSp>
        <p:nvGrpSpPr>
          <p:cNvPr name="Group 170" id="170"/>
          <p:cNvGrpSpPr/>
          <p:nvPr/>
        </p:nvGrpSpPr>
        <p:grpSpPr>
          <a:xfrm rot="0">
            <a:off x="12580315" y="3456899"/>
            <a:ext cx="4678490" cy="411480"/>
            <a:chOff x="0" y="0"/>
            <a:chExt cx="6237986" cy="548640"/>
          </a:xfrm>
        </p:grpSpPr>
        <p:sp>
          <p:nvSpPr>
            <p:cNvPr name="Freeform 171" id="171"/>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172" id="172"/>
          <p:cNvGrpSpPr/>
          <p:nvPr/>
        </p:nvGrpSpPr>
        <p:grpSpPr>
          <a:xfrm rot="0">
            <a:off x="12580315" y="3456899"/>
            <a:ext cx="4678490" cy="411480"/>
            <a:chOff x="0" y="0"/>
            <a:chExt cx="6237986" cy="548640"/>
          </a:xfrm>
        </p:grpSpPr>
        <p:sp>
          <p:nvSpPr>
            <p:cNvPr name="Freeform 173" id="173"/>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174" id="174"/>
          <p:cNvGrpSpPr/>
          <p:nvPr/>
        </p:nvGrpSpPr>
        <p:grpSpPr>
          <a:xfrm rot="0">
            <a:off x="12580315" y="3449755"/>
            <a:ext cx="4678528" cy="418624"/>
            <a:chOff x="0" y="0"/>
            <a:chExt cx="6238037" cy="558165"/>
          </a:xfrm>
        </p:grpSpPr>
        <p:sp>
          <p:nvSpPr>
            <p:cNvPr name="Freeform 175" id="175"/>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76" id="176"/>
          <p:cNvGrpSpPr/>
          <p:nvPr/>
        </p:nvGrpSpPr>
        <p:grpSpPr>
          <a:xfrm rot="0">
            <a:off x="12580315" y="3442611"/>
            <a:ext cx="4678528" cy="425768"/>
            <a:chOff x="0" y="0"/>
            <a:chExt cx="6238037" cy="567690"/>
          </a:xfrm>
        </p:grpSpPr>
        <p:sp>
          <p:nvSpPr>
            <p:cNvPr name="Freeform 177" id="177"/>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78" id="178"/>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TBC</a:t>
              </a:r>
            </a:p>
          </p:txBody>
        </p:sp>
      </p:grpSp>
      <p:grpSp>
        <p:nvGrpSpPr>
          <p:cNvPr name="Group 179" id="179"/>
          <p:cNvGrpSpPr/>
          <p:nvPr/>
        </p:nvGrpSpPr>
        <p:grpSpPr>
          <a:xfrm rot="0">
            <a:off x="12580315" y="5143967"/>
            <a:ext cx="2125980" cy="384048"/>
            <a:chOff x="0" y="0"/>
            <a:chExt cx="2834640" cy="512064"/>
          </a:xfrm>
        </p:grpSpPr>
        <p:sp>
          <p:nvSpPr>
            <p:cNvPr name="Freeform 180" id="180"/>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81" id="181"/>
          <p:cNvGrpSpPr/>
          <p:nvPr/>
        </p:nvGrpSpPr>
        <p:grpSpPr>
          <a:xfrm rot="0">
            <a:off x="12580315" y="5136823"/>
            <a:ext cx="2125980" cy="391192"/>
            <a:chOff x="0" y="0"/>
            <a:chExt cx="2834640" cy="521589"/>
          </a:xfrm>
        </p:grpSpPr>
        <p:sp>
          <p:nvSpPr>
            <p:cNvPr name="Freeform 182" id="182"/>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83" id="183"/>
          <p:cNvGrpSpPr/>
          <p:nvPr/>
        </p:nvGrpSpPr>
        <p:grpSpPr>
          <a:xfrm rot="0">
            <a:off x="12580315" y="5129679"/>
            <a:ext cx="2125980" cy="398336"/>
            <a:chOff x="0" y="0"/>
            <a:chExt cx="2834640" cy="531114"/>
          </a:xfrm>
        </p:grpSpPr>
        <p:sp>
          <p:nvSpPr>
            <p:cNvPr name="Freeform 184" id="184"/>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85" id="185"/>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86" id="186"/>
          <p:cNvGrpSpPr/>
          <p:nvPr/>
        </p:nvGrpSpPr>
        <p:grpSpPr>
          <a:xfrm rot="0">
            <a:off x="15064283" y="5157683"/>
            <a:ext cx="2194560" cy="356616"/>
            <a:chOff x="0" y="0"/>
            <a:chExt cx="2926080" cy="475488"/>
          </a:xfrm>
        </p:grpSpPr>
        <p:sp>
          <p:nvSpPr>
            <p:cNvPr name="Freeform 187" id="187"/>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188" id="188"/>
          <p:cNvGrpSpPr/>
          <p:nvPr/>
        </p:nvGrpSpPr>
        <p:grpSpPr>
          <a:xfrm rot="0">
            <a:off x="15064283" y="5157683"/>
            <a:ext cx="2194560" cy="356616"/>
            <a:chOff x="0" y="0"/>
            <a:chExt cx="2926080" cy="475488"/>
          </a:xfrm>
        </p:grpSpPr>
        <p:sp>
          <p:nvSpPr>
            <p:cNvPr name="Freeform 189" id="189"/>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90" id="190"/>
          <p:cNvGrpSpPr/>
          <p:nvPr/>
        </p:nvGrpSpPr>
        <p:grpSpPr>
          <a:xfrm rot="0">
            <a:off x="15064283" y="5150539"/>
            <a:ext cx="2194560" cy="363760"/>
            <a:chOff x="0" y="0"/>
            <a:chExt cx="2926080" cy="485013"/>
          </a:xfrm>
        </p:grpSpPr>
        <p:sp>
          <p:nvSpPr>
            <p:cNvPr name="Freeform 191" id="191"/>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92" id="192"/>
          <p:cNvGrpSpPr/>
          <p:nvPr/>
        </p:nvGrpSpPr>
        <p:grpSpPr>
          <a:xfrm rot="0">
            <a:off x="15064283" y="5143395"/>
            <a:ext cx="2194560" cy="370904"/>
            <a:chOff x="0" y="0"/>
            <a:chExt cx="2926080" cy="494538"/>
          </a:xfrm>
        </p:grpSpPr>
        <p:sp>
          <p:nvSpPr>
            <p:cNvPr name="Freeform 193" id="193"/>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94" id="194"/>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195" id="195"/>
          <p:cNvGrpSpPr/>
          <p:nvPr/>
        </p:nvGrpSpPr>
        <p:grpSpPr>
          <a:xfrm rot="0">
            <a:off x="12580315" y="5651459"/>
            <a:ext cx="2125980" cy="384048"/>
            <a:chOff x="0" y="0"/>
            <a:chExt cx="2834640" cy="512064"/>
          </a:xfrm>
        </p:grpSpPr>
        <p:sp>
          <p:nvSpPr>
            <p:cNvPr name="Freeform 196" id="196"/>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97" id="197"/>
          <p:cNvGrpSpPr/>
          <p:nvPr/>
        </p:nvGrpSpPr>
        <p:grpSpPr>
          <a:xfrm rot="0">
            <a:off x="12580315" y="5644315"/>
            <a:ext cx="2125980" cy="391192"/>
            <a:chOff x="0" y="0"/>
            <a:chExt cx="2834640" cy="521589"/>
          </a:xfrm>
        </p:grpSpPr>
        <p:sp>
          <p:nvSpPr>
            <p:cNvPr name="Freeform 198" id="198"/>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99" id="199"/>
          <p:cNvGrpSpPr/>
          <p:nvPr/>
        </p:nvGrpSpPr>
        <p:grpSpPr>
          <a:xfrm rot="0">
            <a:off x="12580315" y="5637171"/>
            <a:ext cx="2125980" cy="398336"/>
            <a:chOff x="0" y="0"/>
            <a:chExt cx="2834640" cy="531114"/>
          </a:xfrm>
        </p:grpSpPr>
        <p:sp>
          <p:nvSpPr>
            <p:cNvPr name="Freeform 200" id="200"/>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01" id="201"/>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202" id="202"/>
          <p:cNvGrpSpPr/>
          <p:nvPr/>
        </p:nvGrpSpPr>
        <p:grpSpPr>
          <a:xfrm rot="0">
            <a:off x="15064283" y="5665175"/>
            <a:ext cx="2194560" cy="356616"/>
            <a:chOff x="0" y="0"/>
            <a:chExt cx="2926080" cy="475488"/>
          </a:xfrm>
        </p:grpSpPr>
        <p:sp>
          <p:nvSpPr>
            <p:cNvPr name="Freeform 203" id="203"/>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04" id="204"/>
          <p:cNvGrpSpPr/>
          <p:nvPr/>
        </p:nvGrpSpPr>
        <p:grpSpPr>
          <a:xfrm rot="0">
            <a:off x="15064283" y="5665175"/>
            <a:ext cx="2194560" cy="356616"/>
            <a:chOff x="0" y="0"/>
            <a:chExt cx="2926080" cy="475488"/>
          </a:xfrm>
        </p:grpSpPr>
        <p:sp>
          <p:nvSpPr>
            <p:cNvPr name="Freeform 205" id="205"/>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06" id="206"/>
          <p:cNvGrpSpPr/>
          <p:nvPr/>
        </p:nvGrpSpPr>
        <p:grpSpPr>
          <a:xfrm rot="0">
            <a:off x="15064283" y="5658031"/>
            <a:ext cx="2194560" cy="363760"/>
            <a:chOff x="0" y="0"/>
            <a:chExt cx="2926080" cy="485013"/>
          </a:xfrm>
        </p:grpSpPr>
        <p:sp>
          <p:nvSpPr>
            <p:cNvPr name="Freeform 207" id="207"/>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08" id="208"/>
          <p:cNvGrpSpPr/>
          <p:nvPr/>
        </p:nvGrpSpPr>
        <p:grpSpPr>
          <a:xfrm rot="0">
            <a:off x="15064283" y="5650887"/>
            <a:ext cx="2194560" cy="370904"/>
            <a:chOff x="0" y="0"/>
            <a:chExt cx="2926080" cy="494538"/>
          </a:xfrm>
        </p:grpSpPr>
        <p:sp>
          <p:nvSpPr>
            <p:cNvPr name="Freeform 209" id="209"/>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10" id="210"/>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11" id="211"/>
          <p:cNvGrpSpPr/>
          <p:nvPr/>
        </p:nvGrpSpPr>
        <p:grpSpPr>
          <a:xfrm rot="0">
            <a:off x="12580315" y="6158951"/>
            <a:ext cx="2125980" cy="384048"/>
            <a:chOff x="0" y="0"/>
            <a:chExt cx="2834640" cy="512064"/>
          </a:xfrm>
        </p:grpSpPr>
        <p:sp>
          <p:nvSpPr>
            <p:cNvPr name="Freeform 212" id="212"/>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213" id="213"/>
          <p:cNvGrpSpPr/>
          <p:nvPr/>
        </p:nvGrpSpPr>
        <p:grpSpPr>
          <a:xfrm rot="0">
            <a:off x="12580315" y="6151807"/>
            <a:ext cx="2125980" cy="391192"/>
            <a:chOff x="0" y="0"/>
            <a:chExt cx="2834640" cy="521589"/>
          </a:xfrm>
        </p:grpSpPr>
        <p:sp>
          <p:nvSpPr>
            <p:cNvPr name="Freeform 214" id="214"/>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215" id="215"/>
          <p:cNvGrpSpPr/>
          <p:nvPr/>
        </p:nvGrpSpPr>
        <p:grpSpPr>
          <a:xfrm rot="0">
            <a:off x="12580315" y="6144663"/>
            <a:ext cx="2125980" cy="398336"/>
            <a:chOff x="0" y="0"/>
            <a:chExt cx="2834640" cy="531114"/>
          </a:xfrm>
        </p:grpSpPr>
        <p:sp>
          <p:nvSpPr>
            <p:cNvPr name="Freeform 216" id="216"/>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17" id="217"/>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218" id="218"/>
          <p:cNvGrpSpPr/>
          <p:nvPr/>
        </p:nvGrpSpPr>
        <p:grpSpPr>
          <a:xfrm rot="0">
            <a:off x="15064283" y="6172667"/>
            <a:ext cx="2194560" cy="356616"/>
            <a:chOff x="0" y="0"/>
            <a:chExt cx="2926080" cy="475488"/>
          </a:xfrm>
        </p:grpSpPr>
        <p:sp>
          <p:nvSpPr>
            <p:cNvPr name="Freeform 219" id="219"/>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20" id="220"/>
          <p:cNvGrpSpPr/>
          <p:nvPr/>
        </p:nvGrpSpPr>
        <p:grpSpPr>
          <a:xfrm rot="0">
            <a:off x="15064283" y="6172667"/>
            <a:ext cx="2194560" cy="356616"/>
            <a:chOff x="0" y="0"/>
            <a:chExt cx="2926080" cy="475488"/>
          </a:xfrm>
        </p:grpSpPr>
        <p:sp>
          <p:nvSpPr>
            <p:cNvPr name="Freeform 221" id="221"/>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22" id="222"/>
          <p:cNvGrpSpPr/>
          <p:nvPr/>
        </p:nvGrpSpPr>
        <p:grpSpPr>
          <a:xfrm rot="0">
            <a:off x="15064283" y="6165523"/>
            <a:ext cx="2194560" cy="363760"/>
            <a:chOff x="0" y="0"/>
            <a:chExt cx="2926080" cy="485013"/>
          </a:xfrm>
        </p:grpSpPr>
        <p:sp>
          <p:nvSpPr>
            <p:cNvPr name="Freeform 223" id="223"/>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24" id="224"/>
          <p:cNvGrpSpPr/>
          <p:nvPr/>
        </p:nvGrpSpPr>
        <p:grpSpPr>
          <a:xfrm rot="0">
            <a:off x="15064283" y="6158379"/>
            <a:ext cx="2194560" cy="370904"/>
            <a:chOff x="0" y="0"/>
            <a:chExt cx="2926080" cy="494538"/>
          </a:xfrm>
        </p:grpSpPr>
        <p:sp>
          <p:nvSpPr>
            <p:cNvPr name="Freeform 225" id="225"/>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26" id="226"/>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27" id="227"/>
          <p:cNvGrpSpPr/>
          <p:nvPr/>
        </p:nvGrpSpPr>
        <p:grpSpPr>
          <a:xfrm rot="0">
            <a:off x="685800" y="6954479"/>
            <a:ext cx="16915924" cy="2047780"/>
            <a:chOff x="0" y="0"/>
            <a:chExt cx="22554565" cy="2730373"/>
          </a:xfrm>
        </p:grpSpPr>
        <p:sp>
          <p:nvSpPr>
            <p:cNvPr name="Freeform 228" id="228"/>
            <p:cNvSpPr/>
            <p:nvPr/>
          </p:nvSpPr>
          <p:spPr>
            <a:xfrm flipH="false" flipV="false" rot="0">
              <a:off x="0" y="0"/>
              <a:ext cx="22554564" cy="2730373"/>
            </a:xfrm>
            <a:custGeom>
              <a:avLst/>
              <a:gdLst/>
              <a:ahLst/>
              <a:cxnLst/>
              <a:rect r="r" b="b" t="t" l="l"/>
              <a:pathLst>
                <a:path h="2730373" w="22554564">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sp>
      </p:grpSp>
      <p:grpSp>
        <p:nvGrpSpPr>
          <p:cNvPr name="Group 229" id="229"/>
          <p:cNvGrpSpPr/>
          <p:nvPr/>
        </p:nvGrpSpPr>
        <p:grpSpPr>
          <a:xfrm rot="0">
            <a:off x="1097280" y="7201367"/>
            <a:ext cx="8229600" cy="411480"/>
            <a:chOff x="0" y="0"/>
            <a:chExt cx="10972800" cy="548640"/>
          </a:xfrm>
        </p:grpSpPr>
        <p:sp>
          <p:nvSpPr>
            <p:cNvPr name="Freeform 230" id="230"/>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231" id="231"/>
          <p:cNvGrpSpPr/>
          <p:nvPr/>
        </p:nvGrpSpPr>
        <p:grpSpPr>
          <a:xfrm rot="0">
            <a:off x="1097280" y="7194223"/>
            <a:ext cx="8229600" cy="418624"/>
            <a:chOff x="0" y="0"/>
            <a:chExt cx="10972800" cy="558165"/>
          </a:xfrm>
        </p:grpSpPr>
        <p:sp>
          <p:nvSpPr>
            <p:cNvPr name="Freeform 232" id="232"/>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2784" r="0" b="-332782"/>
              </a:stretch>
            </a:blipFill>
          </p:spPr>
        </p:sp>
      </p:grpSp>
      <p:grpSp>
        <p:nvGrpSpPr>
          <p:cNvPr name="Group 233" id="233"/>
          <p:cNvGrpSpPr/>
          <p:nvPr/>
        </p:nvGrpSpPr>
        <p:grpSpPr>
          <a:xfrm rot="0">
            <a:off x="1097280" y="7187079"/>
            <a:ext cx="8229600" cy="425768"/>
            <a:chOff x="0" y="0"/>
            <a:chExt cx="10972800" cy="567690"/>
          </a:xfrm>
        </p:grpSpPr>
        <p:sp>
          <p:nvSpPr>
            <p:cNvPr name="Freeform 234" id="234"/>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4">
                <a:alphaModFix amt="0"/>
              </a:blip>
              <a:stretch>
                <a:fillRect l="0" t="-326623" r="0" b="-326623"/>
              </a:stretch>
            </a:blipFill>
          </p:spPr>
        </p:sp>
        <p:sp>
          <p:nvSpPr>
            <p:cNvPr name="TextBox 235" id="235"/>
            <p:cNvSpPr txBox="true"/>
            <p:nvPr/>
          </p:nvSpPr>
          <p:spPr>
            <a:xfrm>
              <a:off x="0" y="-9525"/>
              <a:ext cx="10972800" cy="577215"/>
            </a:xfrm>
            <a:prstGeom prst="rect">
              <a:avLst/>
            </a:prstGeom>
          </p:spPr>
          <p:txBody>
            <a:bodyPr anchor="ctr" rtlCol="false" tIns="0" lIns="0" bIns="0" rIns="0"/>
            <a:lstStyle/>
            <a:p>
              <a:pPr algn="l">
                <a:lnSpc>
                  <a:spcPts val="2250"/>
                </a:lnSpc>
              </a:pPr>
              <a:r>
                <a:rPr lang="en-US" b="true" sz="1875" spc="179">
                  <a:solidFill>
                    <a:srgbClr val="CADCFC"/>
                  </a:solidFill>
                  <a:latin typeface="Exo 2 Bold"/>
                  <a:ea typeface="Exo 2 Bold"/>
                  <a:cs typeface="Exo 2 Bold"/>
                  <a:sym typeface="Exo 2 Bold"/>
                </a:rPr>
                <a:t>HELPDESK SOLUTION</a:t>
              </a:r>
            </a:p>
          </p:txBody>
        </p:sp>
      </p:grpSp>
      <p:grpSp>
        <p:nvGrpSpPr>
          <p:cNvPr name="Group 236" id="236"/>
          <p:cNvGrpSpPr/>
          <p:nvPr/>
        </p:nvGrpSpPr>
        <p:grpSpPr>
          <a:xfrm rot="0">
            <a:off x="1097280" y="7804871"/>
            <a:ext cx="576072" cy="576072"/>
            <a:chOff x="0" y="0"/>
            <a:chExt cx="768096" cy="768096"/>
          </a:xfrm>
        </p:grpSpPr>
        <p:sp>
          <p:nvSpPr>
            <p:cNvPr name="Freeform 237" id="237" descr="icons/dollar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5"/>
              <a:stretch>
                <a:fillRect l="0" t="0" r="0" b="0"/>
              </a:stretch>
            </a:blipFill>
          </p:spPr>
        </p:sp>
      </p:grpSp>
      <p:sp>
        <p:nvSpPr>
          <p:cNvPr name="TextBox 238" id="238"/>
          <p:cNvSpPr txBox="true"/>
          <p:nvPr/>
        </p:nvSpPr>
        <p:spPr>
          <a:xfrm rot="0">
            <a:off x="1792615" y="7758484"/>
            <a:ext cx="7066588" cy="849820"/>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name="AutoShape 239" id="239"/>
          <p:cNvSpPr/>
          <p:nvPr/>
        </p:nvSpPr>
        <p:spPr>
          <a:xfrm rot="24420">
            <a:off x="8724729" y="7907179"/>
            <a:ext cx="1341463" cy="0"/>
          </a:xfrm>
          <a:prstGeom prst="line">
            <a:avLst/>
          </a:prstGeom>
          <a:ln cap="rnd" w="9525">
            <a:solidFill>
              <a:srgbClr val="3A4482"/>
            </a:solidFill>
            <a:prstDash val="solid"/>
            <a:headEnd type="none" len="sm" w="sm"/>
            <a:tailEnd type="none" len="sm" w="sm"/>
          </a:ln>
        </p:spPr>
      </p:sp>
      <p:grpSp>
        <p:nvGrpSpPr>
          <p:cNvPr name="Group 240" id="240"/>
          <p:cNvGrpSpPr/>
          <p:nvPr/>
        </p:nvGrpSpPr>
        <p:grpSpPr>
          <a:xfrm rot="0">
            <a:off x="9806940" y="7804871"/>
            <a:ext cx="576072" cy="576072"/>
            <a:chOff x="0" y="0"/>
            <a:chExt cx="768096" cy="768096"/>
          </a:xfrm>
        </p:grpSpPr>
        <p:sp>
          <p:nvSpPr>
            <p:cNvPr name="Freeform 241" id="241" descr="icons/code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6"/>
              <a:stretch>
                <a:fillRect l="0" t="0" r="0" b="0"/>
              </a:stretch>
            </a:blipFill>
          </p:spPr>
        </p:sp>
      </p:grpSp>
      <p:grpSp>
        <p:nvGrpSpPr>
          <p:cNvPr name="Group 242" id="242"/>
          <p:cNvGrpSpPr/>
          <p:nvPr/>
        </p:nvGrpSpPr>
        <p:grpSpPr>
          <a:xfrm rot="0">
            <a:off x="755847" y="557136"/>
            <a:ext cx="13164598" cy="928783"/>
            <a:chOff x="0" y="0"/>
            <a:chExt cx="17552797" cy="1238377"/>
          </a:xfrm>
        </p:grpSpPr>
        <p:sp>
          <p:nvSpPr>
            <p:cNvPr name="Freeform 243" id="243"/>
            <p:cNvSpPr/>
            <p:nvPr/>
          </p:nvSpPr>
          <p:spPr>
            <a:xfrm flipH="false" flipV="false" rot="0">
              <a:off x="0" y="0"/>
              <a:ext cx="17552797" cy="1238377"/>
            </a:xfrm>
            <a:custGeom>
              <a:avLst/>
              <a:gdLst/>
              <a:ahLst/>
              <a:cxnLst/>
              <a:rect r="r" b="b" t="t" l="l"/>
              <a:pathLst>
                <a:path h="1238377" w="17552797">
                  <a:moveTo>
                    <a:pt x="0" y="0"/>
                  </a:moveTo>
                  <a:lnTo>
                    <a:pt x="17552797" y="0"/>
                  </a:lnTo>
                  <a:lnTo>
                    <a:pt x="17552797" y="1238377"/>
                  </a:lnTo>
                  <a:lnTo>
                    <a:pt x="0" y="1238377"/>
                  </a:lnTo>
                  <a:close/>
                </a:path>
              </a:pathLst>
            </a:custGeom>
            <a:blipFill>
              <a:blip r:embed="rId7">
                <a:alphaModFix amt="0"/>
              </a:blip>
              <a:stretch>
                <a:fillRect l="0" t="-225989" r="0" b="-225990"/>
              </a:stretch>
            </a:blipFill>
          </p:spPr>
        </p:sp>
      </p:grpSp>
      <p:grpSp>
        <p:nvGrpSpPr>
          <p:cNvPr name="Group 244" id="244"/>
          <p:cNvGrpSpPr/>
          <p:nvPr/>
        </p:nvGrpSpPr>
        <p:grpSpPr>
          <a:xfrm rot="0">
            <a:off x="755847" y="549993"/>
            <a:ext cx="13164598" cy="935927"/>
            <a:chOff x="0" y="0"/>
            <a:chExt cx="17552797" cy="1247902"/>
          </a:xfrm>
        </p:grpSpPr>
        <p:sp>
          <p:nvSpPr>
            <p:cNvPr name="Freeform 245" id="245"/>
            <p:cNvSpPr/>
            <p:nvPr/>
          </p:nvSpPr>
          <p:spPr>
            <a:xfrm flipH="false" flipV="false" rot="0">
              <a:off x="0" y="0"/>
              <a:ext cx="17552797" cy="1247902"/>
            </a:xfrm>
            <a:custGeom>
              <a:avLst/>
              <a:gdLst/>
              <a:ahLst/>
              <a:cxnLst/>
              <a:rect r="r" b="b" t="t" l="l"/>
              <a:pathLst>
                <a:path h="1247902" w="17552797">
                  <a:moveTo>
                    <a:pt x="0" y="0"/>
                  </a:moveTo>
                  <a:lnTo>
                    <a:pt x="17552797" y="0"/>
                  </a:lnTo>
                  <a:lnTo>
                    <a:pt x="17552797" y="1247902"/>
                  </a:lnTo>
                  <a:lnTo>
                    <a:pt x="0" y="1247902"/>
                  </a:lnTo>
                  <a:close/>
                </a:path>
              </a:pathLst>
            </a:custGeom>
            <a:blipFill>
              <a:blip r:embed="rId2">
                <a:alphaModFix amt="0"/>
              </a:blip>
              <a:stretch>
                <a:fillRect l="0" t="-223882" r="0" b="-223883"/>
              </a:stretch>
            </a:blipFill>
          </p:spPr>
        </p:sp>
      </p:grpSp>
      <p:grpSp>
        <p:nvGrpSpPr>
          <p:cNvPr name="Group 246" id="246"/>
          <p:cNvGrpSpPr/>
          <p:nvPr/>
        </p:nvGrpSpPr>
        <p:grpSpPr>
          <a:xfrm rot="0">
            <a:off x="755847" y="542849"/>
            <a:ext cx="13164598" cy="943118"/>
            <a:chOff x="0" y="0"/>
            <a:chExt cx="17552797" cy="1257490"/>
          </a:xfrm>
        </p:grpSpPr>
        <p:sp>
          <p:nvSpPr>
            <p:cNvPr name="Freeform 247" id="247"/>
            <p:cNvSpPr/>
            <p:nvPr/>
          </p:nvSpPr>
          <p:spPr>
            <a:xfrm flipH="false" flipV="false" rot="0">
              <a:off x="0" y="0"/>
              <a:ext cx="17552797" cy="1257427"/>
            </a:xfrm>
            <a:custGeom>
              <a:avLst/>
              <a:gdLst/>
              <a:ahLst/>
              <a:cxnLst/>
              <a:rect r="r" b="b" t="t" l="l"/>
              <a:pathLst>
                <a:path h="1257427" w="17552797">
                  <a:moveTo>
                    <a:pt x="0" y="0"/>
                  </a:moveTo>
                  <a:lnTo>
                    <a:pt x="17552797" y="0"/>
                  </a:lnTo>
                  <a:lnTo>
                    <a:pt x="17552797" y="1257427"/>
                  </a:lnTo>
                  <a:lnTo>
                    <a:pt x="0" y="1257427"/>
                  </a:lnTo>
                  <a:close/>
                </a:path>
              </a:pathLst>
            </a:custGeom>
            <a:blipFill>
              <a:blip r:embed="rId3">
                <a:alphaModFix amt="0"/>
              </a:blip>
              <a:stretch>
                <a:fillRect l="0" t="-221805" r="0" b="-221810"/>
              </a:stretch>
            </a:blipFill>
          </p:spPr>
        </p:sp>
      </p:grpSp>
      <p:grpSp>
        <p:nvGrpSpPr>
          <p:cNvPr name="Group 248" id="248"/>
          <p:cNvGrpSpPr/>
          <p:nvPr/>
        </p:nvGrpSpPr>
        <p:grpSpPr>
          <a:xfrm rot="0">
            <a:off x="755847" y="535705"/>
            <a:ext cx="13164598" cy="950262"/>
            <a:chOff x="0" y="0"/>
            <a:chExt cx="17552797" cy="1267016"/>
          </a:xfrm>
        </p:grpSpPr>
        <p:sp>
          <p:nvSpPr>
            <p:cNvPr name="Freeform 249" id="249"/>
            <p:cNvSpPr/>
            <p:nvPr/>
          </p:nvSpPr>
          <p:spPr>
            <a:xfrm flipH="false" flipV="false" rot="0">
              <a:off x="0" y="0"/>
              <a:ext cx="17552797" cy="1267016"/>
            </a:xfrm>
            <a:custGeom>
              <a:avLst/>
              <a:gdLst/>
              <a:ahLst/>
              <a:cxnLst/>
              <a:rect r="r" b="b" t="t" l="l"/>
              <a:pathLst>
                <a:path h="1267016" w="17552797">
                  <a:moveTo>
                    <a:pt x="0" y="0"/>
                  </a:moveTo>
                  <a:lnTo>
                    <a:pt x="17552797" y="0"/>
                  </a:lnTo>
                  <a:lnTo>
                    <a:pt x="17552797" y="1267016"/>
                  </a:lnTo>
                  <a:lnTo>
                    <a:pt x="0" y="1267016"/>
                  </a:lnTo>
                  <a:close/>
                </a:path>
              </a:pathLst>
            </a:custGeom>
            <a:blipFill>
              <a:blip r:embed="rId4">
                <a:alphaModFix amt="0"/>
              </a:blip>
              <a:stretch>
                <a:fillRect l="0" t="-219938" r="0" b="-219938"/>
              </a:stretch>
            </a:blipFill>
          </p:spPr>
        </p:sp>
        <p:sp>
          <p:nvSpPr>
            <p:cNvPr name="TextBox 250" id="250"/>
            <p:cNvSpPr txBox="true"/>
            <p:nvPr/>
          </p:nvSpPr>
          <p:spPr>
            <a:xfrm>
              <a:off x="0" y="-9525"/>
              <a:ext cx="17552797" cy="1276541"/>
            </a:xfrm>
            <a:prstGeom prst="rect">
              <a:avLst/>
            </a:prstGeom>
          </p:spPr>
          <p:txBody>
            <a:bodyPr anchor="ctr" rtlCol="false" tIns="0" lIns="0" bIns="0" rIns="0"/>
            <a:lstStyle/>
            <a:p>
              <a:pPr algn="l">
                <a:lnSpc>
                  <a:spcPts val="5280"/>
                </a:lnSpc>
              </a:pPr>
              <a:r>
                <a:rPr lang="en-US" b="true" sz="4400">
                  <a:gradFill>
                    <a:gsLst>
                      <a:gs pos="0">
                        <a:srgbClr val="3C61B6">
                          <a:alpha val="100000"/>
                        </a:srgbClr>
                      </a:gs>
                      <a:gs pos="100000">
                        <a:srgbClr val="121C36">
                          <a:alpha val="100000"/>
                        </a:srgbClr>
                      </a:gs>
                    </a:gsLst>
                    <a:path path="circle">
                      <a:fillToRect l="200000" r="-100000" t="200000" b="-100000"/>
                    </a:path>
                    <a:tileRect r="-300000" l="0" b="-300000" t="0"/>
                  </a:gradFill>
                  <a:latin typeface="Exo 2 Bold"/>
                  <a:ea typeface="Exo 2 Bold"/>
                  <a:cs typeface="Exo 2 Bold"/>
                  <a:sym typeface="Exo 2 Bold"/>
                </a:rPr>
                <a:t>Systems Planning &amp; Deployment</a:t>
              </a:r>
            </a:p>
          </p:txBody>
        </p:sp>
      </p:grpSp>
      <p:grpSp>
        <p:nvGrpSpPr>
          <p:cNvPr name="Group 251" id="251"/>
          <p:cNvGrpSpPr/>
          <p:nvPr/>
        </p:nvGrpSpPr>
        <p:grpSpPr>
          <a:xfrm rot="0">
            <a:off x="470535" y="648843"/>
            <a:ext cx="115062" cy="732282"/>
            <a:chOff x="0" y="0"/>
            <a:chExt cx="153416" cy="976376"/>
          </a:xfrm>
        </p:grpSpPr>
        <p:sp>
          <p:nvSpPr>
            <p:cNvPr name="Freeform 252" id="252"/>
            <p:cNvSpPr/>
            <p:nvPr/>
          </p:nvSpPr>
          <p:spPr>
            <a:xfrm flipH="false" flipV="false" rot="0">
              <a:off x="0" y="0"/>
              <a:ext cx="153416" cy="976376"/>
            </a:xfrm>
            <a:custGeom>
              <a:avLst/>
              <a:gdLst/>
              <a:ahLst/>
              <a:cxnLst/>
              <a:rect r="r" b="b" t="t" l="l"/>
              <a:pathLst>
                <a:path h="976376" w="153416">
                  <a:moveTo>
                    <a:pt x="0" y="0"/>
                  </a:moveTo>
                  <a:lnTo>
                    <a:pt x="153416" y="0"/>
                  </a:lnTo>
                  <a:lnTo>
                    <a:pt x="153416" y="976376"/>
                  </a:lnTo>
                  <a:lnTo>
                    <a:pt x="0" y="976376"/>
                  </a:lnTo>
                  <a:lnTo>
                    <a:pt x="0" y="0"/>
                  </a:lnTo>
                  <a:close/>
                </a:path>
              </a:pathLst>
            </a:custGeom>
            <a:gradFill rotWithShape="true">
              <a:gsLst>
                <a:gs pos="0">
                  <a:srgbClr val="132257">
                    <a:alpha val="100000"/>
                  </a:srgbClr>
                </a:gs>
                <a:gs pos="100000">
                  <a:srgbClr val="2F6FE0">
                    <a:alpha val="100000"/>
                  </a:srgbClr>
                </a:gs>
              </a:gsLst>
              <a:lin ang="18900000"/>
            </a:gradFill>
          </p:spPr>
        </p:sp>
      </p:grpSp>
      <p:grpSp>
        <p:nvGrpSpPr>
          <p:cNvPr name="Group 253" id="253"/>
          <p:cNvGrpSpPr/>
          <p:nvPr/>
        </p:nvGrpSpPr>
        <p:grpSpPr>
          <a:xfrm rot="0">
            <a:off x="15441806" y="505082"/>
            <a:ext cx="1817465" cy="523589"/>
            <a:chOff x="0" y="0"/>
            <a:chExt cx="2423287" cy="698119"/>
          </a:xfrm>
        </p:grpSpPr>
        <p:sp>
          <p:nvSpPr>
            <p:cNvPr name="Freeform 254" id="25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8"/>
              <a:stretch>
                <a:fillRect l="0" t="-362" r="0" b="-363"/>
              </a:stretch>
            </a:blipFill>
          </p:spPr>
        </p:sp>
      </p:grpSp>
      <p:grpSp>
        <p:nvGrpSpPr>
          <p:cNvPr name="Group 255" id="255"/>
          <p:cNvGrpSpPr/>
          <p:nvPr/>
        </p:nvGrpSpPr>
        <p:grpSpPr>
          <a:xfrm rot="0">
            <a:off x="9292438" y="5678891"/>
            <a:ext cx="2194560" cy="356616"/>
            <a:chOff x="0" y="0"/>
            <a:chExt cx="2926080" cy="475488"/>
          </a:xfrm>
        </p:grpSpPr>
        <p:sp>
          <p:nvSpPr>
            <p:cNvPr name="Freeform 256" id="256"/>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57" id="257"/>
          <p:cNvGrpSpPr/>
          <p:nvPr/>
        </p:nvGrpSpPr>
        <p:grpSpPr>
          <a:xfrm rot="0">
            <a:off x="9292438" y="5678891"/>
            <a:ext cx="2194560" cy="356616"/>
            <a:chOff x="0" y="0"/>
            <a:chExt cx="2926080" cy="475488"/>
          </a:xfrm>
        </p:grpSpPr>
        <p:sp>
          <p:nvSpPr>
            <p:cNvPr name="Freeform 258" id="258"/>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59" id="259"/>
          <p:cNvGrpSpPr/>
          <p:nvPr/>
        </p:nvGrpSpPr>
        <p:grpSpPr>
          <a:xfrm rot="0">
            <a:off x="9292438" y="5671747"/>
            <a:ext cx="2194560" cy="363760"/>
            <a:chOff x="0" y="0"/>
            <a:chExt cx="2926080" cy="485013"/>
          </a:xfrm>
        </p:grpSpPr>
        <p:sp>
          <p:nvSpPr>
            <p:cNvPr name="Freeform 260" id="260"/>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61" id="261"/>
          <p:cNvGrpSpPr/>
          <p:nvPr/>
        </p:nvGrpSpPr>
        <p:grpSpPr>
          <a:xfrm rot="0">
            <a:off x="9292438" y="5664603"/>
            <a:ext cx="2194560" cy="370904"/>
            <a:chOff x="0" y="0"/>
            <a:chExt cx="2926080" cy="494538"/>
          </a:xfrm>
        </p:grpSpPr>
        <p:sp>
          <p:nvSpPr>
            <p:cNvPr name="Freeform 262" id="262"/>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63" id="263"/>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264" id="264"/>
          <p:cNvGrpSpPr/>
          <p:nvPr/>
        </p:nvGrpSpPr>
        <p:grpSpPr>
          <a:xfrm rot="0">
            <a:off x="2117656" y="9097504"/>
            <a:ext cx="14052689" cy="313448"/>
            <a:chOff x="0" y="0"/>
            <a:chExt cx="18736918" cy="417931"/>
          </a:xfrm>
        </p:grpSpPr>
        <p:grpSp>
          <p:nvGrpSpPr>
            <p:cNvPr name="Group 265" id="265"/>
            <p:cNvGrpSpPr/>
            <p:nvPr/>
          </p:nvGrpSpPr>
          <p:grpSpPr>
            <a:xfrm rot="0">
              <a:off x="0" y="0"/>
              <a:ext cx="18736918" cy="417931"/>
              <a:chOff x="0" y="0"/>
              <a:chExt cx="22117329" cy="493331"/>
            </a:xfrm>
          </p:grpSpPr>
          <p:sp>
            <p:nvSpPr>
              <p:cNvPr name="Freeform 266" id="266"/>
              <p:cNvSpPr/>
              <p:nvPr/>
            </p:nvSpPr>
            <p:spPr>
              <a:xfrm flipH="false" flipV="false" rot="0">
                <a:off x="0" y="0"/>
                <a:ext cx="22117304" cy="493332"/>
              </a:xfrm>
              <a:custGeom>
                <a:avLst/>
                <a:gdLst/>
                <a:ahLst/>
                <a:cxnLst/>
                <a:rect r="r" b="b" t="t" l="l"/>
                <a:pathLst>
                  <a:path h="493332" w="22117304">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sp>
        </p:grpSp>
        <p:sp>
          <p:nvSpPr>
            <p:cNvPr name="TextBox 267" id="267"/>
            <p:cNvSpPr txBox="true"/>
            <p:nvPr/>
          </p:nvSpPr>
          <p:spPr>
            <a:xfrm rot="0">
              <a:off x="3672151" y="69265"/>
              <a:ext cx="11392615" cy="279400"/>
            </a:xfrm>
            <a:prstGeom prst="rect">
              <a:avLst/>
            </a:prstGeom>
          </p:spPr>
          <p:txBody>
            <a:bodyPr anchor="t" rtlCol="false" tIns="0" lIns="0" bIns="0" rIns="0">
              <a:spAutoFit/>
            </a:bodyPr>
            <a:lstStyle/>
            <a:p>
              <a:pPr algn="ctr">
                <a:lnSpc>
                  <a:spcPts val="1699"/>
                </a:lnSpc>
              </a:pPr>
              <a:r>
                <a:rPr lang="en-US" sz="1416" b="true">
                  <a:solidFill>
                    <a:srgbClr val="132257"/>
                  </a:solidFill>
                  <a:latin typeface="Exo 2 Bold"/>
                  <a:ea typeface="Exo 2 Bold"/>
                  <a:cs typeface="Exo 2 Bold"/>
                  <a:sym typeface="Exo 2 Bold"/>
                </a:rPr>
                <a:t>Helpdesk operations are currently managed manually via Excel by Client Experience</a:t>
              </a:r>
            </a:p>
          </p:txBody>
        </p:sp>
      </p:grpSp>
      <p:sp>
        <p:nvSpPr>
          <p:cNvPr name="Freeform 268" id="268"/>
          <p:cNvSpPr/>
          <p:nvPr/>
        </p:nvSpPr>
        <p:spPr>
          <a:xfrm flipH="false" flipV="false" rot="0">
            <a:off x="15576633" y="9506197"/>
            <a:ext cx="1547812" cy="550335"/>
          </a:xfrm>
          <a:custGeom>
            <a:avLst/>
            <a:gdLst/>
            <a:ahLst/>
            <a:cxnLst/>
            <a:rect r="r" b="b" t="t" l="l"/>
            <a:pathLst>
              <a:path h="550335" w="1547812">
                <a:moveTo>
                  <a:pt x="0" y="0"/>
                </a:moveTo>
                <a:lnTo>
                  <a:pt x="1547812" y="0"/>
                </a:lnTo>
                <a:lnTo>
                  <a:pt x="1547812" y="550335"/>
                </a:lnTo>
                <a:lnTo>
                  <a:pt x="0" y="550335"/>
                </a:lnTo>
                <a:lnTo>
                  <a:pt x="0" y="0"/>
                </a:lnTo>
                <a:close/>
              </a:path>
            </a:pathLst>
          </a:custGeom>
          <a:blipFill>
            <a:blip r:embed="rId9">
              <a:extLst>
                <a:ext uri="{96DAC541-7B7A-43D3-8B79-37D633B846F1}">
                  <asvg:svgBlip xmlns:asvg="http://schemas.microsoft.com/office/drawing/2016/SVG/main" r:embed="rId10"/>
                </a:ext>
              </a:extLst>
            </a:blip>
            <a:stretch>
              <a:fillRect l="-574" t="0" r="-574" b="0"/>
            </a:stretch>
          </a:blipFill>
        </p:spPr>
      </p:sp>
      <p:grpSp>
        <p:nvGrpSpPr>
          <p:cNvPr name="Group 269" id="269"/>
          <p:cNvGrpSpPr/>
          <p:nvPr/>
        </p:nvGrpSpPr>
        <p:grpSpPr>
          <a:xfrm rot="0">
            <a:off x="1028700" y="1408117"/>
            <a:ext cx="7455428" cy="688349"/>
            <a:chOff x="0" y="0"/>
            <a:chExt cx="1963570" cy="181294"/>
          </a:xfrm>
        </p:grpSpPr>
        <p:sp>
          <p:nvSpPr>
            <p:cNvPr name="Freeform 270" id="270"/>
            <p:cNvSpPr/>
            <p:nvPr/>
          </p:nvSpPr>
          <p:spPr>
            <a:xfrm flipH="false" flipV="false" rot="0">
              <a:off x="0" y="0"/>
              <a:ext cx="1963570" cy="181294"/>
            </a:xfrm>
            <a:custGeom>
              <a:avLst/>
              <a:gdLst/>
              <a:ahLst/>
              <a:cxnLst/>
              <a:rect r="r" b="b" t="t" l="l"/>
              <a:pathLst>
                <a:path h="181294" w="1963570">
                  <a:moveTo>
                    <a:pt x="90647" y="0"/>
                  </a:moveTo>
                  <a:lnTo>
                    <a:pt x="1872923" y="0"/>
                  </a:lnTo>
                  <a:cubicBezTo>
                    <a:pt x="1922986" y="0"/>
                    <a:pt x="1963570" y="40584"/>
                    <a:pt x="1963570" y="90647"/>
                  </a:cubicBezTo>
                  <a:lnTo>
                    <a:pt x="1963570" y="90647"/>
                  </a:lnTo>
                  <a:cubicBezTo>
                    <a:pt x="1963570" y="140710"/>
                    <a:pt x="1922986" y="181294"/>
                    <a:pt x="1872923" y="181294"/>
                  </a:cubicBezTo>
                  <a:lnTo>
                    <a:pt x="90647" y="181294"/>
                  </a:lnTo>
                  <a:cubicBezTo>
                    <a:pt x="40584" y="181294"/>
                    <a:pt x="0" y="140710"/>
                    <a:pt x="0" y="90647"/>
                  </a:cubicBezTo>
                  <a:lnTo>
                    <a:pt x="0" y="90647"/>
                  </a:lnTo>
                  <a:cubicBezTo>
                    <a:pt x="0" y="40584"/>
                    <a:pt x="40584" y="0"/>
                    <a:pt x="90647" y="0"/>
                  </a:cubicBezTo>
                  <a:close/>
                </a:path>
              </a:pathLst>
            </a:custGeom>
            <a:solidFill>
              <a:srgbClr val="1E2D4F"/>
            </a:solidFill>
          </p:spPr>
        </p:sp>
        <p:sp>
          <p:nvSpPr>
            <p:cNvPr name="TextBox 271" id="271"/>
            <p:cNvSpPr txBox="true"/>
            <p:nvPr/>
          </p:nvSpPr>
          <p:spPr>
            <a:xfrm>
              <a:off x="0" y="-9525"/>
              <a:ext cx="1963570" cy="190819"/>
            </a:xfrm>
            <a:prstGeom prst="rect">
              <a:avLst/>
            </a:prstGeom>
          </p:spPr>
          <p:txBody>
            <a:bodyPr anchor="ctr" rtlCol="false" tIns="50800" lIns="50800" bIns="50800" rIns="50800"/>
            <a:lstStyle/>
            <a:p>
              <a:pPr algn="ctr">
                <a:lnSpc>
                  <a:spcPts val="2802"/>
                </a:lnSpc>
              </a:pPr>
            </a:p>
          </p:txBody>
        </p:sp>
      </p:grpSp>
      <p:sp>
        <p:nvSpPr>
          <p:cNvPr name="TextBox 272" id="272"/>
          <p:cNvSpPr txBox="true"/>
          <p:nvPr/>
        </p:nvSpPr>
        <p:spPr>
          <a:xfrm rot="0">
            <a:off x="1028700" y="3960962"/>
            <a:ext cx="4678528" cy="52616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name="TextBox 273" id="273"/>
          <p:cNvSpPr txBox="true"/>
          <p:nvPr/>
        </p:nvSpPr>
        <p:spPr>
          <a:xfrm rot="0">
            <a:off x="6804508"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name="TextBox 274" id="274"/>
          <p:cNvSpPr txBox="true"/>
          <p:nvPr/>
        </p:nvSpPr>
        <p:spPr>
          <a:xfrm rot="0">
            <a:off x="12580315"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name="TextBox 275" id="275"/>
          <p:cNvSpPr txBox="true"/>
          <p:nvPr/>
        </p:nvSpPr>
        <p:spPr>
          <a:xfrm rot="0">
            <a:off x="10594315" y="7758484"/>
            <a:ext cx="6652260" cy="583121"/>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grpSp>
        <p:nvGrpSpPr>
          <p:cNvPr name="Group 276" id="276"/>
          <p:cNvGrpSpPr/>
          <p:nvPr/>
        </p:nvGrpSpPr>
        <p:grpSpPr>
          <a:xfrm rot="0">
            <a:off x="1201674" y="1505403"/>
            <a:ext cx="7067410" cy="493776"/>
            <a:chOff x="0" y="0"/>
            <a:chExt cx="9423214" cy="658368"/>
          </a:xfrm>
        </p:grpSpPr>
        <p:sp>
          <p:nvSpPr>
            <p:cNvPr name="Freeform 277" id="277"/>
            <p:cNvSpPr/>
            <p:nvPr/>
          </p:nvSpPr>
          <p:spPr>
            <a:xfrm flipH="false" flipV="false" rot="0">
              <a:off x="0" y="0"/>
              <a:ext cx="9423214" cy="658368"/>
            </a:xfrm>
            <a:custGeom>
              <a:avLst/>
              <a:gdLst/>
              <a:ahLst/>
              <a:cxnLst/>
              <a:rect r="r" b="b" t="t" l="l"/>
              <a:pathLst>
                <a:path h="658368" w="9423214">
                  <a:moveTo>
                    <a:pt x="0" y="0"/>
                  </a:moveTo>
                  <a:lnTo>
                    <a:pt x="9423214" y="0"/>
                  </a:lnTo>
                  <a:lnTo>
                    <a:pt x="9423214" y="658368"/>
                  </a:lnTo>
                  <a:lnTo>
                    <a:pt x="0" y="658368"/>
                  </a:lnTo>
                  <a:close/>
                </a:path>
              </a:pathLst>
            </a:custGeom>
            <a:blipFill>
              <a:blip r:embed="rId4">
                <a:alphaModFix amt="0"/>
              </a:blip>
              <a:stretch>
                <a:fillRect l="0" t="-98844" r="46629" b="-98844"/>
              </a:stretch>
            </a:blipFill>
          </p:spPr>
        </p:sp>
        <p:sp>
          <p:nvSpPr>
            <p:cNvPr name="TextBox 278" id="278"/>
            <p:cNvSpPr txBox="true"/>
            <p:nvPr/>
          </p:nvSpPr>
          <p:spPr>
            <a:xfrm>
              <a:off x="0" y="0"/>
              <a:ext cx="9423214" cy="658368"/>
            </a:xfrm>
            <a:prstGeom prst="rect">
              <a:avLst/>
            </a:prstGeom>
          </p:spPr>
          <p:txBody>
            <a:bodyPr anchor="ctr" rtlCol="false" tIns="0" lIns="0" bIns="0" rIns="0"/>
            <a:lstStyle/>
            <a:p>
              <a:pPr algn="ctr">
                <a:lnSpc>
                  <a:spcPts val="1980"/>
                </a:lnSpc>
              </a:pPr>
              <a:r>
                <a:rPr lang="en-US" b="true" sz="1650" spc="150">
                  <a:solidFill>
                    <a:srgbClr val="FFFFFF"/>
                  </a:solidFill>
                  <a:latin typeface="Exo 2 Bold"/>
                  <a:ea typeface="Exo 2 Bold"/>
                  <a:cs typeface="Exo 2 Bold"/>
                  <a:sym typeface="Exo 2 Bold"/>
                </a:rPr>
                <a:t>INTERNAL WEALTHTECH TECHNOLOGY OPERATIONS</a:t>
              </a:r>
            </a:p>
          </p:txBody>
        </p:sp>
      </p:grpSp>
      <p:grpSp>
        <p:nvGrpSpPr>
          <p:cNvPr name="Group 279" id="279"/>
          <p:cNvGrpSpPr/>
          <p:nvPr/>
        </p:nvGrpSpPr>
        <p:grpSpPr>
          <a:xfrm rot="0">
            <a:off x="3514573" y="5658031"/>
            <a:ext cx="2194560" cy="356616"/>
            <a:chOff x="0" y="0"/>
            <a:chExt cx="2926080" cy="475488"/>
          </a:xfrm>
        </p:grpSpPr>
        <p:sp>
          <p:nvSpPr>
            <p:cNvPr name="Freeform 280" id="280"/>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81" id="281"/>
          <p:cNvGrpSpPr/>
          <p:nvPr/>
        </p:nvGrpSpPr>
        <p:grpSpPr>
          <a:xfrm rot="0">
            <a:off x="3514573" y="5644315"/>
            <a:ext cx="1697507" cy="363760"/>
            <a:chOff x="0" y="0"/>
            <a:chExt cx="2263343" cy="485013"/>
          </a:xfrm>
        </p:grpSpPr>
        <p:sp>
          <p:nvSpPr>
            <p:cNvPr name="Freeform 282" id="282"/>
            <p:cNvSpPr/>
            <p:nvPr/>
          </p:nvSpPr>
          <p:spPr>
            <a:xfrm flipH="false" flipV="false" rot="0">
              <a:off x="0" y="0"/>
              <a:ext cx="2263343" cy="485013"/>
            </a:xfrm>
            <a:custGeom>
              <a:avLst/>
              <a:gdLst/>
              <a:ahLst/>
              <a:cxnLst/>
              <a:rect r="r" b="b" t="t" l="l"/>
              <a:pathLst>
                <a:path h="485013" w="2263343">
                  <a:moveTo>
                    <a:pt x="0" y="0"/>
                  </a:moveTo>
                  <a:lnTo>
                    <a:pt x="2263343" y="0"/>
                  </a:lnTo>
                  <a:lnTo>
                    <a:pt x="2263343" y="485013"/>
                  </a:lnTo>
                  <a:lnTo>
                    <a:pt x="0" y="485013"/>
                  </a:lnTo>
                  <a:close/>
                </a:path>
              </a:pathLst>
            </a:custGeom>
            <a:blipFill>
              <a:blip r:embed="rId3">
                <a:alphaModFix amt="0"/>
              </a:blip>
              <a:stretch>
                <a:fillRect l="0" t="-40864" r="0" b="-40866"/>
              </a:stretch>
            </a:blipFill>
          </p:spPr>
        </p:sp>
      </p:grpSp>
      <p:grpSp>
        <p:nvGrpSpPr>
          <p:cNvPr name="Group 283" id="283"/>
          <p:cNvGrpSpPr/>
          <p:nvPr/>
        </p:nvGrpSpPr>
        <p:grpSpPr>
          <a:xfrm rot="0">
            <a:off x="3512630" y="5637171"/>
            <a:ext cx="2194560" cy="370904"/>
            <a:chOff x="0" y="0"/>
            <a:chExt cx="2926080" cy="494538"/>
          </a:xfrm>
        </p:grpSpPr>
        <p:sp>
          <p:nvSpPr>
            <p:cNvPr name="Freeform 284" id="28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85" id="28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4"/>
            <a:stretch>
              <a:fillRect l="0" t="0" r="0" b="0"/>
            </a:stretch>
          </a:blipFill>
        </p:spPr>
      </p:sp>
      <p:grpSp>
        <p:nvGrpSpPr>
          <p:cNvPr name="Group 4" id="4"/>
          <p:cNvGrpSpPr/>
          <p:nvPr/>
        </p:nvGrpSpPr>
        <p:grpSpPr>
          <a:xfrm rot="0">
            <a:off x="804861" y="603559"/>
            <a:ext cx="13241570" cy="822851"/>
            <a:chOff x="0" y="0"/>
            <a:chExt cx="17655427" cy="1097134"/>
          </a:xfrm>
        </p:grpSpPr>
        <p:sp>
          <p:nvSpPr>
            <p:cNvPr name="Freeform 5" id="5"/>
            <p:cNvSpPr/>
            <p:nvPr/>
          </p:nvSpPr>
          <p:spPr>
            <a:xfrm flipH="false" flipV="false" rot="0">
              <a:off x="0" y="0"/>
              <a:ext cx="17655426" cy="1097134"/>
            </a:xfrm>
            <a:custGeom>
              <a:avLst/>
              <a:gdLst/>
              <a:ahLst/>
              <a:cxnLst/>
              <a:rect r="r" b="b" t="t" l="l"/>
              <a:pathLst>
                <a:path h="1097134" w="17655426">
                  <a:moveTo>
                    <a:pt x="0" y="0"/>
                  </a:moveTo>
                  <a:lnTo>
                    <a:pt x="17655426" y="0"/>
                  </a:lnTo>
                  <a:lnTo>
                    <a:pt x="17655426" y="1097134"/>
                  </a:lnTo>
                  <a:lnTo>
                    <a:pt x="0" y="1097134"/>
                  </a:lnTo>
                  <a:close/>
                </a:path>
              </a:pathLst>
            </a:custGeom>
            <a:blipFill>
              <a:blip r:embed="rId5">
                <a:alphaModFix amt="0"/>
              </a:blip>
              <a:stretch>
                <a:fillRect l="0" t="-248975" r="6775" b="-235653"/>
              </a:stretch>
            </a:blipFill>
          </p:spPr>
        </p:sp>
        <p:sp>
          <p:nvSpPr>
            <p:cNvPr name="TextBox 6" id="6"/>
            <p:cNvSpPr txBox="true"/>
            <p:nvPr/>
          </p:nvSpPr>
          <p:spPr>
            <a:xfrm>
              <a:off x="0" y="-9525"/>
              <a:ext cx="17655427" cy="1106659"/>
            </a:xfrm>
            <a:prstGeom prst="rect">
              <a:avLst/>
            </a:prstGeom>
          </p:spPr>
          <p:txBody>
            <a:bodyPr anchor="ctr" rtlCol="false" tIns="0" lIns="0" bIns="0" rIns="0"/>
            <a:lstStyle/>
            <a:p>
              <a:pPr algn="l" marL="0" indent="0" lvl="0">
                <a:lnSpc>
                  <a:spcPts val="4680"/>
                </a:lnSpc>
                <a:spcBef>
                  <a:spcPct val="0"/>
                </a:spcBef>
              </a:pPr>
              <a:r>
                <a:rPr lang="en-US" b="true" sz="3900">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IT Progress Update</a:t>
              </a:r>
            </a:p>
          </p:txBody>
        </p:sp>
      </p:grpSp>
      <p:grpSp>
        <p:nvGrpSpPr>
          <p:cNvPr name="Group 7" id="7"/>
          <p:cNvGrpSpPr/>
          <p:nvPr/>
        </p:nvGrpSpPr>
        <p:grpSpPr>
          <a:xfrm rot="0">
            <a:off x="470535" y="648843"/>
            <a:ext cx="115062" cy="732282"/>
            <a:chOff x="0" y="0"/>
            <a:chExt cx="153416" cy="976376"/>
          </a:xfrm>
        </p:grpSpPr>
        <p:sp>
          <p:nvSpPr>
            <p:cNvPr name="Freeform 8" id="8"/>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9" id="9"/>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grpSp>
        <p:nvGrpSpPr>
          <p:cNvPr name="Group 10" id="10"/>
          <p:cNvGrpSpPr/>
          <p:nvPr/>
        </p:nvGrpSpPr>
        <p:grpSpPr>
          <a:xfrm rot="0">
            <a:off x="630555" y="2087067"/>
            <a:ext cx="17026890" cy="4746077"/>
            <a:chOff x="0" y="0"/>
            <a:chExt cx="22702520" cy="6328103"/>
          </a:xfrm>
        </p:grpSpPr>
        <p:sp>
          <p:nvSpPr>
            <p:cNvPr name="Freeform 11" id="11"/>
            <p:cNvSpPr/>
            <p:nvPr/>
          </p:nvSpPr>
          <p:spPr>
            <a:xfrm flipH="false" flipV="false" rot="0">
              <a:off x="0" y="0"/>
              <a:ext cx="22702520" cy="6328103"/>
            </a:xfrm>
            <a:custGeom>
              <a:avLst/>
              <a:gdLst/>
              <a:ahLst/>
              <a:cxnLst/>
              <a:rect r="r" b="b" t="t" l="l"/>
              <a:pathLst>
                <a:path h="6328103" w="22702520">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sp>
      </p:grpSp>
      <p:grpSp>
        <p:nvGrpSpPr>
          <p:cNvPr name="Group 12" id="12"/>
          <p:cNvGrpSpPr/>
          <p:nvPr/>
        </p:nvGrpSpPr>
        <p:grpSpPr>
          <a:xfrm rot="0">
            <a:off x="955548" y="2312619"/>
            <a:ext cx="14813280" cy="548640"/>
            <a:chOff x="0" y="0"/>
            <a:chExt cx="19751040" cy="731520"/>
          </a:xfrm>
        </p:grpSpPr>
        <p:sp>
          <p:nvSpPr>
            <p:cNvPr name="Freeform 13" id="13"/>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5">
                <a:alphaModFix amt="0"/>
              </a:blip>
              <a:stretch>
                <a:fillRect l="0" t="-476096" r="0" b="-476096"/>
              </a:stretch>
            </a:blipFill>
          </p:spPr>
        </p:sp>
        <p:sp>
          <p:nvSpPr>
            <p:cNvPr name="TextBox 14" id="14"/>
            <p:cNvSpPr txBox="true"/>
            <p:nvPr/>
          </p:nvSpPr>
          <p:spPr>
            <a:xfrm>
              <a:off x="0" y="-9525"/>
              <a:ext cx="19751040" cy="741045"/>
            </a:xfrm>
            <a:prstGeom prst="rect">
              <a:avLst/>
            </a:prstGeom>
          </p:spPr>
          <p:txBody>
            <a:bodyPr anchor="ctr" rtlCol="false" tIns="0" lIns="0" bIns="0" rIns="0"/>
            <a:lstStyle/>
            <a:p>
              <a:pPr algn="l" marL="0" indent="0" lvl="0">
                <a:lnSpc>
                  <a:spcPts val="2700"/>
                </a:lnSpc>
                <a:spcBef>
                  <a:spcPct val="0"/>
                </a:spcBef>
              </a:pPr>
              <a:r>
                <a:rPr lang="en-US" b="true" sz="2250">
                  <a:solidFill>
                    <a:srgbClr val="1B1B3A"/>
                  </a:solidFill>
                  <a:latin typeface="Exo 2 Bold"/>
                  <a:ea typeface="Exo 2 Bold"/>
                  <a:cs typeface="Exo 2 Bold"/>
                  <a:sym typeface="Exo 2 Bold"/>
                </a:rPr>
                <a:t>Exa</a:t>
              </a:r>
              <a:r>
                <a:rPr lang="en-US" b="true" sz="2250" strike="noStrike" u="none">
                  <a:solidFill>
                    <a:srgbClr val="1B1B3A"/>
                  </a:solidFill>
                  <a:latin typeface="Exo 2 Bold"/>
                  <a:ea typeface="Exo 2 Bold"/>
                  <a:cs typeface="Exo 2 Bold"/>
                  <a:sym typeface="Exo 2 Bold"/>
                </a:rPr>
                <a:t>nte — </a:t>
              </a:r>
              <a:r>
                <a:rPr lang="en-US" b="true" sz="2250" strike="noStrike" u="none">
                  <a:solidFill>
                    <a:srgbClr val="1B1B3A"/>
                  </a:solidFill>
                  <a:latin typeface="Exo 2 Bold"/>
                  <a:ea typeface="Exo 2 Bold"/>
                  <a:cs typeface="Exo 2 Bold"/>
                  <a:sym typeface="Exo 2 Bold"/>
                </a:rPr>
                <a:t>St</a:t>
              </a:r>
              <a:r>
                <a:rPr lang="en-US" b="true" sz="2250" strike="noStrike" u="none">
                  <a:solidFill>
                    <a:srgbClr val="1B1B3A"/>
                  </a:solidFill>
                  <a:latin typeface="Exo 2 Bold"/>
                  <a:ea typeface="Exo 2 Bold"/>
                  <a:cs typeface="Exo 2 Bold"/>
                  <a:sym typeface="Exo 2 Bold"/>
                </a:rPr>
                <a:t>a</a:t>
              </a:r>
              <a:r>
                <a:rPr lang="en-US" b="true" sz="2250" strike="noStrike" u="none">
                  <a:solidFill>
                    <a:srgbClr val="1B1B3A"/>
                  </a:solidFill>
                  <a:latin typeface="Exo 2 Bold"/>
                  <a:ea typeface="Exo 2 Bold"/>
                  <a:cs typeface="Exo 2 Bold"/>
                  <a:sym typeface="Exo 2 Bold"/>
                </a:rPr>
                <a:t>tu</a:t>
              </a:r>
              <a:r>
                <a:rPr lang="en-US" b="true" sz="2250" strike="noStrike" u="none">
                  <a:solidFill>
                    <a:srgbClr val="1B1B3A"/>
                  </a:solidFill>
                  <a:latin typeface="Exo 2 Bold"/>
                  <a:ea typeface="Exo 2 Bold"/>
                  <a:cs typeface="Exo 2 Bold"/>
                  <a:sym typeface="Exo 2 Bold"/>
                </a:rPr>
                <a:t>s </a:t>
              </a:r>
              <a:r>
                <a:rPr lang="en-US" b="true" sz="2250" strike="noStrike" u="none">
                  <a:solidFill>
                    <a:srgbClr val="1B1B3A"/>
                  </a:solidFill>
                  <a:latin typeface="Exo 2 Bold"/>
                  <a:ea typeface="Exo 2 Bold"/>
                  <a:cs typeface="Exo 2 Bold"/>
                  <a:sym typeface="Exo 2 Bold"/>
                </a:rPr>
                <a:t>Up</a:t>
              </a:r>
              <a:r>
                <a:rPr lang="en-US" b="true" sz="2250" strike="noStrike" u="none">
                  <a:solidFill>
                    <a:srgbClr val="1B1B3A"/>
                  </a:solidFill>
                  <a:latin typeface="Exo 2 Bold"/>
                  <a:ea typeface="Exo 2 Bold"/>
                  <a:cs typeface="Exo 2 Bold"/>
                  <a:sym typeface="Exo 2 Bold"/>
                </a:rPr>
                <a:t>d</a:t>
              </a:r>
              <a:r>
                <a:rPr lang="en-US" b="true" sz="2250" strike="noStrike" u="none">
                  <a:solidFill>
                    <a:srgbClr val="1B1B3A"/>
                  </a:solidFill>
                  <a:latin typeface="Exo 2 Bold"/>
                  <a:ea typeface="Exo 2 Bold"/>
                  <a:cs typeface="Exo 2 Bold"/>
                  <a:sym typeface="Exo 2 Bold"/>
                </a:rPr>
                <a:t>at</a:t>
              </a:r>
              <a:r>
                <a:rPr lang="en-US" b="true" sz="2250" strike="noStrike" u="none">
                  <a:solidFill>
                    <a:srgbClr val="1B1B3A"/>
                  </a:solidFill>
                  <a:latin typeface="Exo 2 Bold"/>
                  <a:ea typeface="Exo 2 Bold"/>
                  <a:cs typeface="Exo 2 Bold"/>
                  <a:sym typeface="Exo 2 Bold"/>
                </a:rPr>
                <a:t>e</a:t>
              </a:r>
            </a:p>
          </p:txBody>
        </p:sp>
      </p:grpSp>
      <p:grpSp>
        <p:nvGrpSpPr>
          <p:cNvPr name="Group 15" id="15"/>
          <p:cNvGrpSpPr/>
          <p:nvPr/>
        </p:nvGrpSpPr>
        <p:grpSpPr>
          <a:xfrm rot="0">
            <a:off x="937260" y="3132578"/>
            <a:ext cx="16322040" cy="622173"/>
            <a:chOff x="0" y="0"/>
            <a:chExt cx="21762720" cy="829564"/>
          </a:xfrm>
        </p:grpSpPr>
        <p:grpSp>
          <p:nvGrpSpPr>
            <p:cNvPr name="Group 16" id="16"/>
            <p:cNvGrpSpPr/>
            <p:nvPr/>
          </p:nvGrpSpPr>
          <p:grpSpPr>
            <a:xfrm rot="0">
              <a:off x="0" y="164592"/>
              <a:ext cx="329184" cy="329184"/>
              <a:chOff x="0" y="0"/>
              <a:chExt cx="329184" cy="329184"/>
            </a:xfrm>
          </p:grpSpPr>
          <p:sp>
            <p:nvSpPr>
              <p:cNvPr name="Freeform 17" id="17"/>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18" id="18"/>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name="Group 19" id="19"/>
          <p:cNvGrpSpPr/>
          <p:nvPr/>
        </p:nvGrpSpPr>
        <p:grpSpPr>
          <a:xfrm rot="0">
            <a:off x="937260" y="4224586"/>
            <a:ext cx="16322040" cy="622173"/>
            <a:chOff x="0" y="0"/>
            <a:chExt cx="21762720" cy="829564"/>
          </a:xfrm>
        </p:grpSpPr>
        <p:grpSp>
          <p:nvGrpSpPr>
            <p:cNvPr name="Group 20" id="20"/>
            <p:cNvGrpSpPr/>
            <p:nvPr/>
          </p:nvGrpSpPr>
          <p:grpSpPr>
            <a:xfrm rot="0">
              <a:off x="0" y="164592"/>
              <a:ext cx="329184" cy="329184"/>
              <a:chOff x="0" y="0"/>
              <a:chExt cx="329184" cy="329184"/>
            </a:xfrm>
          </p:grpSpPr>
          <p:sp>
            <p:nvSpPr>
              <p:cNvPr name="Freeform 21" id="21"/>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2" id="22"/>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name="Group 23" id="23"/>
          <p:cNvGrpSpPr/>
          <p:nvPr/>
        </p:nvGrpSpPr>
        <p:grpSpPr>
          <a:xfrm rot="0">
            <a:off x="937260" y="5316594"/>
            <a:ext cx="16322040" cy="955548"/>
            <a:chOff x="0" y="0"/>
            <a:chExt cx="21762720" cy="1274064"/>
          </a:xfrm>
        </p:grpSpPr>
        <p:grpSp>
          <p:nvGrpSpPr>
            <p:cNvPr name="Group 24" id="24"/>
            <p:cNvGrpSpPr/>
            <p:nvPr/>
          </p:nvGrpSpPr>
          <p:grpSpPr>
            <a:xfrm rot="0">
              <a:off x="0" y="164592"/>
              <a:ext cx="329184" cy="329184"/>
              <a:chOff x="0" y="0"/>
              <a:chExt cx="329184" cy="329184"/>
            </a:xfrm>
          </p:grpSpPr>
          <p:sp>
            <p:nvSpPr>
              <p:cNvPr name="Freeform 25" id="25"/>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6" id="26"/>
            <p:cNvSpPr txBox="true"/>
            <p:nvPr/>
          </p:nvSpPr>
          <p:spPr>
            <a:xfrm rot="0">
              <a:off x="548640" y="-38100"/>
              <a:ext cx="21214080" cy="13121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8528" y="2089490"/>
            <a:ext cx="4118666" cy="4334573"/>
            <a:chOff x="0" y="0"/>
            <a:chExt cx="4404525" cy="4635417"/>
          </a:xfrm>
        </p:grpSpPr>
        <p:sp>
          <p:nvSpPr>
            <p:cNvPr name="Freeform 3" id="3"/>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4" id="4"/>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5" id="5"/>
          <p:cNvGrpSpPr/>
          <p:nvPr/>
        </p:nvGrpSpPr>
        <p:grpSpPr>
          <a:xfrm rot="0">
            <a:off x="9270007" y="2089490"/>
            <a:ext cx="4118666" cy="4334573"/>
            <a:chOff x="0" y="0"/>
            <a:chExt cx="4404525" cy="4635417"/>
          </a:xfrm>
        </p:grpSpPr>
        <p:sp>
          <p:nvSpPr>
            <p:cNvPr name="Freeform 6" id="6"/>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7" id="7"/>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8" id="8"/>
          <p:cNvGrpSpPr/>
          <p:nvPr/>
        </p:nvGrpSpPr>
        <p:grpSpPr>
          <a:xfrm rot="0">
            <a:off x="13648902" y="2089490"/>
            <a:ext cx="4118666" cy="4334573"/>
            <a:chOff x="0" y="0"/>
            <a:chExt cx="4404525" cy="4635417"/>
          </a:xfrm>
        </p:grpSpPr>
        <p:sp>
          <p:nvSpPr>
            <p:cNvPr name="Freeform 9" id="9"/>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0" id="10"/>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11" id="11"/>
          <p:cNvGrpSpPr/>
          <p:nvPr/>
        </p:nvGrpSpPr>
        <p:grpSpPr>
          <a:xfrm rot="0">
            <a:off x="4854447" y="2089490"/>
            <a:ext cx="4118666" cy="4334573"/>
            <a:chOff x="0" y="0"/>
            <a:chExt cx="4404525" cy="4635417"/>
          </a:xfrm>
        </p:grpSpPr>
        <p:sp>
          <p:nvSpPr>
            <p:cNvPr name="Freeform 12" id="12"/>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3" id="13"/>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14" id="14"/>
          <p:cNvGrpSpPr/>
          <p:nvPr/>
        </p:nvGrpSpPr>
        <p:grpSpPr>
          <a:xfrm rot="0">
            <a:off x="755850" y="564284"/>
            <a:ext cx="13164593" cy="1595581"/>
            <a:chOff x="0" y="0"/>
            <a:chExt cx="17552791" cy="2127442"/>
          </a:xfrm>
        </p:grpSpPr>
        <p:sp>
          <p:nvSpPr>
            <p:cNvPr name="Freeform 15" id="15"/>
            <p:cNvSpPr/>
            <p:nvPr/>
          </p:nvSpPr>
          <p:spPr>
            <a:xfrm flipH="false" flipV="false" rot="0">
              <a:off x="0" y="0"/>
              <a:ext cx="17552791" cy="2127442"/>
            </a:xfrm>
            <a:custGeom>
              <a:avLst/>
              <a:gdLst/>
              <a:ahLst/>
              <a:cxnLst/>
              <a:rect r="r" b="b" t="t" l="l"/>
              <a:pathLst>
                <a:path h="2127442" w="17552791">
                  <a:moveTo>
                    <a:pt x="0" y="0"/>
                  </a:moveTo>
                  <a:lnTo>
                    <a:pt x="17552791" y="0"/>
                  </a:lnTo>
                  <a:lnTo>
                    <a:pt x="17552791" y="2127442"/>
                  </a:lnTo>
                  <a:lnTo>
                    <a:pt x="0" y="2127442"/>
                  </a:lnTo>
                  <a:close/>
                </a:path>
              </a:pathLst>
            </a:custGeom>
            <a:blipFill>
              <a:blip r:embed="rId2">
                <a:alphaModFix amt="0"/>
              </a:blip>
              <a:stretch>
                <a:fillRect l="0" t="-128398" r="6230" b="-73098"/>
              </a:stretch>
            </a:blipFill>
          </p:spPr>
        </p:sp>
        <p:sp>
          <p:nvSpPr>
            <p:cNvPr name="TextBox 16" id="16"/>
            <p:cNvSpPr txBox="true"/>
            <p:nvPr/>
          </p:nvSpPr>
          <p:spPr>
            <a:xfrm>
              <a:off x="0" y="-9525"/>
              <a:ext cx="17552791" cy="2136967"/>
            </a:xfrm>
            <a:prstGeom prst="rect">
              <a:avLst/>
            </a:prstGeom>
          </p:spPr>
          <p:txBody>
            <a:bodyPr anchor="ctr" rtlCol="false" tIns="0" lIns="0" bIns="0" rIns="0"/>
            <a:lstStyle/>
            <a:p>
              <a:pPr algn="l">
                <a:lnSpc>
                  <a:spcPts val="5280"/>
                </a:lnSpc>
              </a:pPr>
              <a:r>
                <a:rPr lang="en-US" sz="4400" b="true">
                  <a:gradFill>
                    <a:gsLst>
                      <a:gs pos="0">
                        <a:srgbClr val="3C61B6">
                          <a:alpha val="100000"/>
                        </a:srgbClr>
                      </a:gs>
                      <a:gs pos="100000">
                        <a:srgbClr val="121C36">
                          <a:alpha val="100000"/>
                        </a:srgbClr>
                      </a:gs>
                    </a:gsLst>
                    <a:path path="circle">
                      <a:fillToRect l="0" r="100000" t="0" b="100000"/>
                    </a:path>
                    <a:tileRect r="0" l="-100000" b="0" t="-100000"/>
                  </a:gradFill>
                  <a:latin typeface="Exo 2 Bold"/>
                  <a:ea typeface="Exo 2 Bold"/>
                  <a:cs typeface="Exo 2 Bold"/>
                  <a:sym typeface="Exo 2 Bold"/>
                </a:rPr>
                <a:t>Client Interaction Journey</a:t>
              </a:r>
            </a:p>
            <a:p>
              <a:pPr algn="l" marL="0" indent="0" lvl="0">
                <a:lnSpc>
                  <a:spcPts val="5280"/>
                </a:lnSpc>
                <a:spcBef>
                  <a:spcPct val="0"/>
                </a:spcBef>
              </a:pPr>
            </a:p>
          </p:txBody>
        </p:sp>
      </p:grpSp>
      <p:grpSp>
        <p:nvGrpSpPr>
          <p:cNvPr name="Group 17" id="17"/>
          <p:cNvGrpSpPr/>
          <p:nvPr/>
        </p:nvGrpSpPr>
        <p:grpSpPr>
          <a:xfrm rot="0">
            <a:off x="470535" y="648843"/>
            <a:ext cx="115062" cy="732282"/>
            <a:chOff x="0" y="0"/>
            <a:chExt cx="153416" cy="976376"/>
          </a:xfrm>
        </p:grpSpPr>
        <p:sp>
          <p:nvSpPr>
            <p:cNvPr name="Freeform 18" id="18"/>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Freeform 19" id="19"/>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grpSp>
      <p:sp>
        <p:nvSpPr>
          <p:cNvPr name="Freeform 20" id="20"/>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3"/>
            <a:stretch>
              <a:fillRect l="0" t="0" r="0" b="0"/>
            </a:stretch>
          </a:blipFill>
        </p:spPr>
      </p:sp>
      <p:sp>
        <p:nvSpPr>
          <p:cNvPr name="Freeform 21" id="21"/>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2" id="22"/>
          <p:cNvGrpSpPr/>
          <p:nvPr/>
        </p:nvGrpSpPr>
        <p:grpSpPr>
          <a:xfrm rot="0">
            <a:off x="585597" y="2217420"/>
            <a:ext cx="2948940" cy="480060"/>
            <a:chOff x="0" y="0"/>
            <a:chExt cx="3931920" cy="640080"/>
          </a:xfrm>
        </p:grpSpPr>
        <p:sp>
          <p:nvSpPr>
            <p:cNvPr name="Freeform 23" id="23"/>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24" id="24"/>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CALL</a:t>
              </a:r>
            </a:p>
          </p:txBody>
        </p:sp>
      </p:grpSp>
      <p:grpSp>
        <p:nvGrpSpPr>
          <p:cNvPr name="Group 25" id="25"/>
          <p:cNvGrpSpPr/>
          <p:nvPr/>
        </p:nvGrpSpPr>
        <p:grpSpPr>
          <a:xfrm rot="0">
            <a:off x="1019682" y="1381125"/>
            <a:ext cx="2948940" cy="3593452"/>
            <a:chOff x="0" y="0"/>
            <a:chExt cx="3931920" cy="4791270"/>
          </a:xfrm>
        </p:grpSpPr>
        <p:sp>
          <p:nvSpPr>
            <p:cNvPr name="Freeform 26" id="26"/>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sp>
        <p:sp>
          <p:nvSpPr>
            <p:cNvPr name="TextBox 27" id="27"/>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1</a:t>
              </a:r>
            </a:p>
          </p:txBody>
        </p:sp>
      </p:grpSp>
      <p:grpSp>
        <p:nvGrpSpPr>
          <p:cNvPr name="Group 28" id="28"/>
          <p:cNvGrpSpPr/>
          <p:nvPr/>
        </p:nvGrpSpPr>
        <p:grpSpPr>
          <a:xfrm rot="0">
            <a:off x="1019682" y="3570976"/>
            <a:ext cx="2948940" cy="685800"/>
            <a:chOff x="0" y="0"/>
            <a:chExt cx="3931920" cy="914400"/>
          </a:xfrm>
        </p:grpSpPr>
        <p:sp>
          <p:nvSpPr>
            <p:cNvPr name="Freeform 29" id="29"/>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30" id="30"/>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First Contact</a:t>
              </a:r>
            </a:p>
          </p:txBody>
        </p:sp>
      </p:grpSp>
      <p:grpSp>
        <p:nvGrpSpPr>
          <p:cNvPr name="Group 31" id="31"/>
          <p:cNvGrpSpPr/>
          <p:nvPr/>
        </p:nvGrpSpPr>
        <p:grpSpPr>
          <a:xfrm rot="0">
            <a:off x="1019682" y="3931791"/>
            <a:ext cx="2948940" cy="2167286"/>
            <a:chOff x="0" y="0"/>
            <a:chExt cx="3931920" cy="2889715"/>
          </a:xfrm>
        </p:grpSpPr>
        <p:sp>
          <p:nvSpPr>
            <p:cNvPr name="Freeform 32" id="32"/>
            <p:cNvSpPr/>
            <p:nvPr/>
          </p:nvSpPr>
          <p:spPr>
            <a:xfrm flipH="false" flipV="false" rot="0">
              <a:off x="0" y="0"/>
              <a:ext cx="3931920" cy="2889715"/>
            </a:xfrm>
            <a:custGeom>
              <a:avLst/>
              <a:gdLst/>
              <a:ahLst/>
              <a:cxnLst/>
              <a:rect r="r" b="b" t="t" l="l"/>
              <a:pathLst>
                <a:path h="2889715" w="3931920">
                  <a:moveTo>
                    <a:pt x="0" y="0"/>
                  </a:moveTo>
                  <a:lnTo>
                    <a:pt x="3931920" y="0"/>
                  </a:lnTo>
                  <a:lnTo>
                    <a:pt x="3931920" y="2889715"/>
                  </a:lnTo>
                  <a:lnTo>
                    <a:pt x="0" y="2889715"/>
                  </a:lnTo>
                  <a:close/>
                </a:path>
              </a:pathLst>
            </a:custGeom>
            <a:blipFill>
              <a:blip r:embed="rId2">
                <a:alphaModFix amt="0"/>
              </a:blip>
              <a:stretch>
                <a:fillRect l="-69352" t="0" r="-69352" b="-26573"/>
              </a:stretch>
            </a:blipFill>
          </p:spPr>
        </p:sp>
        <p:sp>
          <p:nvSpPr>
            <p:cNvPr name="TextBox 33" id="33"/>
            <p:cNvSpPr txBox="true"/>
            <p:nvPr/>
          </p:nvSpPr>
          <p:spPr>
            <a:xfrm>
              <a:off x="0" y="-57150"/>
              <a:ext cx="3931920" cy="294686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name="Group 34" id="34"/>
          <p:cNvGrpSpPr/>
          <p:nvPr/>
        </p:nvGrpSpPr>
        <p:grpSpPr>
          <a:xfrm rot="0">
            <a:off x="5136568" y="2292953"/>
            <a:ext cx="2948940" cy="345929"/>
            <a:chOff x="0" y="0"/>
            <a:chExt cx="3931920" cy="461239"/>
          </a:xfrm>
        </p:grpSpPr>
        <p:sp>
          <p:nvSpPr>
            <p:cNvPr name="Freeform 35" id="35"/>
            <p:cNvSpPr/>
            <p:nvPr/>
          </p:nvSpPr>
          <p:spPr>
            <a:xfrm flipH="false" flipV="false" rot="0">
              <a:off x="0" y="0"/>
              <a:ext cx="3931920" cy="461239"/>
            </a:xfrm>
            <a:custGeom>
              <a:avLst/>
              <a:gdLst/>
              <a:ahLst/>
              <a:cxnLst/>
              <a:rect r="r" b="b" t="t" l="l"/>
              <a:pathLst>
                <a:path h="461239" w="3931920">
                  <a:moveTo>
                    <a:pt x="0" y="0"/>
                  </a:moveTo>
                  <a:lnTo>
                    <a:pt x="3931920" y="0"/>
                  </a:lnTo>
                  <a:lnTo>
                    <a:pt x="3931920" y="461239"/>
                  </a:lnTo>
                  <a:lnTo>
                    <a:pt x="0" y="461239"/>
                  </a:lnTo>
                  <a:close/>
                </a:path>
              </a:pathLst>
            </a:custGeom>
            <a:blipFill>
              <a:blip r:embed="rId2">
                <a:alphaModFix amt="0"/>
              </a:blip>
              <a:stretch>
                <a:fillRect l="0" t="-96716" r="0" b="-135491"/>
              </a:stretch>
            </a:blipFill>
          </p:spPr>
        </p:sp>
        <p:sp>
          <p:nvSpPr>
            <p:cNvPr name="TextBox 36" id="36"/>
            <p:cNvSpPr txBox="true"/>
            <p:nvPr/>
          </p:nvSpPr>
          <p:spPr>
            <a:xfrm>
              <a:off x="0" y="0"/>
              <a:ext cx="3931920" cy="461239"/>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EMAIL</a:t>
              </a:r>
            </a:p>
          </p:txBody>
        </p:sp>
      </p:grpSp>
      <p:grpSp>
        <p:nvGrpSpPr>
          <p:cNvPr name="Group 37" id="37"/>
          <p:cNvGrpSpPr/>
          <p:nvPr/>
        </p:nvGrpSpPr>
        <p:grpSpPr>
          <a:xfrm rot="0">
            <a:off x="6566175" y="1362075"/>
            <a:ext cx="694851" cy="3593452"/>
            <a:chOff x="0" y="0"/>
            <a:chExt cx="926468" cy="4791270"/>
          </a:xfrm>
        </p:grpSpPr>
        <p:sp>
          <p:nvSpPr>
            <p:cNvPr name="Freeform 38" id="38"/>
            <p:cNvSpPr/>
            <p:nvPr/>
          </p:nvSpPr>
          <p:spPr>
            <a:xfrm flipH="false" flipV="false" rot="0">
              <a:off x="0" y="0"/>
              <a:ext cx="926468" cy="4791270"/>
            </a:xfrm>
            <a:custGeom>
              <a:avLst/>
              <a:gdLst/>
              <a:ahLst/>
              <a:cxnLst/>
              <a:rect r="r" b="b" t="t" l="l"/>
              <a:pathLst>
                <a:path h="4791270" w="926468">
                  <a:moveTo>
                    <a:pt x="0" y="0"/>
                  </a:moveTo>
                  <a:lnTo>
                    <a:pt x="926468" y="0"/>
                  </a:lnTo>
                  <a:lnTo>
                    <a:pt x="926468" y="4791270"/>
                  </a:lnTo>
                  <a:lnTo>
                    <a:pt x="0" y="4791270"/>
                  </a:lnTo>
                  <a:close/>
                </a:path>
              </a:pathLst>
            </a:custGeom>
            <a:blipFill>
              <a:blip r:embed="rId2">
                <a:alphaModFix amt="0"/>
              </a:blip>
              <a:stretch>
                <a:fillRect l="-15738" t="0" r="-340137" b="65647"/>
              </a:stretch>
            </a:blipFill>
          </p:spPr>
        </p:sp>
        <p:sp>
          <p:nvSpPr>
            <p:cNvPr name="TextBox 39" id="39"/>
            <p:cNvSpPr txBox="true"/>
            <p:nvPr/>
          </p:nvSpPr>
          <p:spPr>
            <a:xfrm>
              <a:off x="0" y="-9525"/>
              <a:ext cx="926468"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2</a:t>
              </a:r>
            </a:p>
          </p:txBody>
        </p:sp>
      </p:grpSp>
      <p:grpSp>
        <p:nvGrpSpPr>
          <p:cNvPr name="Group 40" id="40"/>
          <p:cNvGrpSpPr/>
          <p:nvPr/>
        </p:nvGrpSpPr>
        <p:grpSpPr>
          <a:xfrm rot="0">
            <a:off x="5439130" y="3377116"/>
            <a:ext cx="2948940" cy="1073519"/>
            <a:chOff x="0" y="0"/>
            <a:chExt cx="3931920" cy="1431358"/>
          </a:xfrm>
        </p:grpSpPr>
        <p:sp>
          <p:nvSpPr>
            <p:cNvPr name="Freeform 41" id="41"/>
            <p:cNvSpPr/>
            <p:nvPr/>
          </p:nvSpPr>
          <p:spPr>
            <a:xfrm flipH="false" flipV="false" rot="0">
              <a:off x="0" y="0"/>
              <a:ext cx="3931920" cy="1431358"/>
            </a:xfrm>
            <a:custGeom>
              <a:avLst/>
              <a:gdLst/>
              <a:ahLst/>
              <a:cxnLst/>
              <a:rect r="r" b="b" t="t" l="l"/>
              <a:pathLst>
                <a:path h="1431358" w="3931920">
                  <a:moveTo>
                    <a:pt x="0" y="0"/>
                  </a:moveTo>
                  <a:lnTo>
                    <a:pt x="3931920" y="0"/>
                  </a:lnTo>
                  <a:lnTo>
                    <a:pt x="3931920" y="1431358"/>
                  </a:lnTo>
                  <a:lnTo>
                    <a:pt x="0" y="1431358"/>
                  </a:lnTo>
                  <a:close/>
                </a:path>
              </a:pathLst>
            </a:custGeom>
            <a:blipFill>
              <a:blip r:embed="rId2">
                <a:alphaModFix amt="0"/>
              </a:blip>
              <a:stretch>
                <a:fillRect l="0" t="-21583" r="0" b="14533"/>
              </a:stretch>
            </a:blipFill>
          </p:spPr>
        </p:sp>
        <p:sp>
          <p:nvSpPr>
            <p:cNvPr name="TextBox 42" id="42"/>
            <p:cNvSpPr txBox="true"/>
            <p:nvPr/>
          </p:nvSpPr>
          <p:spPr>
            <a:xfrm>
              <a:off x="0" y="-9525"/>
              <a:ext cx="3931920" cy="1440883"/>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Email Reminder</a:t>
              </a:r>
            </a:p>
          </p:txBody>
        </p:sp>
      </p:grpSp>
      <p:grpSp>
        <p:nvGrpSpPr>
          <p:cNvPr name="Group 43" id="43"/>
          <p:cNvGrpSpPr/>
          <p:nvPr/>
        </p:nvGrpSpPr>
        <p:grpSpPr>
          <a:xfrm rot="0">
            <a:off x="5439130" y="4240574"/>
            <a:ext cx="2983151" cy="1859400"/>
            <a:chOff x="0" y="0"/>
            <a:chExt cx="3977535" cy="2479199"/>
          </a:xfrm>
        </p:grpSpPr>
        <p:sp>
          <p:nvSpPr>
            <p:cNvPr name="Freeform 44" id="44"/>
            <p:cNvSpPr/>
            <p:nvPr/>
          </p:nvSpPr>
          <p:spPr>
            <a:xfrm flipH="false" flipV="false" rot="0">
              <a:off x="0" y="0"/>
              <a:ext cx="3977535" cy="2479199"/>
            </a:xfrm>
            <a:custGeom>
              <a:avLst/>
              <a:gdLst/>
              <a:ahLst/>
              <a:cxnLst/>
              <a:rect r="r" b="b" t="t" l="l"/>
              <a:pathLst>
                <a:path h="2479199" w="3977535">
                  <a:moveTo>
                    <a:pt x="0" y="0"/>
                  </a:moveTo>
                  <a:lnTo>
                    <a:pt x="3977535" y="0"/>
                  </a:lnTo>
                  <a:lnTo>
                    <a:pt x="3977535" y="2479199"/>
                  </a:lnTo>
                  <a:lnTo>
                    <a:pt x="0" y="2479199"/>
                  </a:lnTo>
                  <a:close/>
                </a:path>
              </a:pathLst>
            </a:custGeom>
            <a:blipFill>
              <a:blip r:embed="rId2">
                <a:alphaModFix amt="0"/>
              </a:blip>
              <a:stretch>
                <a:fillRect l="-68556" t="0" r="-67409" b="-47531"/>
              </a:stretch>
            </a:blipFill>
          </p:spPr>
        </p:sp>
        <p:sp>
          <p:nvSpPr>
            <p:cNvPr name="TextBox 45" id="45"/>
            <p:cNvSpPr txBox="true"/>
            <p:nvPr/>
          </p:nvSpPr>
          <p:spPr>
            <a:xfrm>
              <a:off x="0" y="-57150"/>
              <a:ext cx="3977535" cy="2536349"/>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Se</a:t>
              </a:r>
              <a:r>
                <a:rPr lang="en-US" sz="1875">
                  <a:solidFill>
                    <a:srgbClr val="FFFFFF"/>
                  </a:solidFill>
                  <a:latin typeface="Exo 2"/>
                  <a:ea typeface="Exo 2"/>
                  <a:cs typeface="Exo 2"/>
                  <a:sym typeface="Exo 2"/>
                </a:rPr>
                <a:t>nd a reminder email at the end of the day outlining the steps required to progress through their current stage.</a:t>
              </a:r>
            </a:p>
          </p:txBody>
        </p:sp>
      </p:grpSp>
      <p:grpSp>
        <p:nvGrpSpPr>
          <p:cNvPr name="Group 46" id="46"/>
          <p:cNvGrpSpPr/>
          <p:nvPr/>
        </p:nvGrpSpPr>
        <p:grpSpPr>
          <a:xfrm rot="0">
            <a:off x="9554138" y="2217420"/>
            <a:ext cx="2948940" cy="480060"/>
            <a:chOff x="0" y="0"/>
            <a:chExt cx="3931920" cy="640080"/>
          </a:xfrm>
        </p:grpSpPr>
        <p:sp>
          <p:nvSpPr>
            <p:cNvPr name="Freeform 47" id="47"/>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48" id="48"/>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3 CALL</a:t>
              </a:r>
            </a:p>
          </p:txBody>
        </p:sp>
      </p:grpSp>
      <p:grpSp>
        <p:nvGrpSpPr>
          <p:cNvPr name="Group 49" id="49"/>
          <p:cNvGrpSpPr/>
          <p:nvPr/>
        </p:nvGrpSpPr>
        <p:grpSpPr>
          <a:xfrm rot="0">
            <a:off x="9747275" y="1381125"/>
            <a:ext cx="2948940" cy="3593452"/>
            <a:chOff x="0" y="0"/>
            <a:chExt cx="3931920" cy="4791270"/>
          </a:xfrm>
        </p:grpSpPr>
        <p:sp>
          <p:nvSpPr>
            <p:cNvPr name="Freeform 50" id="50"/>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sp>
        <p:sp>
          <p:nvSpPr>
            <p:cNvPr name="TextBox 51" id="51"/>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3</a:t>
              </a:r>
            </a:p>
          </p:txBody>
        </p:sp>
      </p:grpSp>
      <p:grpSp>
        <p:nvGrpSpPr>
          <p:cNvPr name="Group 52" id="52"/>
          <p:cNvGrpSpPr/>
          <p:nvPr/>
        </p:nvGrpSpPr>
        <p:grpSpPr>
          <a:xfrm rot="0">
            <a:off x="9747275" y="3570976"/>
            <a:ext cx="2948940" cy="685800"/>
            <a:chOff x="0" y="0"/>
            <a:chExt cx="3931920" cy="914400"/>
          </a:xfrm>
        </p:grpSpPr>
        <p:sp>
          <p:nvSpPr>
            <p:cNvPr name="Freeform 53" id="53"/>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54" id="54"/>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Second Call</a:t>
              </a:r>
            </a:p>
          </p:txBody>
        </p:sp>
      </p:grpSp>
      <p:grpSp>
        <p:nvGrpSpPr>
          <p:cNvPr name="Group 55" id="55"/>
          <p:cNvGrpSpPr/>
          <p:nvPr/>
        </p:nvGrpSpPr>
        <p:grpSpPr>
          <a:xfrm rot="0">
            <a:off x="9836537" y="4187923"/>
            <a:ext cx="2948940" cy="1911154"/>
            <a:chOff x="0" y="0"/>
            <a:chExt cx="3931920" cy="2548205"/>
          </a:xfrm>
        </p:grpSpPr>
        <p:sp>
          <p:nvSpPr>
            <p:cNvPr name="Freeform 56" id="56"/>
            <p:cNvSpPr/>
            <p:nvPr/>
          </p:nvSpPr>
          <p:spPr>
            <a:xfrm flipH="false" flipV="false" rot="0">
              <a:off x="0" y="0"/>
              <a:ext cx="3931920" cy="2548205"/>
            </a:xfrm>
            <a:custGeom>
              <a:avLst/>
              <a:gdLst/>
              <a:ahLst/>
              <a:cxnLst/>
              <a:rect r="r" b="b" t="t" l="l"/>
              <a:pathLst>
                <a:path h="2548205" w="3931920">
                  <a:moveTo>
                    <a:pt x="0" y="0"/>
                  </a:moveTo>
                  <a:lnTo>
                    <a:pt x="3931920" y="0"/>
                  </a:lnTo>
                  <a:lnTo>
                    <a:pt x="3931920" y="2548205"/>
                  </a:lnTo>
                  <a:lnTo>
                    <a:pt x="0" y="2548205"/>
                  </a:lnTo>
                  <a:close/>
                </a:path>
              </a:pathLst>
            </a:custGeom>
            <a:blipFill>
              <a:blip r:embed="rId2">
                <a:alphaModFix amt="0"/>
              </a:blip>
              <a:stretch>
                <a:fillRect l="-69352" t="0" r="-69352" b="-43536"/>
              </a:stretch>
            </a:blipFill>
          </p:spPr>
        </p:sp>
        <p:sp>
          <p:nvSpPr>
            <p:cNvPr name="TextBox 57" id="57"/>
            <p:cNvSpPr txBox="true"/>
            <p:nvPr/>
          </p:nvSpPr>
          <p:spPr>
            <a:xfrm>
              <a:off x="0" y="-57150"/>
              <a:ext cx="3931920" cy="260535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fo</a:t>
              </a:r>
              <a:r>
                <a:rPr lang="en-US" sz="1875">
                  <a:solidFill>
                    <a:srgbClr val="FFFFFF"/>
                  </a:solidFill>
                  <a:latin typeface="Exo 2"/>
                  <a:ea typeface="Exo 2"/>
                  <a:cs typeface="Exo 2"/>
                  <a:sym typeface="Exo 2"/>
                </a:rPr>
                <a:t>llow up with a second call, conveying greater urgency and offering to walk the client through the process live.</a:t>
              </a:r>
            </a:p>
          </p:txBody>
        </p:sp>
      </p:grpSp>
      <p:grpSp>
        <p:nvGrpSpPr>
          <p:cNvPr name="Group 58" id="58"/>
          <p:cNvGrpSpPr/>
          <p:nvPr/>
        </p:nvGrpSpPr>
        <p:grpSpPr>
          <a:xfrm rot="0">
            <a:off x="13903223" y="2225888"/>
            <a:ext cx="2948940" cy="480060"/>
            <a:chOff x="0" y="0"/>
            <a:chExt cx="3931920" cy="640080"/>
          </a:xfrm>
        </p:grpSpPr>
        <p:sp>
          <p:nvSpPr>
            <p:cNvPr name="Freeform 59" id="59"/>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60" id="60"/>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4F6FA"/>
                  </a:solidFill>
                  <a:latin typeface="Exo 2 Bold"/>
                  <a:ea typeface="Exo 2 Bold"/>
                  <a:cs typeface="Exo 2 Bold"/>
                  <a:sym typeface="Exo 2 Bold"/>
                </a:rPr>
                <a:t>DAY 3 EMAIL</a:t>
              </a:r>
            </a:p>
          </p:txBody>
        </p:sp>
      </p:grpSp>
      <p:grpSp>
        <p:nvGrpSpPr>
          <p:cNvPr name="Group 61" id="61"/>
          <p:cNvGrpSpPr/>
          <p:nvPr/>
        </p:nvGrpSpPr>
        <p:grpSpPr>
          <a:xfrm rot="0">
            <a:off x="14160198" y="2560631"/>
            <a:ext cx="2948940" cy="1234440"/>
            <a:chOff x="0" y="0"/>
            <a:chExt cx="3931920" cy="1645920"/>
          </a:xfrm>
        </p:grpSpPr>
        <p:sp>
          <p:nvSpPr>
            <p:cNvPr name="Freeform 62" id="62"/>
            <p:cNvSpPr/>
            <p:nvPr/>
          </p:nvSpPr>
          <p:spPr>
            <a:xfrm flipH="false" flipV="false" rot="0">
              <a:off x="0" y="0"/>
              <a:ext cx="3931920" cy="1645920"/>
            </a:xfrm>
            <a:custGeom>
              <a:avLst/>
              <a:gdLst/>
              <a:ahLst/>
              <a:cxnLst/>
              <a:rect r="r" b="b" t="t" l="l"/>
              <a:pathLst>
                <a:path h="1645920" w="3931920">
                  <a:moveTo>
                    <a:pt x="0" y="0"/>
                  </a:moveTo>
                  <a:lnTo>
                    <a:pt x="3931920" y="0"/>
                  </a:lnTo>
                  <a:lnTo>
                    <a:pt x="3931920" y="1645920"/>
                  </a:lnTo>
                  <a:lnTo>
                    <a:pt x="0" y="1645920"/>
                  </a:lnTo>
                  <a:close/>
                </a:path>
              </a:pathLst>
            </a:custGeom>
            <a:blipFill>
              <a:blip r:embed="rId2">
                <a:alphaModFix amt="0"/>
              </a:blip>
              <a:stretch>
                <a:fillRect l="-3708" t="0" r="-3708" b="0"/>
              </a:stretch>
            </a:blipFill>
          </p:spPr>
        </p:sp>
        <p:sp>
          <p:nvSpPr>
            <p:cNvPr name="TextBox 63" id="63"/>
            <p:cNvSpPr txBox="true"/>
            <p:nvPr/>
          </p:nvSpPr>
          <p:spPr>
            <a:xfrm>
              <a:off x="0" y="-9525"/>
              <a:ext cx="3931920" cy="1655445"/>
            </a:xfrm>
            <a:prstGeom prst="rect">
              <a:avLst/>
            </a:prstGeom>
          </p:spPr>
          <p:txBody>
            <a:bodyPr anchor="ctr" rtlCol="false" tIns="0" lIns="0" bIns="0" rIns="0"/>
            <a:lstStyle/>
            <a:p>
              <a:pPr algn="ctr">
                <a:lnSpc>
                  <a:spcPts val="5880"/>
                </a:lnSpc>
              </a:pPr>
              <a:r>
                <a:rPr lang="en-US" b="true" sz="4900">
                  <a:solidFill>
                    <a:srgbClr val="F4F6FA"/>
                  </a:solidFill>
                  <a:latin typeface="Exo 2 Bold"/>
                  <a:ea typeface="Exo 2 Bold"/>
                  <a:cs typeface="Exo 2 Bold"/>
                  <a:sym typeface="Exo 2 Bold"/>
                </a:rPr>
                <a:t>4</a:t>
              </a:r>
            </a:p>
          </p:txBody>
        </p:sp>
      </p:grpSp>
      <p:grpSp>
        <p:nvGrpSpPr>
          <p:cNvPr name="Group 64" id="64"/>
          <p:cNvGrpSpPr/>
          <p:nvPr/>
        </p:nvGrpSpPr>
        <p:grpSpPr>
          <a:xfrm rot="0">
            <a:off x="14233765" y="3570976"/>
            <a:ext cx="2948940" cy="685800"/>
            <a:chOff x="0" y="0"/>
            <a:chExt cx="3931920" cy="914400"/>
          </a:xfrm>
        </p:grpSpPr>
        <p:sp>
          <p:nvSpPr>
            <p:cNvPr name="Freeform 65" id="65"/>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66" id="66"/>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4F6FA"/>
                  </a:solidFill>
                  <a:latin typeface="Exo 2 Bold"/>
                  <a:ea typeface="Exo 2 Bold"/>
                  <a:cs typeface="Exo 2 Bold"/>
                  <a:sym typeface="Exo 2 Bold"/>
                </a:rPr>
                <a:t>Follow-Up Email</a:t>
              </a:r>
            </a:p>
          </p:txBody>
        </p:sp>
      </p:grpSp>
      <p:grpSp>
        <p:nvGrpSpPr>
          <p:cNvPr name="Group 67" id="67"/>
          <p:cNvGrpSpPr/>
          <p:nvPr/>
        </p:nvGrpSpPr>
        <p:grpSpPr>
          <a:xfrm rot="0">
            <a:off x="14038807" y="3771900"/>
            <a:ext cx="3338857" cy="2743200"/>
            <a:chOff x="0" y="0"/>
            <a:chExt cx="4451809" cy="3657600"/>
          </a:xfrm>
        </p:grpSpPr>
        <p:sp>
          <p:nvSpPr>
            <p:cNvPr name="Freeform 68" id="68"/>
            <p:cNvSpPr/>
            <p:nvPr/>
          </p:nvSpPr>
          <p:spPr>
            <a:xfrm flipH="false" flipV="false" rot="0">
              <a:off x="0" y="0"/>
              <a:ext cx="4451809" cy="3657600"/>
            </a:xfrm>
            <a:custGeom>
              <a:avLst/>
              <a:gdLst/>
              <a:ahLst/>
              <a:cxnLst/>
              <a:rect r="r" b="b" t="t" l="l"/>
              <a:pathLst>
                <a:path h="3657600" w="4451809">
                  <a:moveTo>
                    <a:pt x="0" y="0"/>
                  </a:moveTo>
                  <a:lnTo>
                    <a:pt x="4451809" y="0"/>
                  </a:lnTo>
                  <a:lnTo>
                    <a:pt x="4451809" y="3657600"/>
                  </a:lnTo>
                  <a:lnTo>
                    <a:pt x="0" y="3657600"/>
                  </a:lnTo>
                  <a:close/>
                </a:path>
              </a:pathLst>
            </a:custGeom>
            <a:blipFill>
              <a:blip r:embed="rId2">
                <a:alphaModFix amt="0"/>
              </a:blip>
              <a:stretch>
                <a:fillRect l="-61253" t="0" r="-49574" b="0"/>
              </a:stretch>
            </a:blipFill>
          </p:spPr>
        </p:sp>
        <p:sp>
          <p:nvSpPr>
            <p:cNvPr name="TextBox 69" id="69"/>
            <p:cNvSpPr txBox="true"/>
            <p:nvPr/>
          </p:nvSpPr>
          <p:spPr>
            <a:xfrm>
              <a:off x="0" y="-57150"/>
              <a:ext cx="4451809" cy="3714750"/>
            </a:xfrm>
            <a:prstGeom prst="rect">
              <a:avLst/>
            </a:prstGeom>
          </p:spPr>
          <p:txBody>
            <a:bodyPr anchor="ctr" rtlCol="false" tIns="0" lIns="0" bIns="0" rIns="0"/>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name="TextBox 70" id="70"/>
          <p:cNvSpPr txBox="true"/>
          <p:nvPr/>
        </p:nvSpPr>
        <p:spPr>
          <a:xfrm rot="0">
            <a:off x="755850" y="6782377"/>
            <a:ext cx="3158133" cy="457200"/>
          </a:xfrm>
          <a:prstGeom prst="rect">
            <a:avLst/>
          </a:prstGeom>
        </p:spPr>
        <p:txBody>
          <a:bodyPr anchor="t" rtlCol="false" tIns="0" lIns="0" bIns="0" rIns="0">
            <a:spAutoFit/>
          </a:bodyPr>
          <a:lstStyle/>
          <a:p>
            <a:pPr algn="l">
              <a:lnSpc>
                <a:spcPts val="3510"/>
              </a:lnSpc>
            </a:pPr>
            <a:r>
              <a:rPr lang="en-US" b="true" sz="2925">
                <a:gradFill>
                  <a:gsLst>
                    <a:gs pos="0">
                      <a:srgbClr val="3C61B6">
                        <a:alpha val="100000"/>
                      </a:srgbClr>
                    </a:gs>
                    <a:gs pos="100000">
                      <a:srgbClr val="121C36">
                        <a:alpha val="100000"/>
                      </a:srgbClr>
                    </a:gs>
                  </a:gsLst>
                  <a:path path="circle">
                    <a:fillToRect l="0" r="100000" t="0" b="100000"/>
                  </a:path>
                  <a:tileRect r="0" l="-100000" b="0" t="-100000"/>
                </a:gradFill>
                <a:latin typeface="Arimo Bold"/>
                <a:ea typeface="Arimo Bold"/>
                <a:cs typeface="Arimo Bold"/>
                <a:sym typeface="Arimo Bold"/>
              </a:rPr>
              <a:t>Contact Channels</a:t>
            </a:r>
          </a:p>
        </p:txBody>
      </p:sp>
      <p:grpSp>
        <p:nvGrpSpPr>
          <p:cNvPr name="Group 71" id="71"/>
          <p:cNvGrpSpPr/>
          <p:nvPr/>
        </p:nvGrpSpPr>
        <p:grpSpPr>
          <a:xfrm rot="0">
            <a:off x="755850" y="7372927"/>
            <a:ext cx="16605885" cy="451910"/>
            <a:chOff x="0" y="0"/>
            <a:chExt cx="22141180" cy="602546"/>
          </a:xfrm>
        </p:grpSpPr>
        <p:grpSp>
          <p:nvGrpSpPr>
            <p:cNvPr name="Group 72" id="72"/>
            <p:cNvGrpSpPr/>
            <p:nvPr/>
          </p:nvGrpSpPr>
          <p:grpSpPr>
            <a:xfrm rot="0">
              <a:off x="524764" y="0"/>
              <a:ext cx="21616416" cy="602546"/>
              <a:chOff x="0" y="0"/>
              <a:chExt cx="21616416" cy="602546"/>
            </a:xfrm>
          </p:grpSpPr>
          <p:sp>
            <p:nvSpPr>
              <p:cNvPr name="Freeform 73" id="73"/>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74" id="74"/>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name="Group 75" id="75"/>
            <p:cNvGrpSpPr/>
            <p:nvPr/>
          </p:nvGrpSpPr>
          <p:grpSpPr>
            <a:xfrm rot="0">
              <a:off x="0" y="164453"/>
              <a:ext cx="370790" cy="324441"/>
              <a:chOff x="0" y="0"/>
              <a:chExt cx="812800" cy="711200"/>
            </a:xfrm>
          </p:grpSpPr>
          <p:sp>
            <p:nvSpPr>
              <p:cNvPr name="Freeform 76" id="76"/>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77" id="77"/>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8" id="78"/>
          <p:cNvGrpSpPr/>
          <p:nvPr/>
        </p:nvGrpSpPr>
        <p:grpSpPr>
          <a:xfrm rot="0">
            <a:off x="755850" y="7948662"/>
            <a:ext cx="16605885" cy="451910"/>
            <a:chOff x="0" y="0"/>
            <a:chExt cx="22141180" cy="602546"/>
          </a:xfrm>
        </p:grpSpPr>
        <p:grpSp>
          <p:nvGrpSpPr>
            <p:cNvPr name="Group 79" id="79"/>
            <p:cNvGrpSpPr/>
            <p:nvPr/>
          </p:nvGrpSpPr>
          <p:grpSpPr>
            <a:xfrm rot="0">
              <a:off x="524764" y="0"/>
              <a:ext cx="21616416" cy="602546"/>
              <a:chOff x="0" y="0"/>
              <a:chExt cx="21616416" cy="602546"/>
            </a:xfrm>
          </p:grpSpPr>
          <p:sp>
            <p:nvSpPr>
              <p:cNvPr name="Freeform 80" id="80"/>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1" id="81"/>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name="Group 82" id="82"/>
            <p:cNvGrpSpPr/>
            <p:nvPr/>
          </p:nvGrpSpPr>
          <p:grpSpPr>
            <a:xfrm rot="0">
              <a:off x="0" y="164453"/>
              <a:ext cx="370790" cy="324441"/>
              <a:chOff x="0" y="0"/>
              <a:chExt cx="812800" cy="711200"/>
            </a:xfrm>
          </p:grpSpPr>
          <p:sp>
            <p:nvSpPr>
              <p:cNvPr name="Freeform 83" id="83"/>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84" id="84"/>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85" id="85"/>
          <p:cNvGrpSpPr/>
          <p:nvPr/>
        </p:nvGrpSpPr>
        <p:grpSpPr>
          <a:xfrm rot="0">
            <a:off x="755850" y="8524397"/>
            <a:ext cx="16605885" cy="451910"/>
            <a:chOff x="0" y="0"/>
            <a:chExt cx="22141180" cy="602546"/>
          </a:xfrm>
        </p:grpSpPr>
        <p:grpSp>
          <p:nvGrpSpPr>
            <p:cNvPr name="Group 86" id="86"/>
            <p:cNvGrpSpPr/>
            <p:nvPr/>
          </p:nvGrpSpPr>
          <p:grpSpPr>
            <a:xfrm rot="0">
              <a:off x="524764" y="0"/>
              <a:ext cx="21616416" cy="602546"/>
              <a:chOff x="0" y="0"/>
              <a:chExt cx="21616416" cy="602546"/>
            </a:xfrm>
          </p:grpSpPr>
          <p:sp>
            <p:nvSpPr>
              <p:cNvPr name="Freeform 87" id="87"/>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8" id="88"/>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name="Group 89" id="89"/>
            <p:cNvGrpSpPr/>
            <p:nvPr/>
          </p:nvGrpSpPr>
          <p:grpSpPr>
            <a:xfrm rot="0">
              <a:off x="0" y="164453"/>
              <a:ext cx="370790" cy="324441"/>
              <a:chOff x="0" y="0"/>
              <a:chExt cx="812800" cy="711200"/>
            </a:xfrm>
          </p:grpSpPr>
          <p:sp>
            <p:nvSpPr>
              <p:cNvPr name="Freeform 90" id="90"/>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3C61B6">
                      <a:alpha val="100000"/>
                    </a:srgbClr>
                  </a:gs>
                  <a:gs pos="100000">
                    <a:srgbClr val="121C36">
                      <a:alpha val="100000"/>
                    </a:srgbClr>
                  </a:gs>
                </a:gsLst>
                <a:path path="circle">
                  <a:fillToRect l="0" r="100000" t="0" b="100000"/>
                </a:path>
                <a:tileRect r="0" l="-100000" b="0" t="-100000"/>
              </a:gradFill>
            </p:spPr>
          </p:sp>
          <p:sp>
            <p:nvSpPr>
              <p:cNvPr name="TextBox 91" id="91"/>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DAHWeaDiLTo</dc:identifier>
  <dcterms:modified xsi:type="dcterms:W3CDTF">2011-08-01T06:04:30Z</dcterms:modified>
  <cp:revision>1</cp:revision>
  <dc:title>eMYAA Progress Update CEO - 01.10.2026</dc:title>
</cp:coreProperties>
</file>