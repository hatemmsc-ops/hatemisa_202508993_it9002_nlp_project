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solidFill>
                  <a:srgbClr val="121A2F"/>
                </a:solidFill>
              </a:rPr>
              <a:t>Website Traffic by Source, Since Launch</a:t>
            </a:r>
          </a:p>
        </c:rich>
      </c:tx>
      <c:layout/>
      <c:overlay val="0"/>
    </c:title>
    <c:autoTitleDeleted val="0"/>
    <c:plotArea>
      <c:barChart>
        <c:barDir val="col"/>
        <c:grouping val="clustered"/>
        <c:ser>
          <c:idx val="0"/>
          <c:order val="0"/>
          <c:tx>
            <c:strRef>
              <c:f>Sheet1!$B$1</c:f>
              <c:strCache>
                <c:ptCount val="1"/>
                <c:pt idx="0">
                  <c:v>Website sessions</c:v>
                </c:pt>
              </c:strCache>
            </c:strRef>
          </c:tx>
          <c:spPr>
            <a:solidFill>
              <a:srgbClr val="121A2F"/>
            </a:solidFill>
          </c:spPr>
          <c:cat>
            <c:strRef>
              <c:f>Sheet1!$A$2:$A$5</c:f>
              <c:strCache>
                <c:ptCount val="4"/>
                <c:pt idx="0">
                  <c:v>Paid (Google Ads)</c:v>
                </c:pt>
                <c:pt idx="1">
                  <c:v>Direct</c:v>
                </c:pt>
                <c:pt idx="2">
                  <c:v>Search</c:v>
                </c:pt>
                <c:pt idx="3">
                  <c:v>Referral</c:v>
                </c:pt>
              </c:strCache>
            </c:strRef>
          </c:cat>
          <c:val>
            <c:numRef>
              <c:f>Sheet1!$B$2:$B$5</c:f>
              <c:numCache>
                <c:formatCode>General</c:formatCode>
                <c:ptCount val="4"/>
                <c:pt idx="0">
                  <c:v>409</c:v>
                </c:pt>
                <c:pt idx="1">
                  <c:v>92</c:v>
                </c:pt>
                <c:pt idx="2">
                  <c:v>39</c:v>
                </c:pt>
                <c:pt idx="3">
                  <c:v>39</c:v>
                </c:pt>
              </c:numCache>
            </c:numRef>
          </c:val>
        </c:ser>
        <c:dLbls>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solidFill>
                  <a:srgbClr val="121A2F"/>
                </a:solidFill>
              </a:rPr>
              <a:t>Views by Content Type (%)</a:t>
            </a:r>
          </a:p>
        </c:rich>
      </c:tx>
      <c:layout/>
      <c:overlay val="0"/>
    </c:title>
    <c:autoTitleDeleted val="0"/>
    <c:plotArea>
      <c:barChart>
        <c:barDir val="col"/>
        <c:grouping val="clustered"/>
        <c:ser>
          <c:idx val="0"/>
          <c:order val="0"/>
          <c:tx>
            <c:strRef>
              <c:f>Sheet1!$B$1</c:f>
              <c:strCache>
                <c:ptCount val="1"/>
                <c:pt idx="0">
                  <c:v>Share of views</c:v>
                </c:pt>
              </c:strCache>
            </c:strRef>
          </c:tx>
          <c:spPr>
            <a:solidFill>
              <a:srgbClr val="121A2F"/>
            </a:solidFill>
          </c:spPr>
          <c:cat>
            <c:strRef>
              <c:f>Sheet1!$A$2:$A$4</c:f>
              <c:strCache>
                <c:ptCount val="3"/>
                <c:pt idx="0">
                  <c:v>Reels</c:v>
                </c:pt>
                <c:pt idx="1">
                  <c:v>Stories</c:v>
                </c:pt>
                <c:pt idx="2">
                  <c:v>Posts</c:v>
                </c:pt>
              </c:strCache>
            </c:strRef>
          </c:cat>
          <c:val>
            <c:numRef>
              <c:f>Sheet1!$B$2:$B$4</c:f>
              <c:numCache>
                <c:formatCode>General</c:formatCode>
                <c:ptCount val="3"/>
                <c:pt idx="0">
                  <c:v>73.3</c:v>
                </c:pt>
                <c:pt idx="1">
                  <c:v>25.9</c:v>
                </c:pt>
                <c:pt idx="2">
                  <c:v>0.7</c:v>
                </c:pt>
              </c:numCache>
            </c:numRef>
          </c:val>
        </c:ser>
        <c:dLbls>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solidFill>
                  <a:srgbClr val="121A2F"/>
                </a:solidFill>
              </a:rPr>
              <a:t>Interactions by Content Type (%)</a:t>
            </a:r>
          </a:p>
        </c:rich>
      </c:tx>
      <c:layout/>
      <c:overlay val="0"/>
    </c:title>
    <c:autoTitleDeleted val="0"/>
    <c:plotArea>
      <c:barChart>
        <c:barDir val="col"/>
        <c:grouping val="clustered"/>
        <c:ser>
          <c:idx val="0"/>
          <c:order val="0"/>
          <c:tx>
            <c:strRef>
              <c:f>Sheet1!$B$1</c:f>
              <c:strCache>
                <c:ptCount val="1"/>
                <c:pt idx="0">
                  <c:v>Share of interactions</c:v>
                </c:pt>
              </c:strCache>
            </c:strRef>
          </c:tx>
          <c:spPr>
            <a:solidFill>
              <a:srgbClr val="C9A84C"/>
            </a:solidFill>
          </c:spPr>
          <c:cat>
            <c:strRef>
              <c:f>Sheet1!$A$2:$A$4</c:f>
              <c:strCache>
                <c:ptCount val="3"/>
                <c:pt idx="0">
                  <c:v>Reels</c:v>
                </c:pt>
                <c:pt idx="1">
                  <c:v>Stories</c:v>
                </c:pt>
                <c:pt idx="2">
                  <c:v>Posts</c:v>
                </c:pt>
              </c:strCache>
            </c:strRef>
          </c:cat>
          <c:val>
            <c:numRef>
              <c:f>Sheet1!$B$2:$B$4</c:f>
              <c:numCache>
                <c:formatCode>General</c:formatCode>
                <c:ptCount val="3"/>
                <c:pt idx="0">
                  <c:v>89.5</c:v>
                </c:pt>
                <c:pt idx="1">
                  <c:v>3.8</c:v>
                </c:pt>
                <c:pt idx="2">
                  <c:v>6.8</c:v>
                </c:pt>
              </c:numCache>
            </c:numRef>
          </c:val>
        </c:ser>
        <c:dLbls>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solidFill>
                  <a:srgbClr val="121A2F"/>
                </a:solidFill>
              </a:rPr>
              <a:t>Follower Growth, Last 30 Days</a:t>
            </a:r>
          </a:p>
        </c:rich>
      </c:tx>
      <c:layout/>
      <c:overlay val="0"/>
    </c:title>
    <c:autoTitleDeleted val="0"/>
    <c:plotArea>
      <c:barChart>
        <c:barDir val="col"/>
        <c:grouping val="clustered"/>
        <c:ser>
          <c:idx val="0"/>
          <c:order val="0"/>
          <c:tx>
            <c:strRef>
              <c:f>Sheet1!$B$1</c:f>
              <c:strCache>
                <c:ptCount val="1"/>
                <c:pt idx="0">
                  <c:v>Followers</c:v>
                </c:pt>
              </c:strCache>
            </c:strRef>
          </c:tx>
          <c:spPr>
            <a:solidFill>
              <a:srgbClr val="121A2F"/>
            </a:solidFill>
          </c:spPr>
          <c:cat>
            <c:strRef>
              <c:f>Sheet1!$A$2:$A$3</c:f>
              <c:strCache>
                <c:ptCount val="2"/>
                <c:pt idx="0">
                  <c:v>30 days ago</c:v>
                </c:pt>
                <c:pt idx="1">
                  <c:v>Today</c:v>
                </c:pt>
              </c:strCache>
            </c:strRef>
          </c:cat>
          <c:val>
            <c:numRef>
              <c:f>Sheet1!$B$2:$B$3</c:f>
              <c:numCache>
                <c:formatCode>General</c:formatCode>
                <c:ptCount val="2"/>
                <c:pt idx="0">
                  <c:v>284</c:v>
                </c:pt>
                <c:pt idx="1">
                  <c:v>531</c:v>
                </c:pt>
              </c:numCache>
            </c:numRef>
          </c:val>
        </c:ser>
        <c:dLbls>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solidFill>
                  <a:srgbClr val="121A2F"/>
                </a:solidFill>
              </a:rPr>
              <a:t>English vs Arabic, Key Metrics</a:t>
            </a:r>
          </a:p>
        </c:rich>
      </c:tx>
      <c:layout/>
      <c:overlay val="0"/>
    </c:title>
    <c:autoTitleDeleted val="0"/>
    <c:plotArea>
      <c:barChart>
        <c:barDir val="col"/>
        <c:grouping val="clustered"/>
        <c:ser>
          <c:idx val="0"/>
          <c:order val="0"/>
          <c:tx>
            <c:strRef>
              <c:f>Sheet1!$B$1</c:f>
              <c:strCache>
                <c:ptCount val="1"/>
                <c:pt idx="0">
                  <c:v>English</c:v>
                </c:pt>
              </c:strCache>
            </c:strRef>
          </c:tx>
          <c:spPr>
            <a:solidFill>
              <a:srgbClr val="121A2F"/>
            </a:solidFill>
          </c:spPr>
          <c:cat>
            <c:strRef>
              <c:f>Sheet1!$A$2:$A$3</c:f>
              <c:strCache>
                <c:ptCount val="2"/>
                <c:pt idx="0">
                  <c:v>Sessions</c:v>
                </c:pt>
                <c:pt idx="1">
                  <c:v>Engagement Rate %</c:v>
                </c:pt>
              </c:strCache>
            </c:strRef>
          </c:cat>
          <c:val>
            <c:numRef>
              <c:f>Sheet1!$B$2:$B$3</c:f>
              <c:numCache>
                <c:formatCode>General</c:formatCode>
                <c:ptCount val="2"/>
                <c:pt idx="0">
                  <c:v>212</c:v>
                </c:pt>
                <c:pt idx="1">
                  <c:v>97.17</c:v>
                </c:pt>
              </c:numCache>
            </c:numRef>
          </c:val>
        </c:ser>
        <c:ser>
          <c:idx val="1"/>
          <c:order val="1"/>
          <c:tx>
            <c:strRef>
              <c:f>Sheet1!$C$1</c:f>
              <c:strCache>
                <c:ptCount val="1"/>
                <c:pt idx="0">
                  <c:v>Arabic</c:v>
                </c:pt>
              </c:strCache>
            </c:strRef>
          </c:tx>
          <c:spPr>
            <a:solidFill>
              <a:srgbClr val="C9A84C"/>
            </a:solidFill>
          </c:spPr>
          <c:cat>
            <c:strRef>
              <c:f>Sheet1!$A$2:$A$3</c:f>
              <c:strCache>
                <c:ptCount val="2"/>
                <c:pt idx="0">
                  <c:v>Sessions</c:v>
                </c:pt>
                <c:pt idx="1">
                  <c:v>Engagement Rate %</c:v>
                </c:pt>
              </c:strCache>
            </c:strRef>
          </c:cat>
          <c:val>
            <c:numRef>
              <c:f>Sheet1!$C$2:$C$3</c:f>
              <c:numCache>
                <c:formatCode>General</c:formatCode>
                <c:ptCount val="2"/>
                <c:pt idx="0">
                  <c:v>176</c:v>
                </c:pt>
                <c:pt idx="1">
                  <c:v>86.93</c:v>
                </c:pt>
              </c:numCache>
            </c:numRef>
          </c:val>
        </c:ser>
        <c:dLbls>
          <c:txPr>
            <a:bodyPr/>
            <a:lstStyle/>
            <a:p>
              <a:pPr>
                <a:defRPr sz="10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What We've Completed</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TESTING PHASE RECAP</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sp>
        <p:nvSpPr>
          <p:cNvPr id="8" name="TextBox 7"/>
          <p:cNvSpPr txBox="1"/>
          <p:nvPr/>
        </p:nvSpPr>
        <p:spPr>
          <a:xfrm>
            <a:off x="750000" y="1350000"/>
            <a:ext cx="16000000" cy="500000"/>
          </a:xfrm>
          <a:prstGeom prst="rect">
            <a:avLst/>
          </a:prstGeom>
          <a:noFill/>
        </p:spPr>
        <p:txBody>
          <a:bodyPr wrap="square">
            <a:spAutoFit/>
          </a:bodyPr>
          <a:lstStyle/>
          <a:p>
            <a:r>
              <a:rPr sz="1400" b="0" i="0">
                <a:solidFill>
                  <a:srgbClr val="5A6A85"/>
                </a:solidFill>
                <a:latin typeface="Calibri"/>
              </a:rPr>
              <a:t>In the last two weeks we launched a new acquisition channel and shipped new content. Both are already moving the numbers below.</a:t>
            </a:r>
          </a:p>
        </p:txBody>
      </p:sp>
      <p:sp>
        <p:nvSpPr>
          <p:cNvPr id="9" name="Rounded Rectangle 8"/>
          <p:cNvSpPr/>
          <p:nvPr/>
        </p:nvSpPr>
        <p:spPr>
          <a:xfrm>
            <a:off x="750000" y="2050000"/>
            <a:ext cx="3550000" cy="150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480</a:t>
            </a:r>
          </a:p>
          <a:p>
            <a:pPr algn="ctr"/>
            <a:r>
              <a:rPr sz="1100">
                <a:solidFill>
                  <a:srgbClr val="5A6A85"/>
                </a:solidFill>
                <a:latin typeface="Calibri"/>
              </a:rPr>
              <a:t>App Downloads
(+48 vs last pull)</a:t>
            </a:r>
          </a:p>
        </p:txBody>
      </p:sp>
      <p:sp>
        <p:nvSpPr>
          <p:cNvPr id="10" name="Rounded Rectangle 9"/>
          <p:cNvSpPr/>
          <p:nvPr/>
        </p:nvSpPr>
        <p:spPr>
          <a:xfrm>
            <a:off x="4450000" y="2050000"/>
            <a:ext cx="3550000" cy="150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587</a:t>
            </a:r>
          </a:p>
          <a:p>
            <a:pPr algn="ctr"/>
            <a:r>
              <a:rPr sz="1100">
                <a:solidFill>
                  <a:srgbClr val="5A6A85"/>
                </a:solidFill>
                <a:latin typeface="Calibri"/>
              </a:rPr>
              <a:t>Website Sessions
(69.7% from the new Google Ads)</a:t>
            </a:r>
          </a:p>
        </p:txBody>
      </p:sp>
      <p:sp>
        <p:nvSpPr>
          <p:cNvPr id="11" name="Rounded Rectangle 10"/>
          <p:cNvSpPr/>
          <p:nvPr/>
        </p:nvSpPr>
        <p:spPr>
          <a:xfrm>
            <a:off x="8150000" y="2050000"/>
            <a:ext cx="3550000" cy="150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2,116</a:t>
            </a:r>
          </a:p>
          <a:p>
            <a:pPr algn="ctr"/>
            <a:r>
              <a:rPr sz="1100">
                <a:solidFill>
                  <a:srgbClr val="5A6A85"/>
                </a:solidFill>
                <a:latin typeface="Calibri"/>
              </a:rPr>
              <a:t>Instagram Followers
(+321 since launch)</a:t>
            </a:r>
          </a:p>
        </p:txBody>
      </p:sp>
      <p:sp>
        <p:nvSpPr>
          <p:cNvPr id="12" name="Rounded Rectangle 11"/>
          <p:cNvSpPr/>
          <p:nvPr/>
        </p:nvSpPr>
        <p:spPr>
          <a:xfrm>
            <a:off x="11850000" y="2050000"/>
            <a:ext cx="3550000" cy="150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531</a:t>
            </a:r>
          </a:p>
          <a:p>
            <a:pPr algn="ctr"/>
            <a:r>
              <a:rPr sz="1100">
                <a:solidFill>
                  <a:srgbClr val="5A6A85"/>
                </a:solidFill>
                <a:latin typeface="Calibri"/>
              </a:rPr>
              <a:t>LinkedIn Followers
(+6,075% new followers, 30 days)</a:t>
            </a:r>
          </a:p>
        </p:txBody>
      </p:sp>
      <p:graphicFrame>
        <p:nvGraphicFramePr>
          <p:cNvPr id="13" name="Table 12"/>
          <p:cNvGraphicFramePr>
            <a:graphicFrameLocks noGrp="1"/>
          </p:cNvGraphicFramePr>
          <p:nvPr/>
        </p:nvGraphicFramePr>
        <p:xfrm>
          <a:off x="750000" y="3850000"/>
          <a:ext cx="16650000" cy="3800000"/>
        </p:xfrm>
        <a:graphic>
          <a:graphicData uri="http://schemas.openxmlformats.org/drawingml/2006/table">
            <a:tbl>
              <a:tblPr firstRow="1" bandRow="1">
                <a:tableStyleId>{5C22544A-7EE6-4342-B048-85BDC9FD1C3A}</a:tableStyleId>
              </a:tblPr>
              <a:tblGrid>
                <a:gridCol w="5550000"/>
                <a:gridCol w="5550000"/>
                <a:gridCol w="5550000"/>
              </a:tblGrid>
              <a:tr h="633333">
                <a:tc>
                  <a:txBody>
                    <a:bodyPr/>
                    <a:lstStyle/>
                    <a:p>
                      <a:r>
                        <a:rPr b="1" sz="1200">
                          <a:solidFill>
                            <a:srgbClr val="FFFFFF"/>
                          </a:solidFill>
                          <a:latin typeface="Calibri"/>
                        </a:rPr>
                        <a:t>Action</a:t>
                      </a:r>
                    </a:p>
                  </a:txBody>
                  <a:tcPr marL="100000" marR="100000">
                    <a:solidFill>
                      <a:srgbClr val="121A2F"/>
                    </a:solidFill>
                  </a:tcPr>
                </a:tc>
                <a:tc>
                  <a:txBody>
                    <a:bodyPr/>
                    <a:lstStyle/>
                    <a:p>
                      <a:r>
                        <a:rPr b="1" sz="1200">
                          <a:solidFill>
                            <a:srgbClr val="FFFFFF"/>
                          </a:solidFill>
                          <a:latin typeface="Calibri"/>
                        </a:rPr>
                        <a:t>Status</a:t>
                      </a:r>
                    </a:p>
                  </a:txBody>
                  <a:tcPr marL="100000" marR="100000">
                    <a:solidFill>
                      <a:srgbClr val="121A2F"/>
                    </a:solidFill>
                  </a:tcPr>
                </a:tc>
                <a:tc>
                  <a:txBody>
                    <a:bodyPr/>
                    <a:lstStyle/>
                    <a:p>
                      <a:r>
                        <a:rPr b="1" sz="1200">
                          <a:solidFill>
                            <a:srgbClr val="FFFFFF"/>
                          </a:solidFill>
                          <a:latin typeface="Calibri"/>
                        </a:rPr>
                        <a:t>Result</a:t>
                      </a:r>
                    </a:p>
                  </a:txBody>
                  <a:tcPr marL="100000" marR="100000">
                    <a:solidFill>
                      <a:srgbClr val="121A2F"/>
                    </a:solidFill>
                  </a:tcPr>
                </a:tc>
              </a:tr>
              <a:tr h="633333">
                <a:tc>
                  <a:txBody>
                    <a:bodyPr/>
                    <a:lstStyle/>
                    <a:p>
                      <a:r>
                        <a:rPr sz="1150">
                          <a:solidFill>
                            <a:srgbClr val="5A6A85"/>
                          </a:solidFill>
                          <a:latin typeface="Calibri"/>
                        </a:rPr>
                        <a:t>Google Ads &amp; LinkedIn campaign</a:t>
                      </a:r>
                    </a:p>
                  </a:txBody>
                  <a:tcPr marL="100000" marR="100000">
                    <a:solidFill>
                      <a:srgbClr val="FFFFFF"/>
                    </a:solidFill>
                  </a:tcPr>
                </a:tc>
                <a:tc>
                  <a:txBody>
                    <a:bodyPr/>
                    <a:lstStyle/>
                    <a:p>
                      <a:r>
                        <a:rPr sz="1150">
                          <a:solidFill>
                            <a:srgbClr val="5A6A85"/>
                          </a:solidFill>
                          <a:latin typeface="Calibri"/>
                        </a:rPr>
                        <a:t>Launched 22 Sep</a:t>
                      </a:r>
                    </a:p>
                  </a:txBody>
                  <a:tcPr marL="100000" marR="100000">
                    <a:solidFill>
                      <a:srgbClr val="FFFFFF"/>
                    </a:solidFill>
                  </a:tcPr>
                </a:tc>
                <a:tc>
                  <a:txBody>
                    <a:bodyPr/>
                    <a:lstStyle/>
                    <a:p>
                      <a:r>
                        <a:rPr sz="1150">
                          <a:solidFill>
                            <a:srgbClr val="5A6A85"/>
                          </a:solidFill>
                          <a:latin typeface="Calibri"/>
                        </a:rPr>
                        <a:t>Already 69.7% of all website traffic</a:t>
                      </a:r>
                    </a:p>
                  </a:txBody>
                  <a:tcPr marL="100000" marR="100000">
                    <a:solidFill>
                      <a:srgbClr val="FFFFFF"/>
                    </a:solidFill>
                  </a:tcPr>
                </a:tc>
              </a:tr>
              <a:tr h="633333">
                <a:tc>
                  <a:txBody>
                    <a:bodyPr/>
                    <a:lstStyle/>
                    <a:p>
                      <a:r>
                        <a:rPr sz="1150">
                          <a:solidFill>
                            <a:srgbClr val="5A6A85"/>
                          </a:solidFill>
                          <a:latin typeface="Calibri"/>
                        </a:rPr>
                        <a:t>Mention &amp; Win</a:t>
                      </a:r>
                    </a:p>
                  </a:txBody>
                  <a:tcPr marL="100000" marR="100000">
                    <a:solidFill>
                      <a:srgbClr val="F7F9FC"/>
                    </a:solidFill>
                  </a:tcPr>
                </a:tc>
                <a:tc>
                  <a:txBody>
                    <a:bodyPr/>
                    <a:lstStyle/>
                    <a:p>
                      <a:r>
                        <a:rPr sz="1150">
                          <a:solidFill>
                            <a:srgbClr val="5A6A85"/>
                          </a:solidFill>
                          <a:latin typeface="Calibri"/>
                        </a:rPr>
                        <a:t>Renewed, live 23 Sep to 20 Oct</a:t>
                      </a:r>
                    </a:p>
                  </a:txBody>
                  <a:tcPr marL="100000" marR="100000">
                    <a:solidFill>
                      <a:srgbClr val="F7F9FC"/>
                    </a:solidFill>
                  </a:tcPr>
                </a:tc>
                <a:tc>
                  <a:txBody>
                    <a:bodyPr/>
                    <a:lstStyle/>
                    <a:p>
                      <a:r>
                        <a:rPr sz="1150">
                          <a:solidFill>
                            <a:srgbClr val="5A6A85"/>
                          </a:solidFill>
                          <a:latin typeface="Calibri"/>
                        </a:rPr>
                        <a:t>26.2K views, 1,129 likes on the launch reel</a:t>
                      </a:r>
                    </a:p>
                  </a:txBody>
                  <a:tcPr marL="100000" marR="100000">
                    <a:solidFill>
                      <a:srgbClr val="F7F9FC"/>
                    </a:solidFill>
                  </a:tcPr>
                </a:tc>
              </a:tr>
              <a:tr h="633333">
                <a:tc>
                  <a:txBody>
                    <a:bodyPr/>
                    <a:lstStyle/>
                    <a:p>
                      <a:r>
                        <a:rPr sz="1150">
                          <a:solidFill>
                            <a:srgbClr val="5A6A85"/>
                          </a:solidFill>
                          <a:latin typeface="Calibri"/>
                        </a:rPr>
                        <a:t>Ali Sabeel video</a:t>
                      </a:r>
                    </a:p>
                  </a:txBody>
                  <a:tcPr marL="100000" marR="100000">
                    <a:solidFill>
                      <a:srgbClr val="FFFFFF"/>
                    </a:solidFill>
                  </a:tcPr>
                </a:tc>
                <a:tc>
                  <a:txBody>
                    <a:bodyPr/>
                    <a:lstStyle/>
                    <a:p>
                      <a:r>
                        <a:rPr sz="1150">
                          <a:solidFill>
                            <a:srgbClr val="5A6A85"/>
                          </a:solidFill>
                          <a:latin typeface="Calibri"/>
                        </a:rPr>
                        <a:t>Completed 18 Sep</a:t>
                      </a:r>
                    </a:p>
                  </a:txBody>
                  <a:tcPr marL="100000" marR="100000">
                    <a:solidFill>
                      <a:srgbClr val="FFFFFF"/>
                    </a:solidFill>
                  </a:tcPr>
                </a:tc>
                <a:tc>
                  <a:txBody>
                    <a:bodyPr/>
                    <a:lstStyle/>
                    <a:p>
                      <a:r>
                        <a:rPr sz="1150">
                          <a:solidFill>
                            <a:srgbClr val="5A6A85"/>
                          </a:solidFill>
                          <a:latin typeface="Calibri"/>
                        </a:rPr>
                        <a:t>1.3M views to date</a:t>
                      </a:r>
                    </a:p>
                  </a:txBody>
                  <a:tcPr marL="100000" marR="100000">
                    <a:solidFill>
                      <a:srgbClr val="FFFFFF"/>
                    </a:solidFill>
                  </a:tcPr>
                </a:tc>
              </a:tr>
              <a:tr h="633333">
                <a:tc>
                  <a:txBody>
                    <a:bodyPr/>
                    <a:lstStyle/>
                    <a:p>
                      <a:r>
                        <a:rPr sz="1150">
                          <a:solidFill>
                            <a:srgbClr val="5A6A85"/>
                          </a:solidFill>
                          <a:latin typeface="Calibri"/>
                        </a:rPr>
                        <a:t>New "How To" video (human presenter)</a:t>
                      </a:r>
                    </a:p>
                  </a:txBody>
                  <a:tcPr marL="100000" marR="100000">
                    <a:solidFill>
                      <a:srgbClr val="F7F9FC"/>
                    </a:solidFill>
                  </a:tcPr>
                </a:tc>
                <a:tc>
                  <a:txBody>
                    <a:bodyPr/>
                    <a:lstStyle/>
                    <a:p>
                      <a:r>
                        <a:rPr sz="1150">
                          <a:solidFill>
                            <a:srgbClr val="5A6A85"/>
                          </a:solidFill>
                          <a:latin typeface="Calibri"/>
                        </a:rPr>
                        <a:t>Posted</a:t>
                      </a:r>
                    </a:p>
                  </a:txBody>
                  <a:tcPr marL="100000" marR="100000">
                    <a:solidFill>
                      <a:srgbClr val="F7F9FC"/>
                    </a:solidFill>
                  </a:tcPr>
                </a:tc>
                <a:tc>
                  <a:txBody>
                    <a:bodyPr/>
                    <a:lstStyle/>
                    <a:p>
                      <a:r>
                        <a:rPr sz="1150">
                          <a:solidFill>
                            <a:srgbClr val="5A6A85"/>
                          </a:solidFill>
                          <a:latin typeface="Calibri"/>
                        </a:rPr>
                        <a:t>319 views, 28 interactions</a:t>
                      </a:r>
                    </a:p>
                  </a:txBody>
                  <a:tcPr marL="100000" marR="100000">
                    <a:solidFill>
                      <a:srgbClr val="F7F9FC"/>
                    </a:solidFill>
                  </a:tcPr>
                </a:tc>
              </a:tr>
              <a:tr h="633335">
                <a:tc>
                  <a:txBody>
                    <a:bodyPr/>
                    <a:lstStyle/>
                    <a:p>
                      <a:r>
                        <a:rPr sz="1150">
                          <a:solidFill>
                            <a:srgbClr val="5A6A85"/>
                          </a:solidFill>
                          <a:latin typeface="Calibri"/>
                        </a:rPr>
                        <a:t>Abdulelah Al Harbi video</a:t>
                      </a:r>
                    </a:p>
                  </a:txBody>
                  <a:tcPr marL="100000" marR="100000">
                    <a:solidFill>
                      <a:srgbClr val="FFFFFF"/>
                    </a:solidFill>
                  </a:tcPr>
                </a:tc>
                <a:tc>
                  <a:txBody>
                    <a:bodyPr/>
                    <a:lstStyle/>
                    <a:p>
                      <a:r>
                        <a:rPr sz="1150">
                          <a:solidFill>
                            <a:srgbClr val="5A6A85"/>
                          </a:solidFill>
                          <a:latin typeface="Calibri"/>
                        </a:rPr>
                        <a:t>Posted</a:t>
                      </a:r>
                    </a:p>
                  </a:txBody>
                  <a:tcPr marL="100000" marR="100000">
                    <a:solidFill>
                      <a:srgbClr val="FFFFFF"/>
                    </a:solidFill>
                  </a:tcPr>
                </a:tc>
                <a:tc>
                  <a:txBody>
                    <a:bodyPr/>
                    <a:lstStyle/>
                    <a:p>
                      <a:r>
                        <a:rPr sz="1150">
                          <a:solidFill>
                            <a:srgbClr val="5A6A85"/>
                          </a:solidFill>
                          <a:latin typeface="Calibri"/>
                        </a:rPr>
                        <a:t>Live on Instagram</a:t>
                      </a:r>
                    </a:p>
                  </a:txBody>
                  <a:tcPr marL="100000" marR="100000">
                    <a:solidFill>
                      <a:srgbClr val="FFFFFF"/>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Google Ads &amp; LinkedIn: The Launch</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NEW CHANNEL</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sp>
        <p:nvSpPr>
          <p:cNvPr id="8" name="TextBox 7"/>
          <p:cNvSpPr txBox="1"/>
          <p:nvPr/>
        </p:nvSpPr>
        <p:spPr>
          <a:xfrm>
            <a:off x="750000" y="1350000"/>
            <a:ext cx="16000000" cy="700000"/>
          </a:xfrm>
          <a:prstGeom prst="rect">
            <a:avLst/>
          </a:prstGeom>
          <a:noFill/>
        </p:spPr>
        <p:txBody>
          <a:bodyPr wrap="square">
            <a:spAutoFit/>
          </a:bodyPr>
          <a:lstStyle/>
          <a:p>
            <a:r>
              <a:rPr sz="1350" b="0" i="0">
                <a:solidFill>
                  <a:srgbClr val="5A6A85"/>
                </a:solidFill>
                <a:latin typeface="Calibri"/>
              </a:rPr>
              <a:t>Launched 22 September as a testing phase: Google Search for Starter and Emerging investors, LinkedIn lead generation for Affluent investors. $30,000 campaign, September to December, managed by Ignite. Interest targeting covers Saudi Arabia and Riyadh; location is restricted to Saudi Arabia residents only.</a:t>
            </a:r>
          </a:p>
        </p:txBody>
      </p:sp>
      <p:graphicFrame>
        <p:nvGraphicFramePr>
          <p:cNvPr id="9" name="Chart 8"/>
          <p:cNvGraphicFramePr>
            <a:graphicFrameLocks noGrp="1"/>
          </p:cNvGraphicFramePr>
          <p:nvPr/>
        </p:nvGraphicFramePr>
        <p:xfrm>
          <a:off x="750000" y="2350000"/>
          <a:ext cx="7800000" cy="4200000"/>
        </p:xfrm>
        <a:graphic>
          <a:graphicData uri="http://schemas.openxmlformats.org/drawingml/2006/chart">
            <c:chart xmlns:c="http://schemas.openxmlformats.org/drawingml/2006/chart" r:id="rId2"/>
          </a:graphicData>
        </a:graphic>
      </p:graphicFrame>
      <p:sp>
        <p:nvSpPr>
          <p:cNvPr id="10" name="TextBox 9"/>
          <p:cNvSpPr txBox="1"/>
          <p:nvPr/>
        </p:nvSpPr>
        <p:spPr>
          <a:xfrm>
            <a:off x="8850000" y="2350000"/>
            <a:ext cx="8600000" cy="400000"/>
          </a:xfrm>
          <a:prstGeom prst="rect">
            <a:avLst/>
          </a:prstGeom>
          <a:noFill/>
        </p:spPr>
        <p:txBody>
          <a:bodyPr wrap="square">
            <a:spAutoFit/>
          </a:bodyPr>
          <a:lstStyle/>
          <a:p>
            <a:r>
              <a:rPr sz="1500" b="1" i="0">
                <a:solidFill>
                  <a:srgbClr val="121A2F"/>
                </a:solidFill>
                <a:latin typeface="Calibri"/>
              </a:rPr>
              <a:t>The Effect: Website Traffic</a:t>
            </a:r>
          </a:p>
        </p:txBody>
      </p:sp>
      <p:sp>
        <p:nvSpPr>
          <p:cNvPr id="11" name="Rounded Rectangle 10"/>
          <p:cNvSpPr/>
          <p:nvPr/>
        </p:nvSpPr>
        <p:spPr>
          <a:xfrm>
            <a:off x="8850000" y="2850000"/>
            <a:ext cx="4150000" cy="140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793%</a:t>
            </a:r>
          </a:p>
          <a:p>
            <a:pPr algn="ctr"/>
            <a:r>
              <a:rPr sz="1100">
                <a:solidFill>
                  <a:srgbClr val="5A6A85"/>
                </a:solidFill>
                <a:latin typeface="Calibri"/>
              </a:rPr>
              <a:t>Active users, week over week</a:t>
            </a:r>
          </a:p>
        </p:txBody>
      </p:sp>
      <p:sp>
        <p:nvSpPr>
          <p:cNvPr id="12" name="Rounded Rectangle 11"/>
          <p:cNvSpPr/>
          <p:nvPr/>
        </p:nvSpPr>
        <p:spPr>
          <a:xfrm>
            <a:off x="13150000" y="2850000"/>
            <a:ext cx="4300000" cy="140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558</a:t>
            </a:r>
          </a:p>
          <a:p>
            <a:pPr algn="ctr"/>
            <a:r>
              <a:rPr sz="1100">
                <a:solidFill>
                  <a:srgbClr val="5A6A85"/>
                </a:solidFill>
                <a:latin typeface="Calibri"/>
              </a:rPr>
              <a:t>New users driven to the site</a:t>
            </a:r>
          </a:p>
        </p:txBody>
      </p:sp>
      <p:sp>
        <p:nvSpPr>
          <p:cNvPr id="13" name="TextBox 12"/>
          <p:cNvSpPr txBox="1"/>
          <p:nvPr/>
        </p:nvSpPr>
        <p:spPr>
          <a:xfrm>
            <a:off x="8850000" y="4450000"/>
            <a:ext cx="8600000" cy="1900000"/>
          </a:xfrm>
          <a:prstGeom prst="rect">
            <a:avLst/>
          </a:prstGeom>
          <a:noFill/>
        </p:spPr>
        <p:txBody>
          <a:bodyPr wrap="square">
            <a:spAutoFit/>
          </a:bodyPr>
          <a:lstStyle/>
          <a:p>
            <a:r>
              <a:rPr sz="1250" b="0" i="1">
                <a:solidFill>
                  <a:srgbClr val="5A6A85"/>
                </a:solidFill>
                <a:latin typeface="Calibri"/>
              </a:rPr>
              <a:t>This is the direct line from the campaign to the business: the moment Google Ads went live, paid traffic overtook every other source combined, and total site activity jumped 793% in a single week.</a:t>
            </a:r>
          </a:p>
        </p:txBody>
      </p:sp>
      <p:pic>
        <p:nvPicPr>
          <p:cNvPr id="14" name="Picture 13" descr="1.png"/>
          <p:cNvPicPr>
            <a:picLocks noChangeAspect="1"/>
          </p:cNvPicPr>
          <p:nvPr/>
        </p:nvPicPr>
        <p:blipFill>
          <a:blip r:embed="rId3"/>
          <a:stretch>
            <a:fillRect/>
          </a:stretch>
        </p:blipFill>
        <p:spPr>
          <a:xfrm>
            <a:off x="9524825" y="6450000"/>
            <a:ext cx="7250349" cy="3200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New Video Content</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CONTENT SHIPPED</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sp>
        <p:nvSpPr>
          <p:cNvPr id="8" name="TextBox 7"/>
          <p:cNvSpPr txBox="1"/>
          <p:nvPr/>
        </p:nvSpPr>
        <p:spPr>
          <a:xfrm>
            <a:off x="750000" y="1350000"/>
            <a:ext cx="16000000" cy="500000"/>
          </a:xfrm>
          <a:prstGeom prst="rect">
            <a:avLst/>
          </a:prstGeom>
          <a:noFill/>
        </p:spPr>
        <p:txBody>
          <a:bodyPr wrap="square">
            <a:spAutoFit/>
          </a:bodyPr>
          <a:lstStyle/>
          <a:p>
            <a:r>
              <a:rPr sz="1400" b="0" i="0">
                <a:solidFill>
                  <a:srgbClr val="5A6A85"/>
                </a:solidFill>
                <a:latin typeface="Calibri"/>
              </a:rPr>
              <a:t>Two new videos went live this cycle, both testing a more human, presenter-led format against our usual graphic style.</a:t>
            </a:r>
          </a:p>
        </p:txBody>
      </p:sp>
      <p:graphicFrame>
        <p:nvGraphicFramePr>
          <p:cNvPr id="9" name="Table 8"/>
          <p:cNvGraphicFramePr>
            <a:graphicFrameLocks noGrp="1"/>
          </p:cNvGraphicFramePr>
          <p:nvPr/>
        </p:nvGraphicFramePr>
        <p:xfrm>
          <a:off x="750000" y="2100000"/>
          <a:ext cx="16650000" cy="1700000"/>
        </p:xfrm>
        <a:graphic>
          <a:graphicData uri="http://schemas.openxmlformats.org/drawingml/2006/table">
            <a:tbl>
              <a:tblPr firstRow="1" bandRow="1">
                <a:tableStyleId>{5C22544A-7EE6-4342-B048-85BDC9FD1C3A}</a:tableStyleId>
              </a:tblPr>
              <a:tblGrid>
                <a:gridCol w="5550000"/>
                <a:gridCol w="5550000"/>
                <a:gridCol w="5550000"/>
              </a:tblGrid>
              <a:tr h="566666">
                <a:tc>
                  <a:txBody>
                    <a:bodyPr/>
                    <a:lstStyle/>
                    <a:p>
                      <a:r>
                        <a:rPr b="1" sz="1200">
                          <a:solidFill>
                            <a:srgbClr val="FFFFFF"/>
                          </a:solidFill>
                          <a:latin typeface="Calibri"/>
                        </a:rPr>
                        <a:t>Video</a:t>
                      </a:r>
                    </a:p>
                  </a:txBody>
                  <a:tcPr marL="100000" marR="100000">
                    <a:solidFill>
                      <a:srgbClr val="121A2F"/>
                    </a:solidFill>
                  </a:tcPr>
                </a:tc>
                <a:tc>
                  <a:txBody>
                    <a:bodyPr/>
                    <a:lstStyle/>
                    <a:p>
                      <a:r>
                        <a:rPr b="1" sz="1200">
                          <a:solidFill>
                            <a:srgbClr val="FFFFFF"/>
                          </a:solidFill>
                          <a:latin typeface="Calibri"/>
                        </a:rPr>
                        <a:t>Status</a:t>
                      </a:r>
                    </a:p>
                  </a:txBody>
                  <a:tcPr marL="100000" marR="100000">
                    <a:solidFill>
                      <a:srgbClr val="121A2F"/>
                    </a:solidFill>
                  </a:tcPr>
                </a:tc>
                <a:tc>
                  <a:txBody>
                    <a:bodyPr/>
                    <a:lstStyle/>
                    <a:p>
                      <a:r>
                        <a:rPr b="1" sz="1200">
                          <a:solidFill>
                            <a:srgbClr val="FFFFFF"/>
                          </a:solidFill>
                          <a:latin typeface="Calibri"/>
                        </a:rPr>
                        <a:t>Result</a:t>
                      </a:r>
                    </a:p>
                  </a:txBody>
                  <a:tcPr marL="100000" marR="100000">
                    <a:solidFill>
                      <a:srgbClr val="121A2F"/>
                    </a:solidFill>
                  </a:tcPr>
                </a:tc>
              </a:tr>
              <a:tr h="566666">
                <a:tc>
                  <a:txBody>
                    <a:bodyPr/>
                    <a:lstStyle/>
                    <a:p>
                      <a:r>
                        <a:rPr sz="1150">
                          <a:solidFill>
                            <a:srgbClr val="5A6A85"/>
                          </a:solidFill>
                          <a:latin typeface="Calibri"/>
                        </a:rPr>
                        <a:t>New "How To" video, human presenter</a:t>
                      </a:r>
                    </a:p>
                  </a:txBody>
                  <a:tcPr marL="100000" marR="100000">
                    <a:solidFill>
                      <a:srgbClr val="FFFFFF"/>
                    </a:solidFill>
                  </a:tcPr>
                </a:tc>
                <a:tc>
                  <a:txBody>
                    <a:bodyPr/>
                    <a:lstStyle/>
                    <a:p>
                      <a:r>
                        <a:rPr sz="1150">
                          <a:solidFill>
                            <a:srgbClr val="5A6A85"/>
                          </a:solidFill>
                          <a:latin typeface="Calibri"/>
                        </a:rPr>
                        <a:t>Posted</a:t>
                      </a:r>
                    </a:p>
                  </a:txBody>
                  <a:tcPr marL="100000" marR="100000">
                    <a:solidFill>
                      <a:srgbClr val="FFFFFF"/>
                    </a:solidFill>
                  </a:tcPr>
                </a:tc>
                <a:tc>
                  <a:txBody>
                    <a:bodyPr/>
                    <a:lstStyle/>
                    <a:p>
                      <a:r>
                        <a:rPr sz="1150">
                          <a:solidFill>
                            <a:srgbClr val="5A6A85"/>
                          </a:solidFill>
                          <a:latin typeface="Calibri"/>
                        </a:rPr>
                        <a:t>319 views, 28 interactions</a:t>
                      </a:r>
                    </a:p>
                  </a:txBody>
                  <a:tcPr marL="100000" marR="100000">
                    <a:solidFill>
                      <a:srgbClr val="FFFFFF"/>
                    </a:solidFill>
                  </a:tcPr>
                </a:tc>
              </a:tr>
              <a:tr h="566668">
                <a:tc>
                  <a:txBody>
                    <a:bodyPr/>
                    <a:lstStyle/>
                    <a:p>
                      <a:r>
                        <a:rPr sz="1150">
                          <a:solidFill>
                            <a:srgbClr val="5A6A85"/>
                          </a:solidFill>
                          <a:latin typeface="Calibri"/>
                        </a:rPr>
                        <a:t>Abdulelah Al Harbi</a:t>
                      </a:r>
                    </a:p>
                  </a:txBody>
                  <a:tcPr marL="100000" marR="100000">
                    <a:solidFill>
                      <a:srgbClr val="F7F9FC"/>
                    </a:solidFill>
                  </a:tcPr>
                </a:tc>
                <a:tc>
                  <a:txBody>
                    <a:bodyPr/>
                    <a:lstStyle/>
                    <a:p>
                      <a:r>
                        <a:rPr sz="1150">
                          <a:solidFill>
                            <a:srgbClr val="5A6A85"/>
                          </a:solidFill>
                          <a:latin typeface="Calibri"/>
                        </a:rPr>
                        <a:t>Posted</a:t>
                      </a:r>
                    </a:p>
                  </a:txBody>
                  <a:tcPr marL="100000" marR="100000">
                    <a:solidFill>
                      <a:srgbClr val="F7F9FC"/>
                    </a:solidFill>
                  </a:tcPr>
                </a:tc>
                <a:tc>
                  <a:txBody>
                    <a:bodyPr/>
                    <a:lstStyle/>
                    <a:p>
                      <a:r>
                        <a:rPr sz="1150">
                          <a:solidFill>
                            <a:srgbClr val="5A6A85"/>
                          </a:solidFill>
                          <a:latin typeface="Calibri"/>
                        </a:rPr>
                        <a:t>Live on Instagram, part of the Q3 to Q4 influencer rollout</a:t>
                      </a:r>
                    </a:p>
                  </a:txBody>
                  <a:tcPr marL="100000" marR="100000">
                    <a:solidFill>
                      <a:srgbClr val="F7F9FC"/>
                    </a:solidFill>
                  </a:tcPr>
                </a:tc>
              </a:tr>
            </a:tbl>
          </a:graphicData>
        </a:graphic>
      </p:graphicFrame>
      <p:sp>
        <p:nvSpPr>
          <p:cNvPr id="10" name="TextBox 9"/>
          <p:cNvSpPr txBox="1"/>
          <p:nvPr/>
        </p:nvSpPr>
        <p:spPr>
          <a:xfrm>
            <a:off x="750000" y="4200000"/>
            <a:ext cx="16000000" cy="400000"/>
          </a:xfrm>
          <a:prstGeom prst="rect">
            <a:avLst/>
          </a:prstGeom>
          <a:noFill/>
        </p:spPr>
        <p:txBody>
          <a:bodyPr wrap="square">
            <a:spAutoFit/>
          </a:bodyPr>
          <a:lstStyle/>
          <a:p>
            <a:r>
              <a:rPr sz="1600" b="1" i="0">
                <a:solidFill>
                  <a:srgbClr val="121A2F"/>
                </a:solidFill>
                <a:latin typeface="Calibri"/>
              </a:rPr>
              <a:t>Q3 to Q4 2026 Rollout: One Creator per Month</a:t>
            </a:r>
          </a:p>
        </p:txBody>
      </p:sp>
      <p:sp>
        <p:nvSpPr>
          <p:cNvPr id="11" name="TextBox 10"/>
          <p:cNvSpPr txBox="1"/>
          <p:nvPr/>
        </p:nvSpPr>
        <p:spPr>
          <a:xfrm>
            <a:off x="750000" y="4650000"/>
            <a:ext cx="16000000" cy="400000"/>
          </a:xfrm>
          <a:prstGeom prst="rect">
            <a:avLst/>
          </a:prstGeom>
          <a:noFill/>
        </p:spPr>
        <p:txBody>
          <a:bodyPr wrap="square">
            <a:spAutoFit/>
          </a:bodyPr>
          <a:lstStyle/>
          <a:p>
            <a:r>
              <a:rPr sz="1250" b="0" i="0">
                <a:solidFill>
                  <a:srgbClr val="5A6A85"/>
                </a:solidFill>
                <a:latin typeface="Calibri"/>
              </a:rPr>
              <a:t>Musheera and Ali Sabeel posted. Abdulelah Al Harbi now posted. Manal Talal in production (brief sent). Hamed Al Bloushi scheduled for November.</a:t>
            </a:r>
          </a:p>
        </p:txBody>
      </p:sp>
      <p:graphicFrame>
        <p:nvGraphicFramePr>
          <p:cNvPr id="12" name="Table 11"/>
          <p:cNvGraphicFramePr>
            <a:graphicFrameLocks noGrp="1"/>
          </p:cNvGraphicFramePr>
          <p:nvPr/>
        </p:nvGraphicFramePr>
        <p:xfrm>
          <a:off x="750000" y="5250000"/>
          <a:ext cx="16650000" cy="1100000"/>
        </p:xfrm>
        <a:graphic>
          <a:graphicData uri="http://schemas.openxmlformats.org/drawingml/2006/table">
            <a:tbl>
              <a:tblPr firstRow="1" bandRow="1">
                <a:tableStyleId>{5C22544A-7EE6-4342-B048-85BDC9FD1C3A}</a:tableStyleId>
              </a:tblPr>
              <a:tblGrid>
                <a:gridCol w="3330000"/>
                <a:gridCol w="3330000"/>
                <a:gridCol w="3330000"/>
                <a:gridCol w="3330000"/>
                <a:gridCol w="3330000"/>
              </a:tblGrid>
              <a:tr h="550000">
                <a:tc>
                  <a:txBody>
                    <a:bodyPr/>
                    <a:lstStyle/>
                    <a:p>
                      <a:r>
                        <a:rPr b="1" sz="1200">
                          <a:solidFill>
                            <a:srgbClr val="FFFFFF"/>
                          </a:solidFill>
                          <a:latin typeface="Calibri"/>
                        </a:rPr>
                        <a:t>Jul: Musheera</a:t>
                      </a:r>
                    </a:p>
                  </a:txBody>
                  <a:tcPr marL="100000" marR="100000">
                    <a:solidFill>
                      <a:srgbClr val="121A2F"/>
                    </a:solidFill>
                  </a:tcPr>
                </a:tc>
                <a:tc>
                  <a:txBody>
                    <a:bodyPr/>
                    <a:lstStyle/>
                    <a:p>
                      <a:r>
                        <a:rPr b="1" sz="1200">
                          <a:solidFill>
                            <a:srgbClr val="FFFFFF"/>
                          </a:solidFill>
                          <a:latin typeface="Calibri"/>
                        </a:rPr>
                        <a:t>Aug: Ali Sabeel</a:t>
                      </a:r>
                    </a:p>
                  </a:txBody>
                  <a:tcPr marL="100000" marR="100000">
                    <a:solidFill>
                      <a:srgbClr val="121A2F"/>
                    </a:solidFill>
                  </a:tcPr>
                </a:tc>
                <a:tc>
                  <a:txBody>
                    <a:bodyPr/>
                    <a:lstStyle/>
                    <a:p>
                      <a:r>
                        <a:rPr b="1" sz="1200">
                          <a:solidFill>
                            <a:srgbClr val="FFFFFF"/>
                          </a:solidFill>
                          <a:latin typeface="Calibri"/>
                        </a:rPr>
                        <a:t>Sep: Abdulelah</a:t>
                      </a:r>
                    </a:p>
                  </a:txBody>
                  <a:tcPr marL="100000" marR="100000">
                    <a:solidFill>
                      <a:srgbClr val="121A2F"/>
                    </a:solidFill>
                  </a:tcPr>
                </a:tc>
                <a:tc>
                  <a:txBody>
                    <a:bodyPr/>
                    <a:lstStyle/>
                    <a:p>
                      <a:r>
                        <a:rPr b="1" sz="1200">
                          <a:solidFill>
                            <a:srgbClr val="FFFFFF"/>
                          </a:solidFill>
                          <a:latin typeface="Calibri"/>
                        </a:rPr>
                        <a:t>Oct: Manal Talal</a:t>
                      </a:r>
                    </a:p>
                  </a:txBody>
                  <a:tcPr marL="100000" marR="100000">
                    <a:solidFill>
                      <a:srgbClr val="121A2F"/>
                    </a:solidFill>
                  </a:tcPr>
                </a:tc>
                <a:tc>
                  <a:txBody>
                    <a:bodyPr/>
                    <a:lstStyle/>
                    <a:p>
                      <a:r>
                        <a:rPr b="1" sz="1200">
                          <a:solidFill>
                            <a:srgbClr val="FFFFFF"/>
                          </a:solidFill>
                          <a:latin typeface="Calibri"/>
                        </a:rPr>
                        <a:t>Nov: Hamed Al Bloushi</a:t>
                      </a:r>
                    </a:p>
                  </a:txBody>
                  <a:tcPr marL="100000" marR="100000">
                    <a:solidFill>
                      <a:srgbClr val="121A2F"/>
                    </a:solidFill>
                  </a:tcPr>
                </a:tc>
              </a:tr>
              <a:tr h="550000">
                <a:tc>
                  <a:txBody>
                    <a:bodyPr/>
                    <a:lstStyle/>
                    <a:p>
                      <a:r>
                        <a:rPr sz="1150">
                          <a:solidFill>
                            <a:srgbClr val="5A6A85"/>
                          </a:solidFill>
                          <a:latin typeface="Calibri"/>
                        </a:rPr>
                        <a:t>Posted</a:t>
                      </a:r>
                    </a:p>
                  </a:txBody>
                  <a:tcPr marL="100000" marR="100000">
                    <a:solidFill>
                      <a:srgbClr val="FFFFFF"/>
                    </a:solidFill>
                  </a:tcPr>
                </a:tc>
                <a:tc>
                  <a:txBody>
                    <a:bodyPr/>
                    <a:lstStyle/>
                    <a:p>
                      <a:r>
                        <a:rPr sz="1150">
                          <a:solidFill>
                            <a:srgbClr val="5A6A85"/>
                          </a:solidFill>
                          <a:latin typeface="Calibri"/>
                        </a:rPr>
                        <a:t>Posted</a:t>
                      </a:r>
                    </a:p>
                  </a:txBody>
                  <a:tcPr marL="100000" marR="100000">
                    <a:solidFill>
                      <a:srgbClr val="FFFFFF"/>
                    </a:solidFill>
                  </a:tcPr>
                </a:tc>
                <a:tc>
                  <a:txBody>
                    <a:bodyPr/>
                    <a:lstStyle/>
                    <a:p>
                      <a:r>
                        <a:rPr sz="1150">
                          <a:solidFill>
                            <a:srgbClr val="5A6A85"/>
                          </a:solidFill>
                          <a:latin typeface="Calibri"/>
                        </a:rPr>
                        <a:t>Posted</a:t>
                      </a:r>
                    </a:p>
                  </a:txBody>
                  <a:tcPr marL="100000" marR="100000">
                    <a:solidFill>
                      <a:srgbClr val="FFFFFF"/>
                    </a:solidFill>
                  </a:tcPr>
                </a:tc>
                <a:tc>
                  <a:txBody>
                    <a:bodyPr/>
                    <a:lstStyle/>
                    <a:p>
                      <a:r>
                        <a:rPr sz="1150">
                          <a:solidFill>
                            <a:srgbClr val="5A6A85"/>
                          </a:solidFill>
                          <a:latin typeface="Calibri"/>
                        </a:rPr>
                        <a:t>In production</a:t>
                      </a:r>
                    </a:p>
                  </a:txBody>
                  <a:tcPr marL="100000" marR="100000">
                    <a:solidFill>
                      <a:srgbClr val="FFFFFF"/>
                    </a:solidFill>
                  </a:tcPr>
                </a:tc>
                <a:tc>
                  <a:txBody>
                    <a:bodyPr/>
                    <a:lstStyle/>
                    <a:p>
                      <a:r>
                        <a:rPr sz="1150">
                          <a:solidFill>
                            <a:srgbClr val="5A6A85"/>
                          </a:solidFill>
                          <a:latin typeface="Calibri"/>
                        </a:rPr>
                        <a:t>Scheduled</a:t>
                      </a:r>
                    </a:p>
                  </a:txBody>
                  <a:tcPr marL="100000" marR="100000">
                    <a:solidFill>
                      <a:srgbClr val="FFFFFF"/>
                    </a:solidFill>
                  </a:tcPr>
                </a:tc>
              </a:tr>
            </a:tbl>
          </a:graphicData>
        </a:graphic>
      </p:graphicFrame>
      <p:sp>
        <p:nvSpPr>
          <p:cNvPr id="13" name="TextBox 12"/>
          <p:cNvSpPr txBox="1"/>
          <p:nvPr/>
        </p:nvSpPr>
        <p:spPr>
          <a:xfrm>
            <a:off x="750000" y="6650000"/>
            <a:ext cx="16000000" cy="400000"/>
          </a:xfrm>
          <a:prstGeom prst="rect">
            <a:avLst/>
          </a:prstGeom>
          <a:noFill/>
        </p:spPr>
        <p:txBody>
          <a:bodyPr wrap="square">
            <a:spAutoFit/>
          </a:bodyPr>
          <a:lstStyle/>
          <a:p>
            <a:r>
              <a:rPr sz="1250" b="0" i="1">
                <a:solidFill>
                  <a:srgbClr val="5A6A85"/>
                </a:solidFill>
                <a:latin typeface="Calibri"/>
              </a:rPr>
              <a:t>Why this matters: human-led content is a deliberate test against our graphic-only posts, to see which format drives more trust and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Best Performing Content</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WHAT IS WORKING</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graphicFrame>
        <p:nvGraphicFramePr>
          <p:cNvPr id="8" name="Table 7"/>
          <p:cNvGraphicFramePr>
            <a:graphicFrameLocks noGrp="1"/>
          </p:cNvGraphicFramePr>
          <p:nvPr/>
        </p:nvGraphicFramePr>
        <p:xfrm>
          <a:off x="750000" y="1700000"/>
          <a:ext cx="8600000" cy="3800000"/>
        </p:xfrm>
        <a:graphic>
          <a:graphicData uri="http://schemas.openxmlformats.org/drawingml/2006/table">
            <a:tbl>
              <a:tblPr firstRow="1" bandRow="1">
                <a:tableStyleId>{5C22544A-7EE6-4342-B048-85BDC9FD1C3A}</a:tableStyleId>
              </a:tblPr>
              <a:tblGrid>
                <a:gridCol w="2866666"/>
                <a:gridCol w="2866666"/>
                <a:gridCol w="2866668"/>
              </a:tblGrid>
              <a:tr h="760000">
                <a:tc>
                  <a:txBody>
                    <a:bodyPr/>
                    <a:lstStyle/>
                    <a:p>
                      <a:r>
                        <a:rPr b="1" sz="1200">
                          <a:solidFill>
                            <a:srgbClr val="FFFFFF"/>
                          </a:solidFill>
                          <a:latin typeface="Calibri"/>
                        </a:rPr>
                        <a:t>Content</a:t>
                      </a:r>
                    </a:p>
                  </a:txBody>
                  <a:tcPr marL="100000" marR="100000">
                    <a:solidFill>
                      <a:srgbClr val="121A2F"/>
                    </a:solidFill>
                  </a:tcPr>
                </a:tc>
                <a:tc>
                  <a:txBody>
                    <a:bodyPr/>
                    <a:lstStyle/>
                    <a:p>
                      <a:r>
                        <a:rPr b="1" sz="1200">
                          <a:solidFill>
                            <a:srgbClr val="FFFFFF"/>
                          </a:solidFill>
                          <a:latin typeface="Calibri"/>
                        </a:rPr>
                        <a:t>Views</a:t>
                      </a:r>
                    </a:p>
                  </a:txBody>
                  <a:tcPr marL="100000" marR="100000">
                    <a:solidFill>
                      <a:srgbClr val="121A2F"/>
                    </a:solidFill>
                  </a:tcPr>
                </a:tc>
                <a:tc>
                  <a:txBody>
                    <a:bodyPr/>
                    <a:lstStyle/>
                    <a:p>
                      <a:r>
                        <a:rPr b="1" sz="1200">
                          <a:solidFill>
                            <a:srgbClr val="FFFFFF"/>
                          </a:solidFill>
                          <a:latin typeface="Calibri"/>
                        </a:rPr>
                        <a:t>Format</a:t>
                      </a:r>
                    </a:p>
                  </a:txBody>
                  <a:tcPr marL="100000" marR="100000">
                    <a:solidFill>
                      <a:srgbClr val="121A2F"/>
                    </a:solidFill>
                  </a:tcPr>
                </a:tc>
              </a:tr>
              <a:tr h="760000">
                <a:tc>
                  <a:txBody>
                    <a:bodyPr/>
                    <a:lstStyle/>
                    <a:p>
                      <a:r>
                        <a:rPr sz="1150">
                          <a:solidFill>
                            <a:srgbClr val="5A6A85"/>
                          </a:solidFill>
                          <a:latin typeface="Calibri"/>
                        </a:rPr>
                        <a:t>Musheera Reel</a:t>
                      </a:r>
                    </a:p>
                  </a:txBody>
                  <a:tcPr marL="100000" marR="100000">
                    <a:solidFill>
                      <a:srgbClr val="FFFFFF"/>
                    </a:solidFill>
                  </a:tcPr>
                </a:tc>
                <a:tc>
                  <a:txBody>
                    <a:bodyPr/>
                    <a:lstStyle/>
                    <a:p>
                      <a:r>
                        <a:rPr sz="1150">
                          <a:solidFill>
                            <a:srgbClr val="5A6A85"/>
                          </a:solidFill>
                          <a:latin typeface="Calibri"/>
                        </a:rPr>
                        <a:t>5.3M</a:t>
                      </a:r>
                    </a:p>
                  </a:txBody>
                  <a:tcPr marL="100000" marR="100000">
                    <a:solidFill>
                      <a:srgbClr val="FFFFFF"/>
                    </a:solidFill>
                  </a:tcPr>
                </a:tc>
                <a:tc>
                  <a:txBody>
                    <a:bodyPr/>
                    <a:lstStyle/>
                    <a:p>
                      <a:r>
                        <a:rPr sz="1150">
                          <a:solidFill>
                            <a:srgbClr val="5A6A85"/>
                          </a:solidFill>
                          <a:latin typeface="Calibri"/>
                        </a:rPr>
                        <a:t>Video, presenter-led</a:t>
                      </a:r>
                    </a:p>
                  </a:txBody>
                  <a:tcPr marL="100000" marR="100000">
                    <a:solidFill>
                      <a:srgbClr val="FFFFFF"/>
                    </a:solidFill>
                  </a:tcPr>
                </a:tc>
              </a:tr>
              <a:tr h="760000">
                <a:tc>
                  <a:txBody>
                    <a:bodyPr/>
                    <a:lstStyle/>
                    <a:p>
                      <a:r>
                        <a:rPr sz="1150">
                          <a:solidFill>
                            <a:srgbClr val="5A6A85"/>
                          </a:solidFill>
                          <a:latin typeface="Calibri"/>
                        </a:rPr>
                        <a:t>Ali Sabeel Reel</a:t>
                      </a:r>
                    </a:p>
                  </a:txBody>
                  <a:tcPr marL="100000" marR="100000">
                    <a:solidFill>
                      <a:srgbClr val="F7F9FC"/>
                    </a:solidFill>
                  </a:tcPr>
                </a:tc>
                <a:tc>
                  <a:txBody>
                    <a:bodyPr/>
                    <a:lstStyle/>
                    <a:p>
                      <a:r>
                        <a:rPr sz="1150">
                          <a:solidFill>
                            <a:srgbClr val="5A6A85"/>
                          </a:solidFill>
                          <a:latin typeface="Calibri"/>
                        </a:rPr>
                        <a:t>1.3M</a:t>
                      </a:r>
                    </a:p>
                  </a:txBody>
                  <a:tcPr marL="100000" marR="100000">
                    <a:solidFill>
                      <a:srgbClr val="F7F9FC"/>
                    </a:solidFill>
                  </a:tcPr>
                </a:tc>
                <a:tc>
                  <a:txBody>
                    <a:bodyPr/>
                    <a:lstStyle/>
                    <a:p>
                      <a:r>
                        <a:rPr sz="1150">
                          <a:solidFill>
                            <a:srgbClr val="5A6A85"/>
                          </a:solidFill>
                          <a:latin typeface="Calibri"/>
                        </a:rPr>
                        <a:t>Video, presenter-led</a:t>
                      </a:r>
                    </a:p>
                  </a:txBody>
                  <a:tcPr marL="100000" marR="100000">
                    <a:solidFill>
                      <a:srgbClr val="F7F9FC"/>
                    </a:solidFill>
                  </a:tcPr>
                </a:tc>
              </a:tr>
              <a:tr h="760000">
                <a:tc>
                  <a:txBody>
                    <a:bodyPr/>
                    <a:lstStyle/>
                    <a:p>
                      <a:r>
                        <a:rPr sz="1150">
                          <a:solidFill>
                            <a:srgbClr val="5A6A85"/>
                          </a:solidFill>
                          <a:latin typeface="Calibri"/>
                        </a:rPr>
                        <a:t>Mention &amp; Win $500</a:t>
                      </a:r>
                    </a:p>
                  </a:txBody>
                  <a:tcPr marL="100000" marR="100000">
                    <a:solidFill>
                      <a:srgbClr val="FFFFFF"/>
                    </a:solidFill>
                  </a:tcPr>
                </a:tc>
                <a:tc>
                  <a:txBody>
                    <a:bodyPr/>
                    <a:lstStyle/>
                    <a:p>
                      <a:r>
                        <a:rPr sz="1150">
                          <a:solidFill>
                            <a:srgbClr val="5A6A85"/>
                          </a:solidFill>
                          <a:latin typeface="Calibri"/>
                        </a:rPr>
                        <a:t>186K</a:t>
                      </a:r>
                    </a:p>
                  </a:txBody>
                  <a:tcPr marL="100000" marR="100000">
                    <a:solidFill>
                      <a:srgbClr val="FFFFFF"/>
                    </a:solidFill>
                  </a:tcPr>
                </a:tc>
                <a:tc>
                  <a:txBody>
                    <a:bodyPr/>
                    <a:lstStyle/>
                    <a:p>
                      <a:r>
                        <a:rPr sz="1150">
                          <a:solidFill>
                            <a:srgbClr val="5A6A85"/>
                          </a:solidFill>
                          <a:latin typeface="Calibri"/>
                        </a:rPr>
                        <a:t>Graphic, campaign</a:t>
                      </a:r>
                    </a:p>
                  </a:txBody>
                  <a:tcPr marL="100000" marR="100000">
                    <a:solidFill>
                      <a:srgbClr val="FFFFFF"/>
                    </a:solidFill>
                  </a:tcPr>
                </a:tc>
              </a:tr>
              <a:tr h="760000">
                <a:tc>
                  <a:txBody>
                    <a:bodyPr/>
                    <a:lstStyle/>
                    <a:p>
                      <a:r>
                        <a:rPr sz="1150">
                          <a:solidFill>
                            <a:srgbClr val="5A6A85"/>
                          </a:solidFill>
                          <a:latin typeface="Calibri"/>
                        </a:rPr>
                        <a:t>Saudi Market Size Infographic</a:t>
                      </a:r>
                    </a:p>
                  </a:txBody>
                  <a:tcPr marL="100000" marR="100000">
                    <a:solidFill>
                      <a:srgbClr val="F7F9FC"/>
                    </a:solidFill>
                  </a:tcPr>
                </a:tc>
                <a:tc>
                  <a:txBody>
                    <a:bodyPr/>
                    <a:lstStyle/>
                    <a:p>
                      <a:r>
                        <a:rPr sz="1150">
                          <a:solidFill>
                            <a:srgbClr val="5A6A85"/>
                          </a:solidFill>
                          <a:latin typeface="Calibri"/>
                        </a:rPr>
                        <a:t>515</a:t>
                      </a:r>
                    </a:p>
                  </a:txBody>
                  <a:tcPr marL="100000" marR="100000">
                    <a:solidFill>
                      <a:srgbClr val="F7F9FC"/>
                    </a:solidFill>
                  </a:tcPr>
                </a:tc>
                <a:tc>
                  <a:txBody>
                    <a:bodyPr/>
                    <a:lstStyle/>
                    <a:p>
                      <a:r>
                        <a:rPr sz="1150">
                          <a:solidFill>
                            <a:srgbClr val="5A6A85"/>
                          </a:solidFill>
                          <a:latin typeface="Calibri"/>
                        </a:rPr>
                        <a:t>Graphic, static</a:t>
                      </a:r>
                    </a:p>
                  </a:txBody>
                  <a:tcPr marL="100000" marR="100000">
                    <a:solidFill>
                      <a:srgbClr val="F7F9FC"/>
                    </a:solidFill>
                  </a:tcPr>
                </a:tc>
              </a:tr>
            </a:tbl>
          </a:graphicData>
        </a:graphic>
      </p:graphicFrame>
      <p:sp>
        <p:nvSpPr>
          <p:cNvPr id="9" name="TextBox 8"/>
          <p:cNvSpPr txBox="1"/>
          <p:nvPr/>
        </p:nvSpPr>
        <p:spPr>
          <a:xfrm>
            <a:off x="750000" y="5700000"/>
            <a:ext cx="8600000" cy="1400000"/>
          </a:xfrm>
          <a:prstGeom prst="rect">
            <a:avLst/>
          </a:prstGeom>
          <a:noFill/>
        </p:spPr>
        <p:txBody>
          <a:bodyPr wrap="square">
            <a:spAutoFit/>
          </a:bodyPr>
          <a:lstStyle/>
          <a:p>
            <a:r>
              <a:rPr sz="1300" b="0" i="0">
                <a:solidFill>
                  <a:srgbClr val="5A6A85"/>
                </a:solidFill>
                <a:latin typeface="Calibri"/>
              </a:rPr>
              <a:t>The pattern is consistent: presenter-led video reels outperform static graphics by orders of magnitude. This is why we are investing further in human-led formats, like this month’s new "How To" video.</a:t>
            </a:r>
          </a:p>
        </p:txBody>
      </p:sp>
      <p:pic>
        <p:nvPicPr>
          <p:cNvPr id="10" name="Picture 9" descr="grid_content.png"/>
          <p:cNvPicPr>
            <a:picLocks noChangeAspect="1"/>
          </p:cNvPicPr>
          <p:nvPr/>
        </p:nvPicPr>
        <p:blipFill>
          <a:blip r:embed="rId2"/>
          <a:stretch>
            <a:fillRect/>
          </a:stretch>
        </p:blipFill>
        <p:spPr>
          <a:xfrm>
            <a:off x="10082085" y="1700000"/>
            <a:ext cx="7035830" cy="5400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Instagram: Standout Channel</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CHANNEL PROGRESS</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sp>
        <p:nvSpPr>
          <p:cNvPr id="8" name="Rounded Rectangle 7"/>
          <p:cNvSpPr/>
          <p:nvPr/>
        </p:nvSpPr>
        <p:spPr>
          <a:xfrm>
            <a:off x="750000" y="1650000"/>
            <a:ext cx="3900000" cy="145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2,116</a:t>
            </a:r>
          </a:p>
          <a:p>
            <a:pPr algn="ctr"/>
            <a:r>
              <a:rPr sz="1100">
                <a:solidFill>
                  <a:srgbClr val="5A6A85"/>
                </a:solidFill>
                <a:latin typeface="Calibri"/>
              </a:rPr>
              <a:t>Followers</a:t>
            </a:r>
          </a:p>
        </p:txBody>
      </p:sp>
      <p:sp>
        <p:nvSpPr>
          <p:cNvPr id="9" name="Rounded Rectangle 8"/>
          <p:cNvSpPr/>
          <p:nvPr/>
        </p:nvSpPr>
        <p:spPr>
          <a:xfrm>
            <a:off x="4850000" y="1650000"/>
            <a:ext cx="3900000" cy="145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2,271,132</a:t>
            </a:r>
          </a:p>
          <a:p>
            <a:pPr algn="ctr"/>
            <a:r>
              <a:rPr sz="1100">
                <a:solidFill>
                  <a:srgbClr val="5A6A85"/>
                </a:solidFill>
                <a:latin typeface="Calibri"/>
              </a:rPr>
              <a:t>Total Views</a:t>
            </a:r>
          </a:p>
        </p:txBody>
      </p:sp>
      <p:sp>
        <p:nvSpPr>
          <p:cNvPr id="10" name="Rounded Rectangle 9"/>
          <p:cNvSpPr/>
          <p:nvPr/>
        </p:nvSpPr>
        <p:spPr>
          <a:xfrm>
            <a:off x="8950000" y="1650000"/>
            <a:ext cx="3900000" cy="145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8,311</a:t>
            </a:r>
          </a:p>
          <a:p>
            <a:pPr algn="ctr"/>
            <a:r>
              <a:rPr sz="1100">
                <a:solidFill>
                  <a:srgbClr val="5A6A85"/>
                </a:solidFill>
                <a:latin typeface="Calibri"/>
              </a:rPr>
              <a:t>Total Interactions</a:t>
            </a:r>
          </a:p>
        </p:txBody>
      </p:sp>
      <p:graphicFrame>
        <p:nvGraphicFramePr>
          <p:cNvPr id="11" name="Chart 10"/>
          <p:cNvGraphicFramePr>
            <a:graphicFrameLocks noGrp="1"/>
          </p:cNvGraphicFramePr>
          <p:nvPr/>
        </p:nvGraphicFramePr>
        <p:xfrm>
          <a:off x="750000" y="3350000"/>
          <a:ext cx="7800000" cy="4400000"/>
        </p:xfrm>
        <a:graphic>
          <a:graphicData uri="http://schemas.openxmlformats.org/drawingml/2006/chart">
            <c:chart xmlns:c="http://schemas.openxmlformats.org/drawingml/2006/chart" r:id="rId2"/>
          </a:graphicData>
        </a:graphic>
      </p:graphicFrame>
      <p:graphicFrame>
        <p:nvGraphicFramePr>
          <p:cNvPr id="12" name="Chart 11"/>
          <p:cNvGraphicFramePr>
            <a:graphicFrameLocks noGrp="1"/>
          </p:cNvGraphicFramePr>
          <p:nvPr/>
        </p:nvGraphicFramePr>
        <p:xfrm>
          <a:off x="8950000" y="3350000"/>
          <a:ext cx="8500000" cy="4400000"/>
        </p:xfrm>
        <a:graphic>
          <a:graphicData uri="http://schemas.openxmlformats.org/drawingml/2006/chart">
            <c:chart xmlns:c="http://schemas.openxmlformats.org/drawingml/2006/chart" r:id="rId3"/>
          </a:graphicData>
        </a:graphic>
      </p:graphicFrame>
      <p:sp>
        <p:nvSpPr>
          <p:cNvPr id="13" name="TextBox 12"/>
          <p:cNvSpPr txBox="1"/>
          <p:nvPr/>
        </p:nvSpPr>
        <p:spPr>
          <a:xfrm>
            <a:off x="750000" y="7950000"/>
            <a:ext cx="16650000" cy="500000"/>
          </a:xfrm>
          <a:prstGeom prst="rect">
            <a:avLst/>
          </a:prstGeom>
          <a:noFill/>
        </p:spPr>
        <p:txBody>
          <a:bodyPr wrap="square">
            <a:spAutoFit/>
          </a:bodyPr>
          <a:lstStyle/>
          <a:p>
            <a:r>
              <a:rPr sz="1300" b="0" i="1">
                <a:solidFill>
                  <a:srgbClr val="5A6A85"/>
                </a:solidFill>
                <a:latin typeface="Calibri"/>
              </a:rPr>
              <a:t>Reels drive both the views and the interactions. Every format decision this quarter follows this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LinkedIn: Building Credibility</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CHANNEL PROGRESS</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sp>
        <p:nvSpPr>
          <p:cNvPr id="8" name="Rounded Rectangle 7"/>
          <p:cNvSpPr/>
          <p:nvPr/>
        </p:nvSpPr>
        <p:spPr>
          <a:xfrm>
            <a:off x="750000" y="1650000"/>
            <a:ext cx="3900000" cy="145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531</a:t>
            </a:r>
          </a:p>
          <a:p>
            <a:pPr algn="ctr"/>
            <a:r>
              <a:rPr sz="1100">
                <a:solidFill>
                  <a:srgbClr val="5A6A85"/>
                </a:solidFill>
                <a:latin typeface="Calibri"/>
              </a:rPr>
              <a:t>Followers</a:t>
            </a:r>
          </a:p>
        </p:txBody>
      </p:sp>
      <p:sp>
        <p:nvSpPr>
          <p:cNvPr id="9" name="Rounded Rectangle 8"/>
          <p:cNvSpPr/>
          <p:nvPr/>
        </p:nvSpPr>
        <p:spPr>
          <a:xfrm>
            <a:off x="4850000" y="1650000"/>
            <a:ext cx="3900000" cy="145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+247</a:t>
            </a:r>
          </a:p>
          <a:p>
            <a:pPr algn="ctr"/>
            <a:r>
              <a:rPr sz="1100">
                <a:solidFill>
                  <a:srgbClr val="5A6A85"/>
                </a:solidFill>
                <a:latin typeface="Calibri"/>
              </a:rPr>
              <a:t>New followers, last 30 days</a:t>
            </a:r>
          </a:p>
        </p:txBody>
      </p:sp>
      <p:sp>
        <p:nvSpPr>
          <p:cNvPr id="10" name="Rounded Rectangle 9"/>
          <p:cNvSpPr/>
          <p:nvPr/>
        </p:nvSpPr>
        <p:spPr>
          <a:xfrm>
            <a:off x="8950000" y="1650000"/>
            <a:ext cx="3900000" cy="145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559</a:t>
            </a:r>
          </a:p>
          <a:p>
            <a:pPr algn="ctr"/>
            <a:r>
              <a:rPr sz="1100">
                <a:solidFill>
                  <a:srgbClr val="5A6A85"/>
                </a:solidFill>
                <a:latin typeface="Calibri"/>
              </a:rPr>
              <a:t>Impressions, 13-27 Sep (+118%)</a:t>
            </a:r>
          </a:p>
        </p:txBody>
      </p:sp>
      <p:sp>
        <p:nvSpPr>
          <p:cNvPr id="11" name="Rounded Rectangle 10"/>
          <p:cNvSpPr/>
          <p:nvPr/>
        </p:nvSpPr>
        <p:spPr>
          <a:xfrm>
            <a:off x="13050000" y="1650000"/>
            <a:ext cx="3900000" cy="1450000"/>
          </a:xfrm>
          <a:prstGeom prst="roundRect">
            <a:avLst/>
          </a:prstGeom>
          <a:solidFill>
            <a:srgbClr val="F7F9FC"/>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wrap="square" tIns="120000" bIns="80000"/>
          <a:lstStyle/>
          <a:p>
            <a:pPr algn="ctr"/>
            <a:r>
              <a:rPr sz="2600" b="1">
                <a:solidFill>
                  <a:srgbClr val="121A2F"/>
                </a:solidFill>
                <a:latin typeface="Calibri"/>
              </a:rPr>
              <a:t>28</a:t>
            </a:r>
          </a:p>
          <a:p>
            <a:pPr algn="ctr"/>
            <a:r>
              <a:rPr sz="1100">
                <a:solidFill>
                  <a:srgbClr val="5A6A85"/>
                </a:solidFill>
                <a:latin typeface="Calibri"/>
              </a:rPr>
              <a:t>Reactions, 13-27 Sep (+155%)</a:t>
            </a:r>
          </a:p>
        </p:txBody>
      </p:sp>
      <p:graphicFrame>
        <p:nvGraphicFramePr>
          <p:cNvPr id="12" name="Chart 11"/>
          <p:cNvGraphicFramePr>
            <a:graphicFrameLocks noGrp="1"/>
          </p:cNvGraphicFramePr>
          <p:nvPr/>
        </p:nvGraphicFramePr>
        <p:xfrm>
          <a:off x="750000" y="3350000"/>
          <a:ext cx="8000000" cy="4400000"/>
        </p:xfrm>
        <a:graphic>
          <a:graphicData uri="http://schemas.openxmlformats.org/drawingml/2006/chart">
            <c:chart xmlns:c="http://schemas.openxmlformats.org/drawingml/2006/chart" r:id="rId2"/>
          </a:graphicData>
        </a:graphic>
      </p:graphicFrame>
      <p:sp>
        <p:nvSpPr>
          <p:cNvPr id="13" name="TextBox 12"/>
          <p:cNvSpPr txBox="1"/>
          <p:nvPr/>
        </p:nvSpPr>
        <p:spPr>
          <a:xfrm>
            <a:off x="9100000" y="3550000"/>
            <a:ext cx="8350000" cy="4200000"/>
          </a:xfrm>
          <a:prstGeom prst="rect">
            <a:avLst/>
          </a:prstGeom>
          <a:noFill/>
        </p:spPr>
        <p:txBody>
          <a:bodyPr wrap="square">
            <a:spAutoFit/>
          </a:bodyPr>
          <a:lstStyle/>
          <a:p>
            <a:r>
              <a:rPr sz="1350" b="0" i="0">
                <a:solidFill>
                  <a:srgbClr val="5A6A85"/>
                </a:solidFill>
                <a:latin typeface="Calibri"/>
              </a:rPr>
              <a:t>LinkedIn is our credibility channel for the Affluent segment, per the BEC guidance to increase LinkedIn focus for trust and governance. The follower base nearly tripled in 30 days, and it is now also carrying the LinkedIn half of the new Google Ads and LinkedIn campaign, generating leads for Placement.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English Is Outperforming Arabic in Saudi</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THE FINDING</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sp>
        <p:nvSpPr>
          <p:cNvPr id="8" name="TextBox 7"/>
          <p:cNvSpPr txBox="1"/>
          <p:nvPr/>
        </p:nvSpPr>
        <p:spPr>
          <a:xfrm>
            <a:off x="750000" y="1350000"/>
            <a:ext cx="16000000" cy="500000"/>
          </a:xfrm>
          <a:prstGeom prst="rect">
            <a:avLst/>
          </a:prstGeom>
          <a:noFill/>
        </p:spPr>
        <p:txBody>
          <a:bodyPr wrap="square">
            <a:spAutoFit/>
          </a:bodyPr>
          <a:lstStyle/>
          <a:p>
            <a:r>
              <a:rPr sz="1400" b="1" i="0">
                <a:solidFill>
                  <a:srgbClr val="121A2F"/>
                </a:solidFill>
                <a:latin typeface="Calibri"/>
              </a:rPr>
              <a:t>In testing, the English version of the Google Ads campaign is ahead of the Arabic version on every measured metric.</a:t>
            </a:r>
          </a:p>
        </p:txBody>
      </p:sp>
      <p:graphicFrame>
        <p:nvGraphicFramePr>
          <p:cNvPr id="9" name="Table 8"/>
          <p:cNvGraphicFramePr>
            <a:graphicFrameLocks noGrp="1"/>
          </p:cNvGraphicFramePr>
          <p:nvPr/>
        </p:nvGraphicFramePr>
        <p:xfrm>
          <a:off x="750000" y="2100000"/>
          <a:ext cx="8300000" cy="4900000"/>
        </p:xfrm>
        <a:graphic>
          <a:graphicData uri="http://schemas.openxmlformats.org/drawingml/2006/table">
            <a:tbl>
              <a:tblPr firstRow="1" bandRow="1">
                <a:tableStyleId>{5C22544A-7EE6-4342-B048-85BDC9FD1C3A}</a:tableStyleId>
              </a:tblPr>
              <a:tblGrid>
                <a:gridCol w="2766666"/>
                <a:gridCol w="2766666"/>
                <a:gridCol w="2766668"/>
              </a:tblGrid>
              <a:tr h="700000">
                <a:tc>
                  <a:txBody>
                    <a:bodyPr/>
                    <a:lstStyle/>
                    <a:p>
                      <a:r>
                        <a:rPr b="1" sz="1200">
                          <a:solidFill>
                            <a:srgbClr val="FFFFFF"/>
                          </a:solidFill>
                          <a:latin typeface="Calibri"/>
                        </a:rPr>
                        <a:t>Metric</a:t>
                      </a:r>
                    </a:p>
                  </a:txBody>
                  <a:tcPr marL="100000" marR="100000">
                    <a:solidFill>
                      <a:srgbClr val="121A2F"/>
                    </a:solidFill>
                  </a:tcPr>
                </a:tc>
                <a:tc>
                  <a:txBody>
                    <a:bodyPr/>
                    <a:lstStyle/>
                    <a:p>
                      <a:r>
                        <a:rPr b="1" sz="1200">
                          <a:solidFill>
                            <a:srgbClr val="FFFFFF"/>
                          </a:solidFill>
                          <a:latin typeface="Calibri"/>
                        </a:rPr>
                        <a:t>English</a:t>
                      </a:r>
                    </a:p>
                  </a:txBody>
                  <a:tcPr marL="100000" marR="100000">
                    <a:solidFill>
                      <a:srgbClr val="121A2F"/>
                    </a:solidFill>
                  </a:tcPr>
                </a:tc>
                <a:tc>
                  <a:txBody>
                    <a:bodyPr/>
                    <a:lstStyle/>
                    <a:p>
                      <a:r>
                        <a:rPr b="1" sz="1200">
                          <a:solidFill>
                            <a:srgbClr val="FFFFFF"/>
                          </a:solidFill>
                          <a:latin typeface="Calibri"/>
                        </a:rPr>
                        <a:t>Arabic</a:t>
                      </a:r>
                    </a:p>
                  </a:txBody>
                  <a:tcPr marL="100000" marR="100000">
                    <a:solidFill>
                      <a:srgbClr val="121A2F"/>
                    </a:solidFill>
                  </a:tcPr>
                </a:tc>
              </a:tr>
              <a:tr h="700000">
                <a:tc>
                  <a:txBody>
                    <a:bodyPr/>
                    <a:lstStyle/>
                    <a:p>
                      <a:r>
                        <a:rPr sz="1150">
                          <a:solidFill>
                            <a:srgbClr val="5A6A85"/>
                          </a:solidFill>
                          <a:latin typeface="Calibri"/>
                        </a:rPr>
                        <a:t>Sessions</a:t>
                      </a:r>
                    </a:p>
                  </a:txBody>
                  <a:tcPr marL="100000" marR="100000">
                    <a:solidFill>
                      <a:srgbClr val="FFFFFF"/>
                    </a:solidFill>
                  </a:tcPr>
                </a:tc>
                <a:tc>
                  <a:txBody>
                    <a:bodyPr/>
                    <a:lstStyle/>
                    <a:p>
                      <a:r>
                        <a:rPr sz="1150">
                          <a:solidFill>
                            <a:srgbClr val="5A6A85"/>
                          </a:solidFill>
                          <a:latin typeface="Calibri"/>
                        </a:rPr>
                        <a:t>212 (54.5%)</a:t>
                      </a:r>
                    </a:p>
                  </a:txBody>
                  <a:tcPr marL="100000" marR="100000">
                    <a:solidFill>
                      <a:srgbClr val="FFFFFF"/>
                    </a:solidFill>
                  </a:tcPr>
                </a:tc>
                <a:tc>
                  <a:txBody>
                    <a:bodyPr/>
                    <a:lstStyle/>
                    <a:p>
                      <a:r>
                        <a:rPr sz="1150">
                          <a:solidFill>
                            <a:srgbClr val="5A6A85"/>
                          </a:solidFill>
                          <a:latin typeface="Calibri"/>
                        </a:rPr>
                        <a:t>176 (45.2%)</a:t>
                      </a:r>
                    </a:p>
                  </a:txBody>
                  <a:tcPr marL="100000" marR="100000">
                    <a:solidFill>
                      <a:srgbClr val="FFFFFF"/>
                    </a:solidFill>
                  </a:tcPr>
                </a:tc>
              </a:tr>
              <a:tr h="700000">
                <a:tc>
                  <a:txBody>
                    <a:bodyPr/>
                    <a:lstStyle/>
                    <a:p>
                      <a:r>
                        <a:rPr sz="1150">
                          <a:solidFill>
                            <a:srgbClr val="5A6A85"/>
                          </a:solidFill>
                          <a:latin typeface="Calibri"/>
                        </a:rPr>
                        <a:t>Active users</a:t>
                      </a:r>
                    </a:p>
                  </a:txBody>
                  <a:tcPr marL="100000" marR="100000">
                    <a:solidFill>
                      <a:srgbClr val="F7F9FC"/>
                    </a:solidFill>
                  </a:tcPr>
                </a:tc>
                <a:tc>
                  <a:txBody>
                    <a:bodyPr/>
                    <a:lstStyle/>
                    <a:p>
                      <a:r>
                        <a:rPr sz="1150">
                          <a:solidFill>
                            <a:srgbClr val="5A6A85"/>
                          </a:solidFill>
                          <a:latin typeface="Calibri"/>
                        </a:rPr>
                        <a:t>208 (54.3%)</a:t>
                      </a:r>
                    </a:p>
                  </a:txBody>
                  <a:tcPr marL="100000" marR="100000">
                    <a:solidFill>
                      <a:srgbClr val="F7F9FC"/>
                    </a:solidFill>
                  </a:tcPr>
                </a:tc>
                <a:tc>
                  <a:txBody>
                    <a:bodyPr/>
                    <a:lstStyle/>
                    <a:p>
                      <a:r>
                        <a:rPr sz="1150">
                          <a:solidFill>
                            <a:srgbClr val="5A6A85"/>
                          </a:solidFill>
                          <a:latin typeface="Calibri"/>
                        </a:rPr>
                        <a:t>175 (45.7%)</a:t>
                      </a:r>
                    </a:p>
                  </a:txBody>
                  <a:tcPr marL="100000" marR="100000">
                    <a:solidFill>
                      <a:srgbClr val="F7F9FC"/>
                    </a:solidFill>
                  </a:tcPr>
                </a:tc>
              </a:tr>
              <a:tr h="700000">
                <a:tc>
                  <a:txBody>
                    <a:bodyPr/>
                    <a:lstStyle/>
                    <a:p>
                      <a:r>
                        <a:rPr sz="1150">
                          <a:solidFill>
                            <a:srgbClr val="5A6A85"/>
                          </a:solidFill>
                          <a:latin typeface="Calibri"/>
                        </a:rPr>
                        <a:t>Engaged sessions</a:t>
                      </a:r>
                    </a:p>
                  </a:txBody>
                  <a:tcPr marL="100000" marR="100000">
                    <a:solidFill>
                      <a:srgbClr val="FFFFFF"/>
                    </a:solidFill>
                  </a:tcPr>
                </a:tc>
                <a:tc>
                  <a:txBody>
                    <a:bodyPr/>
                    <a:lstStyle/>
                    <a:p>
                      <a:r>
                        <a:rPr sz="1150">
                          <a:solidFill>
                            <a:srgbClr val="5A6A85"/>
                          </a:solidFill>
                          <a:latin typeface="Calibri"/>
                        </a:rPr>
                        <a:t>206 (57.4%)</a:t>
                      </a:r>
                    </a:p>
                  </a:txBody>
                  <a:tcPr marL="100000" marR="100000">
                    <a:solidFill>
                      <a:srgbClr val="FFFFFF"/>
                    </a:solidFill>
                  </a:tcPr>
                </a:tc>
                <a:tc>
                  <a:txBody>
                    <a:bodyPr/>
                    <a:lstStyle/>
                    <a:p>
                      <a:r>
                        <a:rPr sz="1150">
                          <a:solidFill>
                            <a:srgbClr val="5A6A85"/>
                          </a:solidFill>
                          <a:latin typeface="Calibri"/>
                        </a:rPr>
                        <a:t>153 (42.6%)</a:t>
                      </a:r>
                    </a:p>
                  </a:txBody>
                  <a:tcPr marL="100000" marR="100000">
                    <a:solidFill>
                      <a:srgbClr val="FFFFFF"/>
                    </a:solidFill>
                  </a:tcPr>
                </a:tc>
              </a:tr>
              <a:tr h="700000">
                <a:tc>
                  <a:txBody>
                    <a:bodyPr/>
                    <a:lstStyle/>
                    <a:p>
                      <a:r>
                        <a:rPr sz="1150">
                          <a:solidFill>
                            <a:srgbClr val="5A6A85"/>
                          </a:solidFill>
                          <a:latin typeface="Calibri"/>
                        </a:rPr>
                        <a:t>Avg. engagement time</a:t>
                      </a:r>
                    </a:p>
                  </a:txBody>
                  <a:tcPr marL="100000" marR="100000">
                    <a:solidFill>
                      <a:srgbClr val="F7F9FC"/>
                    </a:solidFill>
                  </a:tcPr>
                </a:tc>
                <a:tc>
                  <a:txBody>
                    <a:bodyPr/>
                    <a:lstStyle/>
                    <a:p>
                      <a:r>
                        <a:rPr sz="1150">
                          <a:solidFill>
                            <a:srgbClr val="5A6A85"/>
                          </a:solidFill>
                          <a:latin typeface="Calibri"/>
                        </a:rPr>
                        <a:t>19s</a:t>
                      </a:r>
                    </a:p>
                  </a:txBody>
                  <a:tcPr marL="100000" marR="100000">
                    <a:solidFill>
                      <a:srgbClr val="F7F9FC"/>
                    </a:solidFill>
                  </a:tcPr>
                </a:tc>
                <a:tc>
                  <a:txBody>
                    <a:bodyPr/>
                    <a:lstStyle/>
                    <a:p>
                      <a:r>
                        <a:rPr sz="1150">
                          <a:solidFill>
                            <a:srgbClr val="5A6A85"/>
                          </a:solidFill>
                          <a:latin typeface="Calibri"/>
                        </a:rPr>
                        <a:t>16s</a:t>
                      </a:r>
                    </a:p>
                  </a:txBody>
                  <a:tcPr marL="100000" marR="100000">
                    <a:solidFill>
                      <a:srgbClr val="F7F9FC"/>
                    </a:solidFill>
                  </a:tcPr>
                </a:tc>
              </a:tr>
              <a:tr h="700000">
                <a:tc>
                  <a:txBody>
                    <a:bodyPr/>
                    <a:lstStyle/>
                    <a:p>
                      <a:r>
                        <a:rPr sz="1150">
                          <a:solidFill>
                            <a:srgbClr val="5A6A85"/>
                          </a:solidFill>
                          <a:latin typeface="Calibri"/>
                        </a:rPr>
                        <a:t>Events per session</a:t>
                      </a:r>
                    </a:p>
                  </a:txBody>
                  <a:tcPr marL="100000" marR="100000">
                    <a:solidFill>
                      <a:srgbClr val="FFFFFF"/>
                    </a:solidFill>
                  </a:tcPr>
                </a:tc>
                <a:tc>
                  <a:txBody>
                    <a:bodyPr/>
                    <a:lstStyle/>
                    <a:p>
                      <a:r>
                        <a:rPr sz="1150">
                          <a:solidFill>
                            <a:srgbClr val="5A6A85"/>
                          </a:solidFill>
                          <a:latin typeface="Calibri"/>
                        </a:rPr>
                        <a:t>6.49</a:t>
                      </a:r>
                    </a:p>
                  </a:txBody>
                  <a:tcPr marL="100000" marR="100000">
                    <a:solidFill>
                      <a:srgbClr val="FFFFFF"/>
                    </a:solidFill>
                  </a:tcPr>
                </a:tc>
                <a:tc>
                  <a:txBody>
                    <a:bodyPr/>
                    <a:lstStyle/>
                    <a:p>
                      <a:r>
                        <a:rPr sz="1150">
                          <a:solidFill>
                            <a:srgbClr val="5A6A85"/>
                          </a:solidFill>
                          <a:latin typeface="Calibri"/>
                        </a:rPr>
                        <a:t>5.44</a:t>
                      </a:r>
                    </a:p>
                  </a:txBody>
                  <a:tcPr marL="100000" marR="100000">
                    <a:solidFill>
                      <a:srgbClr val="FFFFFF"/>
                    </a:solidFill>
                  </a:tcPr>
                </a:tc>
              </a:tr>
              <a:tr h="700000">
                <a:tc>
                  <a:txBody>
                    <a:bodyPr/>
                    <a:lstStyle/>
                    <a:p>
                      <a:r>
                        <a:rPr sz="1150">
                          <a:solidFill>
                            <a:srgbClr val="5A6A85"/>
                          </a:solidFill>
                          <a:latin typeface="Calibri"/>
                        </a:rPr>
                        <a:t>Engagement rate</a:t>
                      </a:r>
                    </a:p>
                  </a:txBody>
                  <a:tcPr marL="100000" marR="100000">
                    <a:solidFill>
                      <a:srgbClr val="F7F9FC"/>
                    </a:solidFill>
                  </a:tcPr>
                </a:tc>
                <a:tc>
                  <a:txBody>
                    <a:bodyPr/>
                    <a:lstStyle/>
                    <a:p>
                      <a:r>
                        <a:rPr sz="1150">
                          <a:solidFill>
                            <a:srgbClr val="5A6A85"/>
                          </a:solidFill>
                          <a:latin typeface="Calibri"/>
                        </a:rPr>
                        <a:t>97.17%</a:t>
                      </a:r>
                    </a:p>
                  </a:txBody>
                  <a:tcPr marL="100000" marR="100000">
                    <a:solidFill>
                      <a:srgbClr val="F7F9FC"/>
                    </a:solidFill>
                  </a:tcPr>
                </a:tc>
                <a:tc>
                  <a:txBody>
                    <a:bodyPr/>
                    <a:lstStyle/>
                    <a:p>
                      <a:r>
                        <a:rPr sz="1150">
                          <a:solidFill>
                            <a:srgbClr val="5A6A85"/>
                          </a:solidFill>
                          <a:latin typeface="Calibri"/>
                        </a:rPr>
                        <a:t>86.93%</a:t>
                      </a:r>
                    </a:p>
                  </a:txBody>
                  <a:tcPr marL="100000" marR="100000">
                    <a:solidFill>
                      <a:srgbClr val="F7F9FC"/>
                    </a:solidFill>
                  </a:tcPr>
                </a:tc>
              </a:tr>
            </a:tbl>
          </a:graphicData>
        </a:graphic>
      </p:graphicFrame>
      <p:graphicFrame>
        <p:nvGraphicFramePr>
          <p:cNvPr id="10" name="Chart 9"/>
          <p:cNvGraphicFramePr>
            <a:graphicFrameLocks noGrp="1"/>
          </p:cNvGraphicFramePr>
          <p:nvPr/>
        </p:nvGraphicFramePr>
        <p:xfrm>
          <a:off x="9350000" y="2100000"/>
          <a:ext cx="8200000" cy="4900000"/>
        </p:xfrm>
        <a:graphic>
          <a:graphicData uri="http://schemas.openxmlformats.org/drawingml/2006/chart">
            <c:chart xmlns:c="http://schemas.openxmlformats.org/drawingml/2006/chart" r:id="rId2"/>
          </a:graphicData>
        </a:graphic>
      </p:graphicFrame>
      <p:sp>
        <p:nvSpPr>
          <p:cNvPr id="11" name="TextBox 10"/>
          <p:cNvSpPr txBox="1"/>
          <p:nvPr/>
        </p:nvSpPr>
        <p:spPr>
          <a:xfrm>
            <a:off x="750000" y="7250000"/>
            <a:ext cx="16650000" cy="700000"/>
          </a:xfrm>
          <a:prstGeom prst="rect">
            <a:avLst/>
          </a:prstGeom>
          <a:noFill/>
        </p:spPr>
        <p:txBody>
          <a:bodyPr wrap="square">
            <a:spAutoFit/>
          </a:bodyPr>
          <a:lstStyle/>
          <a:p>
            <a:r>
              <a:rPr sz="1250" b="0" i="1">
                <a:solidFill>
                  <a:srgbClr val="5A6A85"/>
                </a:solidFill>
                <a:latin typeface="Calibri"/>
              </a:rPr>
              <a:t>This is early data (since 23 Sep) and could reflect ad copy or targeting rather than a true audience preference. Recommendation: review the Arabic creative and targeting with Ignite before scaling spend.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30000"/>
          </a:xfrm>
          <a:prstGeom prst="rect">
            <a:avLst/>
          </a:prstGeom>
          <a:solidFill>
            <a:srgbClr val="121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0000" y="550000"/>
            <a:ext cx="60000" cy="700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0000" y="480000"/>
            <a:ext cx="14000000" cy="850000"/>
          </a:xfrm>
          <a:prstGeom prst="rect">
            <a:avLst/>
          </a:prstGeom>
          <a:noFill/>
        </p:spPr>
        <p:txBody>
          <a:bodyPr wrap="square">
            <a:spAutoFit/>
          </a:bodyPr>
          <a:lstStyle/>
          <a:p>
            <a:r>
              <a:rPr sz="3000" b="1">
                <a:solidFill>
                  <a:srgbClr val="121A2F"/>
                </a:solidFill>
                <a:latin typeface="Calibri"/>
              </a:rPr>
              <a:t>What's Next</a:t>
            </a:r>
          </a:p>
        </p:txBody>
      </p:sp>
      <p:sp>
        <p:nvSpPr>
          <p:cNvPr id="6" name="TextBox 5"/>
          <p:cNvSpPr txBox="1"/>
          <p:nvPr/>
        </p:nvSpPr>
        <p:spPr>
          <a:xfrm>
            <a:off x="750000" y="250000"/>
            <a:ext cx="10000000" cy="300000"/>
          </a:xfrm>
          <a:prstGeom prst="rect">
            <a:avLst/>
          </a:prstGeom>
          <a:noFill/>
        </p:spPr>
        <p:txBody>
          <a:bodyPr wrap="none">
            <a:spAutoFit/>
          </a:bodyPr>
          <a:lstStyle/>
          <a:p>
            <a:r>
              <a:rPr sz="1100" b="1">
                <a:solidFill>
                  <a:srgbClr val="C9A84C"/>
                </a:solidFill>
                <a:latin typeface="Calibri"/>
              </a:rPr>
              <a:t>MOVING FORWARD</a:t>
            </a:r>
          </a:p>
        </p:txBody>
      </p:sp>
      <p:sp>
        <p:nvSpPr>
          <p:cNvPr id="7" name="TextBox 6"/>
          <p:cNvSpPr txBox="1"/>
          <p:nvPr/>
        </p:nvSpPr>
        <p:spPr>
          <a:xfrm>
            <a:off x="750000" y="9950000"/>
            <a:ext cx="10000000" cy="280000"/>
          </a:xfrm>
          <a:prstGeom prst="rect">
            <a:avLst/>
          </a:prstGeom>
          <a:noFill/>
        </p:spPr>
        <p:txBody>
          <a:bodyPr wrap="none">
            <a:spAutoFit/>
          </a:bodyPr>
          <a:lstStyle/>
          <a:p>
            <a:r>
              <a:rPr sz="900">
                <a:solidFill>
                  <a:srgbClr val="5A6A85"/>
                </a:solidFill>
                <a:latin typeface="Calibri"/>
              </a:rPr>
              <a:t>eMYAA Trading Platform  |  Marketing Update for the CEO</a:t>
            </a:r>
          </a:p>
        </p:txBody>
      </p:sp>
      <p:graphicFrame>
        <p:nvGraphicFramePr>
          <p:cNvPr id="8" name="Table 7"/>
          <p:cNvGraphicFramePr>
            <a:graphicFrameLocks noGrp="1"/>
          </p:cNvGraphicFramePr>
          <p:nvPr/>
        </p:nvGraphicFramePr>
        <p:xfrm>
          <a:off x="750000" y="1900000"/>
          <a:ext cx="16650000" cy="4200000"/>
        </p:xfrm>
        <a:graphic>
          <a:graphicData uri="http://schemas.openxmlformats.org/drawingml/2006/table">
            <a:tbl>
              <a:tblPr firstRow="1" bandRow="1">
                <a:tableStyleId>{5C22544A-7EE6-4342-B048-85BDC9FD1C3A}</a:tableStyleId>
              </a:tblPr>
              <a:tblGrid>
                <a:gridCol w="5550000"/>
                <a:gridCol w="5550000"/>
                <a:gridCol w="5550000"/>
              </a:tblGrid>
              <a:tr h="700000">
                <a:tc>
                  <a:txBody>
                    <a:bodyPr/>
                    <a:lstStyle/>
                    <a:p>
                      <a:r>
                        <a:rPr b="1" sz="1200">
                          <a:solidFill>
                            <a:srgbClr val="FFFFFF"/>
                          </a:solidFill>
                          <a:latin typeface="Calibri"/>
                        </a:rPr>
                        <a:t>Item</a:t>
                      </a:r>
                    </a:p>
                  </a:txBody>
                  <a:tcPr marL="100000" marR="100000">
                    <a:solidFill>
                      <a:srgbClr val="121A2F"/>
                    </a:solidFill>
                  </a:tcPr>
                </a:tc>
                <a:tc>
                  <a:txBody>
                    <a:bodyPr/>
                    <a:lstStyle/>
                    <a:p>
                      <a:r>
                        <a:rPr b="1" sz="1200">
                          <a:solidFill>
                            <a:srgbClr val="FFFFFF"/>
                          </a:solidFill>
                          <a:latin typeface="Calibri"/>
                        </a:rPr>
                        <a:t>Timing</a:t>
                      </a:r>
                    </a:p>
                  </a:txBody>
                  <a:tcPr marL="100000" marR="100000">
                    <a:solidFill>
                      <a:srgbClr val="121A2F"/>
                    </a:solidFill>
                  </a:tcPr>
                </a:tc>
                <a:tc>
                  <a:txBody>
                    <a:bodyPr/>
                    <a:lstStyle/>
                    <a:p>
                      <a:r>
                        <a:rPr b="1" sz="1200">
                          <a:solidFill>
                            <a:srgbClr val="FFFFFF"/>
                          </a:solidFill>
                          <a:latin typeface="Calibri"/>
                        </a:rPr>
                        <a:t>Detail</a:t>
                      </a:r>
                    </a:p>
                  </a:txBody>
                  <a:tcPr marL="100000" marR="100000">
                    <a:solidFill>
                      <a:srgbClr val="121A2F"/>
                    </a:solidFill>
                  </a:tcPr>
                </a:tc>
              </a:tr>
              <a:tr h="700000">
                <a:tc>
                  <a:txBody>
                    <a:bodyPr/>
                    <a:lstStyle/>
                    <a:p>
                      <a:r>
                        <a:rPr sz="1150">
                          <a:solidFill>
                            <a:srgbClr val="5A6A85"/>
                          </a:solidFill>
                          <a:latin typeface="Calibri"/>
                        </a:rPr>
                        <a:t>Google Ads &amp; LinkedIn</a:t>
                      </a:r>
                    </a:p>
                  </a:txBody>
                  <a:tcPr marL="100000" marR="100000">
                    <a:solidFill>
                      <a:srgbClr val="FFFFFF"/>
                    </a:solidFill>
                  </a:tcPr>
                </a:tc>
                <a:tc>
                  <a:txBody>
                    <a:bodyPr/>
                    <a:lstStyle/>
                    <a:p>
                      <a:r>
                        <a:rPr sz="1150">
                          <a:solidFill>
                            <a:srgbClr val="5A6A85"/>
                          </a:solidFill>
                          <a:latin typeface="Calibri"/>
                        </a:rPr>
                        <a:t>Sep to Dec</a:t>
                      </a:r>
                    </a:p>
                  </a:txBody>
                  <a:tcPr marL="100000" marR="100000">
                    <a:solidFill>
                      <a:srgbClr val="FFFFFF"/>
                    </a:solidFill>
                  </a:tcPr>
                </a:tc>
                <a:tc>
                  <a:txBody>
                    <a:bodyPr/>
                    <a:lstStyle/>
                    <a:p>
                      <a:r>
                        <a:rPr sz="1150">
                          <a:solidFill>
                            <a:srgbClr val="5A6A85"/>
                          </a:solidFill>
                          <a:latin typeface="Calibri"/>
                        </a:rPr>
                        <a:t>Scale from testing to full campaign; review Arabic creative first</a:t>
                      </a:r>
                    </a:p>
                  </a:txBody>
                  <a:tcPr marL="100000" marR="100000">
                    <a:solidFill>
                      <a:srgbClr val="FFFFFF"/>
                    </a:solidFill>
                  </a:tcPr>
                </a:tc>
              </a:tr>
              <a:tr h="700000">
                <a:tc>
                  <a:txBody>
                    <a:bodyPr/>
                    <a:lstStyle/>
                    <a:p>
                      <a:r>
                        <a:rPr sz="1150">
                          <a:solidFill>
                            <a:srgbClr val="5A6A85"/>
                          </a:solidFill>
                          <a:latin typeface="Calibri"/>
                        </a:rPr>
                        <a:t>Manal Talal video</a:t>
                      </a:r>
                    </a:p>
                  </a:txBody>
                  <a:tcPr marL="100000" marR="100000">
                    <a:solidFill>
                      <a:srgbClr val="F7F9FC"/>
                    </a:solidFill>
                  </a:tcPr>
                </a:tc>
                <a:tc>
                  <a:txBody>
                    <a:bodyPr/>
                    <a:lstStyle/>
                    <a:p>
                      <a:r>
                        <a:rPr sz="1150">
                          <a:solidFill>
                            <a:srgbClr val="5A6A85"/>
                          </a:solidFill>
                          <a:latin typeface="Calibri"/>
                        </a:rPr>
                        <a:t>Mid October</a:t>
                      </a:r>
                    </a:p>
                  </a:txBody>
                  <a:tcPr marL="100000" marR="100000">
                    <a:solidFill>
                      <a:srgbClr val="F7F9FC"/>
                    </a:solidFill>
                  </a:tcPr>
                </a:tc>
                <a:tc>
                  <a:txBody>
                    <a:bodyPr/>
                    <a:lstStyle/>
                    <a:p>
                      <a:r>
                        <a:rPr sz="1150">
                          <a:solidFill>
                            <a:srgbClr val="5A6A85"/>
                          </a:solidFill>
                          <a:latin typeface="Calibri"/>
                        </a:rPr>
                        <a:t>Brief sent, production started</a:t>
                      </a:r>
                    </a:p>
                  </a:txBody>
                  <a:tcPr marL="100000" marR="100000">
                    <a:solidFill>
                      <a:srgbClr val="F7F9FC"/>
                    </a:solidFill>
                  </a:tcPr>
                </a:tc>
              </a:tr>
              <a:tr h="700000">
                <a:tc>
                  <a:txBody>
                    <a:bodyPr/>
                    <a:lstStyle/>
                    <a:p>
                      <a:r>
                        <a:rPr sz="1150">
                          <a:solidFill>
                            <a:srgbClr val="5A6A85"/>
                          </a:solidFill>
                          <a:latin typeface="Calibri"/>
                        </a:rPr>
                        <a:t>Hamed Al Bloushi video</a:t>
                      </a:r>
                    </a:p>
                  </a:txBody>
                  <a:tcPr marL="100000" marR="100000">
                    <a:solidFill>
                      <a:srgbClr val="FFFFFF"/>
                    </a:solidFill>
                  </a:tcPr>
                </a:tc>
                <a:tc>
                  <a:txBody>
                    <a:bodyPr/>
                    <a:lstStyle/>
                    <a:p>
                      <a:r>
                        <a:rPr sz="1150">
                          <a:solidFill>
                            <a:srgbClr val="5A6A85"/>
                          </a:solidFill>
                          <a:latin typeface="Calibri"/>
                        </a:rPr>
                        <a:t>November</a:t>
                      </a:r>
                    </a:p>
                  </a:txBody>
                  <a:tcPr marL="100000" marR="100000">
                    <a:solidFill>
                      <a:srgbClr val="FFFFFF"/>
                    </a:solidFill>
                  </a:tcPr>
                </a:tc>
                <a:tc>
                  <a:txBody>
                    <a:bodyPr/>
                    <a:lstStyle/>
                    <a:p>
                      <a:r>
                        <a:rPr sz="1150">
                          <a:solidFill>
                            <a:srgbClr val="5A6A85"/>
                          </a:solidFill>
                          <a:latin typeface="Calibri"/>
                        </a:rPr>
                        <a:t>Scheduled, per the Q3 to Q4 rollout</a:t>
                      </a:r>
                    </a:p>
                  </a:txBody>
                  <a:tcPr marL="100000" marR="100000">
                    <a:solidFill>
                      <a:srgbClr val="FFFFFF"/>
                    </a:solidFill>
                  </a:tcPr>
                </a:tc>
              </a:tr>
              <a:tr h="700000">
                <a:tc>
                  <a:txBody>
                    <a:bodyPr/>
                    <a:lstStyle/>
                    <a:p>
                      <a:r>
                        <a:rPr sz="1150">
                          <a:solidFill>
                            <a:srgbClr val="5A6A85"/>
                          </a:solidFill>
                          <a:latin typeface="Calibri"/>
                        </a:rPr>
                        <a:t>Mention &amp; Win</a:t>
                      </a:r>
                    </a:p>
                  </a:txBody>
                  <a:tcPr marL="100000" marR="100000">
                    <a:solidFill>
                      <a:srgbClr val="F7F9FC"/>
                    </a:solidFill>
                  </a:tcPr>
                </a:tc>
                <a:tc>
                  <a:txBody>
                    <a:bodyPr/>
                    <a:lstStyle/>
                    <a:p>
                      <a:r>
                        <a:rPr sz="1150">
                          <a:solidFill>
                            <a:srgbClr val="5A6A85"/>
                          </a:solidFill>
                          <a:latin typeface="Calibri"/>
                        </a:rPr>
                        <a:t>Through 20 October</a:t>
                      </a:r>
                    </a:p>
                  </a:txBody>
                  <a:tcPr marL="100000" marR="100000">
                    <a:solidFill>
                      <a:srgbClr val="F7F9FC"/>
                    </a:solidFill>
                  </a:tcPr>
                </a:tc>
                <a:tc>
                  <a:txBody>
                    <a:bodyPr/>
                    <a:lstStyle/>
                    <a:p>
                      <a:r>
                        <a:rPr sz="1150">
                          <a:solidFill>
                            <a:srgbClr val="5A6A85"/>
                          </a:solidFill>
                          <a:latin typeface="Calibri"/>
                        </a:rPr>
                        <a:t>Continues, GCC-wide, timed before salary days</a:t>
                      </a:r>
                    </a:p>
                  </a:txBody>
                  <a:tcPr marL="100000" marR="100000">
                    <a:solidFill>
                      <a:srgbClr val="F7F9FC"/>
                    </a:solidFill>
                  </a:tcPr>
                </a:tc>
              </a:tr>
              <a:tr h="700000">
                <a:tc>
                  <a:txBody>
                    <a:bodyPr/>
                    <a:lstStyle/>
                    <a:p>
                      <a:r>
                        <a:rPr sz="1150">
                          <a:solidFill>
                            <a:srgbClr val="5A6A85"/>
                          </a:solidFill>
                          <a:latin typeface="Calibri"/>
                        </a:rPr>
                        <a:t>Fresh KPI export</a:t>
                      </a:r>
                    </a:p>
                  </a:txBody>
                  <a:tcPr marL="100000" marR="100000">
                    <a:solidFill>
                      <a:srgbClr val="FFFFFF"/>
                    </a:solidFill>
                  </a:tcPr>
                </a:tc>
                <a:tc>
                  <a:txBody>
                    <a:bodyPr/>
                    <a:lstStyle/>
                    <a:p>
                      <a:r>
                        <a:rPr sz="1150">
                          <a:solidFill>
                            <a:srgbClr val="5A6A85"/>
                          </a:solidFill>
                          <a:latin typeface="Calibri"/>
                        </a:rPr>
                        <a:t>This week</a:t>
                      </a:r>
                    </a:p>
                  </a:txBody>
                  <a:tcPr marL="100000" marR="100000">
                    <a:solidFill>
                      <a:srgbClr val="FFFFFF"/>
                    </a:solidFill>
                  </a:tcPr>
                </a:tc>
                <a:tc>
                  <a:txBody>
                    <a:bodyPr/>
                    <a:lstStyle/>
                    <a:p>
                      <a:r>
                        <a:rPr sz="1150">
                          <a:solidFill>
                            <a:srgbClr val="5A6A85"/>
                          </a:solidFill>
                          <a:latin typeface="Calibri"/>
                        </a:rPr>
                        <a:t>Requested from Malek, to restore gross deposits reporting</a:t>
                      </a:r>
                    </a:p>
                  </a:txBody>
                  <a:tcPr marL="100000" marR="100000">
                    <a:solidFill>
                      <a:srgbClr val="FFFFFF"/>
                    </a:solidFill>
                  </a:tcPr>
                </a:tc>
              </a:tr>
            </a:tbl>
          </a:graphicData>
        </a:graphic>
      </p:graphicFrame>
      <p:sp>
        <p:nvSpPr>
          <p:cNvPr id="9" name="TextBox 8"/>
          <p:cNvSpPr txBox="1"/>
          <p:nvPr/>
        </p:nvSpPr>
        <p:spPr>
          <a:xfrm>
            <a:off x="750000" y="6400000"/>
            <a:ext cx="16650000" cy="1200000"/>
          </a:xfrm>
          <a:prstGeom prst="rect">
            <a:avLst/>
          </a:prstGeom>
          <a:noFill/>
        </p:spPr>
        <p:txBody>
          <a:bodyPr wrap="square">
            <a:spAutoFit/>
          </a:bodyPr>
          <a:lstStyle/>
          <a:p>
            <a:r>
              <a:rPr sz="1350" b="0" i="0">
                <a:solidFill>
                  <a:srgbClr val="5A6A85"/>
                </a:solidFill>
                <a:latin typeface="Calibri"/>
              </a:rPr>
              <a:t>The story so far: a new paid channel launched, it already drives most of our website traffic, and it is paired with a steady drumbeat of new content. The next phase is to scale what is working, fix what is not (the Arabic underperformance), and keep shipping one creator a month through year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