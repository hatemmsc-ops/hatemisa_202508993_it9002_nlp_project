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 snapToGrid="0" snapToObjects="1">
      <p:cViewPr>
        <p:scale>
          <a:sx n="76" d="100"/>
          <a:sy n="76" d="100"/>
        </p:scale>
        <p:origin x="71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121A2F"/>
                </a:solidFill>
              </a:rPr>
              <a:t>Instagram: Views by Content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Views %</c:v>
                </c:pt>
              </c:strCache>
            </c:strRef>
          </c:tx>
          <c:spPr>
            <a:solidFill>
              <a:srgbClr val="121A2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>
                    <a:solidFill>
                      <a:srgbClr val="121A2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Reels</c:v>
                </c:pt>
                <c:pt idx="1">
                  <c:v>Stories</c:v>
                </c:pt>
                <c:pt idx="2">
                  <c:v>Posts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73.3</c:v>
                </c:pt>
                <c:pt idx="1">
                  <c:v>25.9</c:v>
                </c:pt>
                <c:pt idx="2">
                  <c:v>0.7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8C6-7F42-80CF-468078FADD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121A2F"/>
                </a:solidFill>
              </a:rPr>
              <a:t>Instagram: Interactions by Content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Interactions %</c:v>
                </c:pt>
              </c:strCache>
            </c:strRef>
          </c:tx>
          <c:spPr>
            <a:solidFill>
              <a:srgbClr val="C9A84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>
                    <a:solidFill>
                      <a:srgbClr val="121A2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Reels</c:v>
                </c:pt>
                <c:pt idx="1">
                  <c:v>Stories</c:v>
                </c:pt>
                <c:pt idx="2">
                  <c:v>Posts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89.5</c:v>
                </c:pt>
                <c:pt idx="1">
                  <c:v>3.8</c:v>
                </c:pt>
                <c:pt idx="2">
                  <c:v>6.8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F94-C94F-9B83-4E36F4E600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121A2F"/>
                </a:solidFill>
              </a:rPr>
              <a:t>LinkedIn: Follower Growth (30 Days)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LinkedIn Followers</c:v>
                </c:pt>
              </c:strCache>
            </c:strRef>
          </c:tx>
          <c:spPr>
            <a:solidFill>
              <a:srgbClr val="1B284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>
                    <a:solidFill>
                      <a:srgbClr val="121A2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30 Days Ago</c:v>
                </c:pt>
                <c:pt idx="1">
                  <c:v>Today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284</c:v>
                </c:pt>
                <c:pt idx="1">
                  <c:v>531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BDF-7640-8327-A749FF8DD4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US" sz="1300" b="1">
                <a:solidFill>
                  <a:srgbClr val="121A2F"/>
                </a:solidFill>
              </a:rPr>
              <a:t>Website Traffic by Source, Since Launch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rgbClr val="121A2F"/>
              </a:solidFill>
            </c:spPr>
            <c:extLst>
              <c:ext xmlns:c16="http://schemas.microsoft.com/office/drawing/2014/chart" uri="{C3380CC4-5D6E-409C-BE32-E72D297353CC}">
                <c16:uniqueId val="{00000001-E147-5B41-B6B1-F75AE2A00E22}"/>
              </c:ext>
            </c:extLst>
          </c:dPt>
          <c:dPt>
            <c:idx val="1"/>
            <c:bubble3D val="0"/>
            <c:spPr>
              <a:solidFill>
                <a:srgbClr val="C9A84C"/>
              </a:solidFill>
            </c:spPr>
            <c:extLst>
              <c:ext xmlns:c16="http://schemas.microsoft.com/office/drawing/2014/chart" uri="{C3380CC4-5D6E-409C-BE32-E72D297353CC}">
                <c16:uniqueId val="{00000003-E147-5B41-B6B1-F75AE2A00E22}"/>
              </c:ext>
            </c:extLst>
          </c:dPt>
          <c:dPt>
            <c:idx val="2"/>
            <c:bubble3D val="0"/>
            <c:spPr>
              <a:solidFill>
                <a:srgbClr val="1B2845"/>
              </a:solidFill>
            </c:spPr>
            <c:extLst>
              <c:ext xmlns:c16="http://schemas.microsoft.com/office/drawing/2014/chart" uri="{C3380CC4-5D6E-409C-BE32-E72D297353CC}">
                <c16:uniqueId val="{00000005-E147-5B41-B6B1-F75AE2A00E22}"/>
              </c:ext>
            </c:extLst>
          </c:dPt>
          <c:dPt>
            <c:idx val="3"/>
            <c:bubble3D val="0"/>
            <c:spPr>
              <a:solidFill>
                <a:srgbClr val="8A94A8"/>
              </a:solidFill>
            </c:spPr>
            <c:extLst>
              <c:ext xmlns:c16="http://schemas.microsoft.com/office/drawing/2014/chart" uri="{C3380CC4-5D6E-409C-BE32-E72D297353CC}">
                <c16:uniqueId val="{00000007-E147-5B41-B6B1-F75AE2A00E22}"/>
              </c:ext>
            </c:extLst>
          </c:dPt>
          <c:cat>
            <c:strRef>
              <c:f>Sheet1!$A$2:$A$5</c:f>
              <c:strCache>
                <c:ptCount val="4"/>
                <c:pt idx="0">
                  <c:v>Paid (Google Ads)</c:v>
                </c:pt>
                <c:pt idx="1">
                  <c:v>Direct</c:v>
                </c:pt>
                <c:pt idx="2">
                  <c:v>Search</c:v>
                </c:pt>
                <c:pt idx="3">
                  <c:v>Referral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69.7</c:v>
                </c:pt>
                <c:pt idx="1">
                  <c:v>15.7</c:v>
                </c:pt>
                <c:pt idx="2">
                  <c:v>6.6</c:v>
                </c:pt>
                <c:pt idx="3">
                  <c:v>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47-5B41-B6B1-F75AE2A00E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121A2F"/>
                </a:solidFill>
              </a:rPr>
              <a:t>English vs Arabic, Key Metrics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English</c:v>
                </c:pt>
              </c:strCache>
            </c:strRef>
          </c:tx>
          <c:spPr>
            <a:solidFill>
              <a:srgbClr val="121A2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>
                    <a:solidFill>
                      <a:srgbClr val="121A2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Sessions</c:v>
                </c:pt>
                <c:pt idx="1">
                  <c:v>Engagement Rate %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212</c:v>
                </c:pt>
                <c:pt idx="1">
                  <c:v>97.17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82F-384E-96EC-71667F48D9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Arabic</c:v>
                </c:pt>
              </c:strCache>
            </c:strRef>
          </c:tx>
          <c:spPr>
            <a:solidFill>
              <a:srgbClr val="C9A84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>
                    <a:solidFill>
                      <a:srgbClr val="121A2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Sessions</c:v>
                </c:pt>
                <c:pt idx="1">
                  <c:v>Engagement Rate %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176</c:v>
                </c:pt>
                <c:pt idx="1">
                  <c:v>86.93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82F-384E-96EC-71667F48D9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01B3B"/>
              </a:gs>
              <a:gs pos="100000">
                <a:srgbClr val="22376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0000" cy="10287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00000" y="3600000"/>
            <a:ext cx="15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eMYAA MARKETING UPDATE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00000" y="4650000"/>
            <a:ext cx="1800000" cy="35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00000" y="4850000"/>
            <a:ext cx="14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7CEDE"/>
                </a:solidFill>
                <a:latin typeface="Calibri"/>
              </a:rPr>
              <a:t>Performance, Campaigns, Channel Activity, and Key Priorities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0000" y="86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01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0000" y="90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4A8"/>
                </a:solidFill>
                <a:latin typeface="Calibri"/>
              </a:rPr>
              <a:t>Internal Management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050000"/>
          </a:xfrm>
          <a:prstGeom prst="rect">
            <a:avLst/>
          </a:prstGeom>
          <a:gradFill rotWithShape="1">
            <a:gsLst>
              <a:gs pos="0">
                <a:srgbClr val="101B3B"/>
              </a:gs>
              <a:gs pos="100000">
                <a:srgbClr val="22376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0000"/>
            <a:ext cx="18288000" cy="24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0000" y="320000"/>
            <a:ext cx="1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000" y="650000"/>
            <a:ext cx="15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00000" y="9950000"/>
            <a:ext cx="7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D3748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000" y="995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4A8"/>
                </a:solidFill>
                <a:latin typeface="Calibri"/>
              </a:rPr>
              <a:t>eMYAA Trading Platform  |  Marketing Update  |  Internal Management 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0000" y="2050000"/>
            <a:ext cx="5700000" cy="35500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0000" y="2050000"/>
            <a:ext cx="5700000" cy="60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0000" y="2270000"/>
            <a:ext cx="52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Calibri"/>
              </a:rPr>
              <a:t>LAUNCHED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000" y="2610000"/>
            <a:ext cx="526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A2F"/>
                </a:solidFill>
                <a:latin typeface="Calibri"/>
              </a:rPr>
              <a:t>Google Ads &amp; LinkedIn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000" y="3350000"/>
            <a:ext cx="526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748"/>
                </a:solidFill>
                <a:latin typeface="Calibri"/>
              </a:rPr>
              <a:t>New paid channel went live 22 Sep, testing phase. Already 69.7% of website traffic.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0000" y="2050000"/>
            <a:ext cx="5700000" cy="35500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BA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50000" y="2050000"/>
            <a:ext cx="5700000" cy="60000"/>
          </a:xfrm>
          <a:prstGeom prst="rect">
            <a:avLst/>
          </a:prstGeom>
          <a:solidFill>
            <a:srgbClr val="1BA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70000" y="2270000"/>
            <a:ext cx="52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A97C"/>
                </a:solidFill>
                <a:latin typeface="Calibri"/>
              </a:rPr>
              <a:t>PERFORMING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0000" y="2610000"/>
            <a:ext cx="526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A2F"/>
                </a:solidFill>
                <a:latin typeface="Calibri"/>
              </a:rPr>
              <a:t>Instagram Remains the Standout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0000" y="3350000"/>
            <a:ext cx="526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748"/>
                </a:solidFill>
                <a:latin typeface="Calibri"/>
              </a:rPr>
              <a:t>2,116 followers, 2.27M all-time views; Reels drive 89.5% of interactions.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650000" y="2050000"/>
            <a:ext cx="5700000" cy="35500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BA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650000" y="2050000"/>
            <a:ext cx="5700000" cy="60000"/>
          </a:xfrm>
          <a:prstGeom prst="rect">
            <a:avLst/>
          </a:prstGeom>
          <a:solidFill>
            <a:srgbClr val="1BA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70000" y="2270000"/>
            <a:ext cx="52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A97C"/>
                </a:solidFill>
                <a:latin typeface="Calibri"/>
              </a:rPr>
              <a:t>GROWING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70000" y="2610000"/>
            <a:ext cx="526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A2F"/>
                </a:solidFill>
                <a:latin typeface="Calibri"/>
              </a:rPr>
              <a:t>LinkedIn Momentum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70000" y="3350000"/>
            <a:ext cx="526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748"/>
                </a:solidFill>
                <a:latin typeface="Calibri"/>
              </a:rPr>
              <a:t>531 followers, +247 in 30 days (+6,075%); impressions and reactions both up double digits.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0000" y="5880000"/>
            <a:ext cx="5700000" cy="35500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1B2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0000" y="5880000"/>
            <a:ext cx="5700000" cy="60000"/>
          </a:xfrm>
          <a:prstGeom prst="rect">
            <a:avLst/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0000" y="6100000"/>
            <a:ext cx="52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845"/>
                </a:solidFill>
                <a:latin typeface="Calibri"/>
              </a:rPr>
              <a:t>IN 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000" y="6440000"/>
            <a:ext cx="526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A2F"/>
                </a:solidFill>
                <a:latin typeface="Calibri"/>
              </a:rPr>
              <a:t>Content Pipeline on Track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000" y="7180000"/>
            <a:ext cx="526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748"/>
                </a:solidFill>
                <a:latin typeface="Calibri"/>
              </a:rPr>
              <a:t>How-To video and Abdulelah Al Harbi posted; Manal Talal in production for mid-October.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50000" y="5880000"/>
            <a:ext cx="5700000" cy="35500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650000" y="5880000"/>
            <a:ext cx="5700000" cy="60000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70000" y="6100000"/>
            <a:ext cx="52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53030"/>
                </a:solidFill>
                <a:latin typeface="Calibri"/>
              </a:rPr>
              <a:t>NEEDS ATTENTION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0000" y="6440000"/>
            <a:ext cx="526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A2F"/>
                </a:solidFill>
                <a:latin typeface="Calibri"/>
              </a:rPr>
              <a:t>Arabic Underperforming English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0000" y="7180000"/>
            <a:ext cx="526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748"/>
                </a:solidFill>
                <a:latin typeface="Calibri"/>
              </a:rPr>
              <a:t>Early Google Ads data: English leads on every metric, incl. 97% vs 87% engagement rate.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650000" y="5880000"/>
            <a:ext cx="5700000" cy="3550000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2650000" y="5880000"/>
            <a:ext cx="5700000" cy="60000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870000" y="6100000"/>
            <a:ext cx="526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53030"/>
                </a:solidFill>
                <a:latin typeface="Calibri"/>
              </a:rPr>
              <a:t>OPEN ITEM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70000" y="6440000"/>
            <a:ext cx="526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1A2F"/>
                </a:solidFill>
                <a:latin typeface="Calibri"/>
              </a:rPr>
              <a:t>Deposits Reporting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70000" y="7180000"/>
            <a:ext cx="526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D3748"/>
                </a:solidFill>
                <a:latin typeface="Calibri"/>
              </a:rPr>
              <a:t>Gross deposits confirmed by Malek directly ($12,206); no export file yet restores this as a tracked metric.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050000"/>
          </a:xfrm>
          <a:prstGeom prst="rect">
            <a:avLst/>
          </a:prstGeom>
          <a:gradFill rotWithShape="1">
            <a:gsLst>
              <a:gs pos="0">
                <a:srgbClr val="101B3B"/>
              </a:gs>
              <a:gs pos="100000">
                <a:srgbClr val="22376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0000"/>
            <a:ext cx="18288000" cy="24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0000" y="320000"/>
            <a:ext cx="1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000" y="650000"/>
            <a:ext cx="15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KPI Snapshot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00000" y="9950000"/>
            <a:ext cx="7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D3748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000" y="995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4A8"/>
                </a:solidFill>
                <a:latin typeface="Calibri"/>
              </a:rPr>
              <a:t>eMYAA Trading Platform  |  Marketing Update  |  Internal Management 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0000" y="2050000"/>
            <a:ext cx="5700000" cy="3550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000" y="2050000"/>
            <a:ext cx="5700000" cy="3550000"/>
          </a:xfrm>
          <a:prstGeom prst="rect">
            <a:avLst/>
          </a:prstGeom>
          <a:noFill/>
        </p:spPr>
        <p:txBody>
          <a:bodyPr wrap="square" tIns="80000" bIns="80000" anchor="ctr">
            <a:spAutoFit/>
          </a:bodyPr>
          <a:lstStyle/>
          <a:p>
            <a:pPr algn="ctr"/>
            <a:r>
              <a:rPr sz="2800" b="1">
                <a:solidFill>
                  <a:srgbClr val="121A2F"/>
                </a:solidFill>
                <a:latin typeface="Calibri"/>
              </a:rPr>
              <a:t>480</a:t>
            </a:r>
          </a:p>
          <a:p>
            <a:pPr algn="ctr"/>
            <a:r>
              <a:rPr sz="1100" b="1">
                <a:solidFill>
                  <a:srgbClr val="2D3748"/>
                </a:solidFill>
                <a:latin typeface="Calibri"/>
              </a:rPr>
              <a:t>App Downloads</a:t>
            </a:r>
          </a:p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vs 414 prior pull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50000" y="2050000"/>
            <a:ext cx="5700000" cy="3550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50000" y="2050000"/>
            <a:ext cx="5700000" cy="3550000"/>
          </a:xfrm>
          <a:prstGeom prst="rect">
            <a:avLst/>
          </a:prstGeom>
          <a:noFill/>
        </p:spPr>
        <p:txBody>
          <a:bodyPr wrap="square" tIns="80000" bIns="80000" anchor="ctr">
            <a:spAutoFit/>
          </a:bodyPr>
          <a:lstStyle/>
          <a:p>
            <a:pPr algn="ctr"/>
            <a:r>
              <a:rPr sz="2800" b="1">
                <a:solidFill>
                  <a:srgbClr val="121A2F"/>
                </a:solidFill>
                <a:latin typeface="Calibri"/>
              </a:rPr>
              <a:t>587</a:t>
            </a:r>
          </a:p>
          <a:p>
            <a:pPr algn="ctr"/>
            <a:r>
              <a:rPr sz="1100" b="1">
                <a:solidFill>
                  <a:srgbClr val="2D3748"/>
                </a:solidFill>
                <a:latin typeface="Calibri"/>
              </a:rPr>
              <a:t>Website Sessions</a:t>
            </a:r>
          </a:p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69.7% from Google Ads, since 22 Sep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650000" y="2050000"/>
            <a:ext cx="5700000" cy="3550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650000" y="2050000"/>
            <a:ext cx="5700000" cy="3550000"/>
          </a:xfrm>
          <a:prstGeom prst="rect">
            <a:avLst/>
          </a:prstGeom>
          <a:noFill/>
        </p:spPr>
        <p:txBody>
          <a:bodyPr wrap="square" tIns="80000" bIns="80000" anchor="ctr">
            <a:spAutoFit/>
          </a:bodyPr>
          <a:lstStyle/>
          <a:p>
            <a:pPr algn="ctr"/>
            <a:r>
              <a:rPr sz="2800" b="1">
                <a:solidFill>
                  <a:srgbClr val="121A2F"/>
                </a:solidFill>
                <a:latin typeface="Calibri"/>
              </a:rPr>
              <a:t>2,116</a:t>
            </a:r>
          </a:p>
          <a:p>
            <a:pPr algn="ctr"/>
            <a:r>
              <a:rPr sz="1100" b="1">
                <a:solidFill>
                  <a:srgbClr val="2D3748"/>
                </a:solidFill>
                <a:latin typeface="Calibri"/>
              </a:rPr>
              <a:t>Instagram Followers</a:t>
            </a:r>
          </a:p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all-time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0000" y="5880000"/>
            <a:ext cx="5700000" cy="3550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000" y="5880000"/>
            <a:ext cx="5700000" cy="3550000"/>
          </a:xfrm>
          <a:prstGeom prst="rect">
            <a:avLst/>
          </a:prstGeom>
          <a:noFill/>
        </p:spPr>
        <p:txBody>
          <a:bodyPr wrap="square" tIns="80000" bIns="80000" anchor="ctr">
            <a:spAutoFit/>
          </a:bodyPr>
          <a:lstStyle/>
          <a:p>
            <a:pPr algn="ctr"/>
            <a:r>
              <a:rPr sz="2800" b="1">
                <a:solidFill>
                  <a:srgbClr val="121A2F"/>
                </a:solidFill>
                <a:latin typeface="Calibri"/>
              </a:rPr>
              <a:t>531</a:t>
            </a:r>
          </a:p>
          <a:p>
            <a:pPr algn="ctr"/>
            <a:r>
              <a:rPr sz="1100" b="1">
                <a:solidFill>
                  <a:srgbClr val="2D3748"/>
                </a:solidFill>
                <a:latin typeface="Calibri"/>
              </a:rPr>
              <a:t>LinkedIn Followers</a:t>
            </a:r>
          </a:p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+247 in last 30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50000" y="5880000"/>
            <a:ext cx="5700000" cy="3550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50000" y="5880000"/>
            <a:ext cx="5700000" cy="3550000"/>
          </a:xfrm>
          <a:prstGeom prst="rect">
            <a:avLst/>
          </a:prstGeom>
          <a:noFill/>
        </p:spPr>
        <p:txBody>
          <a:bodyPr wrap="square" tIns="80000" bIns="80000" anchor="ctr">
            <a:spAutoFit/>
          </a:bodyPr>
          <a:lstStyle/>
          <a:p>
            <a:pPr algn="ctr"/>
            <a:r>
              <a:rPr sz="2800" b="1">
                <a:solidFill>
                  <a:srgbClr val="121A2F"/>
                </a:solidFill>
                <a:latin typeface="Calibri"/>
              </a:rPr>
              <a:t>69.7%</a:t>
            </a:r>
          </a:p>
          <a:p>
            <a:pPr algn="ctr"/>
            <a:r>
              <a:rPr sz="1100" b="1">
                <a:solidFill>
                  <a:srgbClr val="2D3748"/>
                </a:solidFill>
                <a:latin typeface="Calibri"/>
              </a:rPr>
              <a:t>Paid Traffic Share</a:t>
            </a:r>
          </a:p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of 587 tracked sessions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650000" y="5880000"/>
            <a:ext cx="5700000" cy="3550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650000" y="5880000"/>
            <a:ext cx="5700000" cy="3550000"/>
          </a:xfrm>
          <a:prstGeom prst="rect">
            <a:avLst/>
          </a:prstGeom>
          <a:noFill/>
        </p:spPr>
        <p:txBody>
          <a:bodyPr wrap="square" tIns="80000" bIns="80000" anchor="ctr">
            <a:spAutoFit/>
          </a:bodyPr>
          <a:lstStyle/>
          <a:p>
            <a:pPr algn="ctr"/>
            <a:r>
              <a:rPr sz="2800" b="1">
                <a:solidFill>
                  <a:srgbClr val="121A2F"/>
                </a:solidFill>
                <a:latin typeface="Calibri"/>
              </a:rPr>
              <a:t>97.2%</a:t>
            </a:r>
          </a:p>
          <a:p>
            <a:pPr algn="ctr"/>
            <a:r>
              <a:rPr sz="1100" b="1">
                <a:solidFill>
                  <a:srgbClr val="2D3748"/>
                </a:solidFill>
                <a:latin typeface="Calibri"/>
              </a:rPr>
              <a:t>Engagement Rate, EN Ads</a:t>
            </a:r>
          </a:p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vs 86.9% Arabic, since 23 Sep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700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050000"/>
          </a:xfrm>
          <a:prstGeom prst="rect">
            <a:avLst/>
          </a:prstGeom>
          <a:gradFill rotWithShape="1">
            <a:gsLst>
              <a:gs pos="0">
                <a:srgbClr val="101B3B"/>
              </a:gs>
              <a:gs pos="100000">
                <a:srgbClr val="22376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0000"/>
            <a:ext cx="18288000" cy="24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0000" y="320000"/>
            <a:ext cx="1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000" y="650000"/>
            <a:ext cx="15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Channel Performance: Instagram &amp; LinkedIn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00000" y="9950000"/>
            <a:ext cx="7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D3748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000" y="995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4A8"/>
                </a:solidFill>
                <a:latin typeface="Calibri"/>
              </a:rPr>
              <a:t>eMYAA Trading Platform  |  Marketing Update  |  Internal Management Update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0000" y="2050000"/>
          <a:ext cx="8100000" cy="39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9200000" y="2050000"/>
          <a:ext cx="8300000" cy="39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50000" y="5850000"/>
          <a:ext cx="8100000" cy="39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200000" y="5850000"/>
          <a:ext cx="8300000" cy="3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IG Total Views (all-time)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2,271,132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IG Total Interactions (all-time)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8,311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LinkedIn Impressions, 13-27 Sep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559 (+118%)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LinkedIn Reactions, 13-27 Sep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28 (+155%)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050000"/>
          </a:xfrm>
          <a:prstGeom prst="rect">
            <a:avLst/>
          </a:prstGeom>
          <a:gradFill rotWithShape="1">
            <a:gsLst>
              <a:gs pos="0">
                <a:srgbClr val="101B3B"/>
              </a:gs>
              <a:gs pos="100000">
                <a:srgbClr val="22376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0000"/>
            <a:ext cx="18288000" cy="24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0000" y="320000"/>
            <a:ext cx="1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CAMPAIGNS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000" y="650000"/>
            <a:ext cx="15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Campaign &amp; Content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00000" y="9950000"/>
            <a:ext cx="7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D3748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000" y="995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4A8"/>
                </a:solidFill>
                <a:latin typeface="Calibri"/>
              </a:rPr>
              <a:t>eMYAA Trading Platform  |  Marketing Update  |  Internal Management Update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0000" y="2050000"/>
          <a:ext cx="16950000" cy="4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Metric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57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Mention &amp; Win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C9A84C"/>
                          </a:solidFill>
                          <a:latin typeface="Calibri"/>
                        </a:rPr>
                        <a:t>Live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26.2K views, 1,129 likes on launch reel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23 Sep to 20 Oct, timed before salary days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57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Ali Sabeel Video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A97C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1.3M views to date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Completed 18 Sep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57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How-To Video (human presenter)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A97C"/>
                          </a:solidFill>
                          <a:latin typeface="Calibri"/>
                        </a:rPr>
                        <a:t>Posted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319 views, 28 interactions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Posted, Sep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57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Abdulelah Al Harbi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A97C"/>
                          </a:solidFill>
                          <a:latin typeface="Calibri"/>
                        </a:rPr>
                        <a:t>Posted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Live on Instagram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Posted, Sep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57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Manal Talal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2845"/>
                          </a:solidFill>
                          <a:latin typeface="Calibri"/>
                        </a:rPr>
                        <a:t>In Production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Brief sent, production started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Targeting mid-October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57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Monthly Content Calendar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C9A84C"/>
                          </a:solidFill>
                          <a:latin typeface="Calibri"/>
                        </a:rPr>
                        <a:t>Live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Being posted through September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Ongoing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0000" y="6350000"/>
            <a:ext cx="169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1A2F"/>
                </a:solidFill>
                <a:latin typeface="Calibri"/>
              </a:rPr>
              <a:t>Q3 to Q4 2026 Rollout: One Creator per Month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0000" y="6900000"/>
          <a:ext cx="16950000" cy="1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9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Jul: Musheera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Aug: Ali Sabeel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Sep: Abdulelah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Oct: Manal Talal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Nov: Hamed Al Bloushi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Posted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Posted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Posted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In Production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Scheduled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050000"/>
          </a:xfrm>
          <a:prstGeom prst="rect">
            <a:avLst/>
          </a:prstGeom>
          <a:gradFill rotWithShape="1">
            <a:gsLst>
              <a:gs pos="0">
                <a:srgbClr val="101B3B"/>
              </a:gs>
              <a:gs pos="100000">
                <a:srgbClr val="22376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0000"/>
            <a:ext cx="18288000" cy="24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0000" y="320000"/>
            <a:ext cx="1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NEW 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000" y="650000"/>
            <a:ext cx="15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Paid Media: Google Ads &amp; LinkedIn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00000" y="9950000"/>
            <a:ext cx="7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D3748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000" y="995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4A8"/>
                </a:solidFill>
                <a:latin typeface="Calibri"/>
              </a:rPr>
              <a:t>eMYAA Trading Platform  |  Marketing Update  |  Internal Management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000" y="2100000"/>
            <a:ext cx="169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748"/>
                </a:solidFill>
                <a:latin typeface="Calibri"/>
              </a:rPr>
              <a:t>Launched 22 September as a testing phase. Google Search targets Starter and Emerging investors; LinkedIn lead generation targets Affluent investors. $30,000 campaign, September to December, managed by Ignite (invoice TI7541). Interest targeting covers Saudi Arabia and Riyadh; location is restricted to Saudi Arabia residents only.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0000" y="3000000"/>
          <a:ext cx="7500000" cy="43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550000" y="3000000"/>
            <a:ext cx="4300000" cy="1500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50000" y="3000000"/>
            <a:ext cx="4300000" cy="1500000"/>
          </a:xfrm>
          <a:prstGeom prst="rect">
            <a:avLst/>
          </a:prstGeom>
          <a:noFill/>
        </p:spPr>
        <p:txBody>
          <a:bodyPr wrap="square" tIns="80000" bIns="80000" anchor="ctr">
            <a:spAutoFit/>
          </a:bodyPr>
          <a:lstStyle/>
          <a:p>
            <a:pPr algn="ctr"/>
            <a:r>
              <a:rPr sz="2800" b="1">
                <a:solidFill>
                  <a:srgbClr val="121A2F"/>
                </a:solidFill>
                <a:latin typeface="Calibri"/>
              </a:rPr>
              <a:t>793%</a:t>
            </a:r>
          </a:p>
          <a:p>
            <a:pPr algn="ctr"/>
            <a:r>
              <a:rPr sz="1100" b="1">
                <a:solidFill>
                  <a:srgbClr val="2D3748"/>
                </a:solidFill>
                <a:latin typeface="Calibri"/>
              </a:rPr>
              <a:t>Active Users, Week over Week</a:t>
            </a:r>
          </a:p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Following the Saudi test launch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050000" y="3000000"/>
            <a:ext cx="4300000" cy="1500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050000" y="3000000"/>
            <a:ext cx="4300000" cy="1500000"/>
          </a:xfrm>
          <a:prstGeom prst="rect">
            <a:avLst/>
          </a:prstGeom>
          <a:noFill/>
        </p:spPr>
        <p:txBody>
          <a:bodyPr wrap="square" tIns="80000" bIns="80000" anchor="ctr">
            <a:spAutoFit/>
          </a:bodyPr>
          <a:lstStyle/>
          <a:p>
            <a:pPr algn="ctr"/>
            <a:r>
              <a:rPr sz="2800" b="1">
                <a:solidFill>
                  <a:srgbClr val="121A2F"/>
                </a:solidFill>
                <a:latin typeface="Calibri"/>
              </a:rPr>
              <a:t>558</a:t>
            </a:r>
          </a:p>
          <a:p>
            <a:pPr algn="ctr"/>
            <a:r>
              <a:rPr sz="1100" b="1">
                <a:solidFill>
                  <a:srgbClr val="2D3748"/>
                </a:solidFill>
                <a:latin typeface="Calibri"/>
              </a:rPr>
              <a:t>New Users Driven to Site</a:t>
            </a:r>
          </a:p>
          <a:p>
            <a:pPr algn="ctr"/>
            <a:r>
              <a:rPr sz="950">
                <a:solidFill>
                  <a:srgbClr val="64748B"/>
                </a:solidFill>
                <a:latin typeface="Calibri"/>
              </a:rPr>
              <a:t>Since campaign launch</a:t>
            </a:r>
          </a:p>
        </p:txBody>
      </p:sp>
      <p:pic>
        <p:nvPicPr>
          <p:cNvPr id="15" name="Picture 1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4545" y="4700000"/>
            <a:ext cx="5890909" cy="260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0000" y="7450000"/>
            <a:ext cx="169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The four traffic sources above account for 579 of 587 tracked sessions (98.6%); the remaining 8 sessions fall outside GA’s top-source breakdown.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050000"/>
          </a:xfrm>
          <a:prstGeom prst="rect">
            <a:avLst/>
          </a:prstGeom>
          <a:gradFill rotWithShape="1">
            <a:gsLst>
              <a:gs pos="0">
                <a:srgbClr val="101B3B"/>
              </a:gs>
              <a:gs pos="100000">
                <a:srgbClr val="22376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0000"/>
            <a:ext cx="18288000" cy="24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0000" y="320000"/>
            <a:ext cx="1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EARLY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000" y="650000"/>
            <a:ext cx="15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English Is Outperforming Arabic in Saudi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00000" y="9950000"/>
            <a:ext cx="7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D3748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000" y="995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4A8"/>
                </a:solidFill>
                <a:latin typeface="Calibri"/>
              </a:rPr>
              <a:t>eMYAA Trading Platform  |  Marketing Update  |  Internal Management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000" y="2100000"/>
            <a:ext cx="169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1A2F"/>
                </a:solidFill>
                <a:latin typeface="Calibri"/>
              </a:rPr>
              <a:t>In testing, the English version of the Google Ads campaign leads the Arabic version on every measured metric.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0000" y="2750000"/>
          <a:ext cx="8100000" cy="5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85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English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Arabic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57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Sessions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212 (54.5%)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176 (45.2%)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57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Active users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208 (54.3%)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175 (45.7%)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57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Engaged sessions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206 (57.4%)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153 (42.6%)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57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Avg. engagement time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19s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16s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57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Events per session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6.49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5.44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857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Engagement rate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97.17%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86.93%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9150000" y="2750000"/>
          <a:ext cx="8400000" cy="51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50000" y="8050000"/>
            <a:ext cx="169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This is early data (since 23 Sep) and may reflect ad copy or targeting rather than audience preference. Recommendation: review the Arabic creative and targeting with Ignite before scaling spend.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050000"/>
          </a:xfrm>
          <a:prstGeom prst="rect">
            <a:avLst/>
          </a:prstGeom>
          <a:gradFill rotWithShape="1">
            <a:gsLst>
              <a:gs pos="0">
                <a:srgbClr val="101B3B"/>
              </a:gs>
              <a:gs pos="100000">
                <a:srgbClr val="22376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0000"/>
            <a:ext cx="18288000" cy="24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0000" y="320000"/>
            <a:ext cx="1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000" y="650000"/>
            <a:ext cx="15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Issues, Risks &amp;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00000" y="9950000"/>
            <a:ext cx="7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D3748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000" y="995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4A8"/>
                </a:solidFill>
                <a:latin typeface="Calibri"/>
              </a:rPr>
              <a:t>eMYAA Trading Platform  |  Marketing Update  |  Internal Management Update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0000" y="2050000"/>
          <a:ext cx="16950000" cy="5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333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333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LinkedIn follower count dropped 586 to 531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Unverified metric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No source explains the decrease; needs Ignite or a platform export to resolve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333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Gross deposits reporting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Data gap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Confirmed by Malek directly ($12,206) but no spreadsheet export yet restores this as a tracked line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333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Arabic ad performance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Campaign risk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Trailing English on every metric since 23 Sep; review creative and targeting before scaling spend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333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Instagram/LinkedIn/X/TikTok exports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Reporting gap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No standing export or update cadence; each refresh this cycle relied on ad hoc screenshots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3335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Ali Sabeel "Completed" status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Inference, not confirmation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Based on no further Ignite invoice since 18 Sep, not a direct close-out confirmation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0000" y="7250000"/>
            <a:ext cx="169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None of the above represent a confirmed factual error — they are open items requiring a source, a decision, or a follow-up before the next reporting cycle.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050000"/>
          </a:xfrm>
          <a:prstGeom prst="rect">
            <a:avLst/>
          </a:prstGeom>
          <a:gradFill rotWithShape="1">
            <a:gsLst>
              <a:gs pos="0">
                <a:srgbClr val="101B3B"/>
              </a:gs>
              <a:gs pos="100000">
                <a:srgbClr val="22376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0000"/>
            <a:ext cx="18288000" cy="24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0000" y="320000"/>
            <a:ext cx="1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MOVING FORWARD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000" y="650000"/>
            <a:ext cx="15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00000" y="9950000"/>
            <a:ext cx="7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D3748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000" y="995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4A8"/>
                </a:solidFill>
                <a:latin typeface="Calibri"/>
              </a:rPr>
              <a:t>eMYAA Trading Platform  |  Marketing Update  |  Internal Management Update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0000" y="2050000"/>
          <a:ext cx="16950000" cy="5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Owner / Next Action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14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Scale Google Ads &amp; LinkedIn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Marketing, with Ignite; review Arabic creative first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September to December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14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Manal Talal video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Production in progress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Mid October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14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Hamed Al Bloushi video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Scheduled, per rollout plan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November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14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Mention &amp; Win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Continues, GCC-wide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Through 20 October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714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Fresh KPI export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Requested from Malek, to restore gross deposits reporting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This week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71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LinkedIn follower discrepancy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Follow up with Ignite for an explanation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Next reporting cycle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0000" y="7250000"/>
            <a:ext cx="1695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D3748"/>
                </a:solidFill>
                <a:latin typeface="Calibri"/>
              </a:rPr>
              <a:t>The story so far: a new paid channel launched and already drives most of our website traffic, paired with a steady drumbeat of new content. The next phase is to scale what is working, resolve the Arabic underperformance and the open data gaps, and keep shipping one creator a month through year 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2050000"/>
          </a:xfrm>
          <a:prstGeom prst="rect">
            <a:avLst/>
          </a:prstGeom>
          <a:gradFill rotWithShape="1">
            <a:gsLst>
              <a:gs pos="0">
                <a:srgbClr val="101B3B"/>
              </a:gs>
              <a:gs pos="100000">
                <a:srgbClr val="22376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20000"/>
            <a:ext cx="18288000" cy="24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0000" y="320000"/>
            <a:ext cx="1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000" y="650000"/>
            <a:ext cx="15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Best Performing Content &amp; Supporting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00000" y="9950000"/>
            <a:ext cx="7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D3748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000" y="995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4A8"/>
                </a:solidFill>
                <a:latin typeface="Calibri"/>
              </a:rPr>
              <a:t>eMYAA Trading Platform  |  Marketing Update  |  Internal Management Update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0000" y="2050000"/>
          <a:ext cx="81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Views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100000">
                    <a:solidFill>
                      <a:srgbClr val="12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Musheera Reel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5.3M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Video, presenter-led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Ali Sabeel Reel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1.3M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Video, presenter-led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Mention &amp; Win $500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186K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Graphic, campaign</a:t>
                      </a:r>
                    </a:p>
                  </a:txBody>
                  <a:tcPr marL="10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Saudi Market Size Infographic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515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D3748"/>
                          </a:solidFill>
                          <a:latin typeface="Calibri"/>
                        </a:rPr>
                        <a:t>Graphic, static</a:t>
                      </a:r>
                    </a:p>
                  </a:txBody>
                  <a:tcPr marL="100000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 descr="grid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6352" y="2050000"/>
            <a:ext cx="7687296" cy="59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000" y="5550000"/>
            <a:ext cx="810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748"/>
                </a:solidFill>
                <a:latin typeface="Calibri"/>
              </a:rPr>
              <a:t>Presenter-led video reels outperform static graphics by orders of magnitude — the basis for continued investment in human-led formats.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1094</Words>
  <Application>Microsoft Macintosh PowerPoint</Application>
  <PresentationFormat>Custom</PresentationFormat>
  <Paragraphs>218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Hatem Isa Hatem Abbas Hatem</cp:lastModifiedBy>
  <cp:revision>2</cp:revision>
  <dcterms:created xsi:type="dcterms:W3CDTF">2013-01-27T09:14:16Z</dcterms:created>
  <dcterms:modified xsi:type="dcterms:W3CDTF">2026-09-29T11:05:57Z</dcterms:modified>
  <cp:category/>
</cp:coreProperties>
</file>